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196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0489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module focuses on workflow control, not a new provider SDK. The five implementations use the same Spring AI ChatClient foundation. The purpose is to make multi-stage tasks easier to observe, specialize, and evaluate. More calls are not inherently more capable or more reliable; begin with a simple baseline and justify the added latency, cost, and failure modes.
Repository sources:
06-agents/README.md
06-agents/src/main/java/com/example/springai/agents/service/AgentPatternsService.java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distinction in the README progression table. These classes encode clear control paths, even when the model chooses a route or proposes worker tasks. Prior modules already include multi-call tool loops, so do not claim every earlier module was strictly one model call. An autonomous agent requires additional runtime controls; this course module is not a complete autonomous-agent platform.
Repository sources:
06-agents/README.md
06-agents/src/main/java/com/example/springai/agents/service/AgentPatternsService.java
06-agents/src/main/java/com/example/springai/agents/patterns/RoutingWorkflow.java
06-agents/src/main/java/com/example/springai/agents/patterns/OrchestratorWorkers.java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existing screenshot is the idle chain page, not a completed UI capture. The adjacent observed result comes from an actual POST to the running module on 2026-09-07 using Customer satisfaction was 92%, revenue growth was 45%, and employee satisfaction was 87%. The endpoint returned STEP 0 and all four outputs; all values were retained and the final table was ordered 92,87,45. Slide 7 shows that recording. The temporary module process was stopped after capture. The run verifies this example, not every workflow or future model output.
Repository sources:
06-agents/README.md
06-agents/src/main/java/com/example/springai/agents/config/SpringAiConfig.java
06-agents/src/main/java/com/example/springai/agents/service/AgentPatternsService.java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service constructor with line wrapping. Module 06 adds Thymeleaf but no new Spring AI dependency. SpringAiConfig builds the shared ChatClient from the auto-configured OpenAiChatModel and attaches MyLoggingAdvisor. The term worker in this module means a model call with a particular prompt, not a separately deployed process or model instance.
Repository sources:
06-agents/src/main/java/com/example/springai/agents/service/AgentPatternsService.java
06-agents/src/main/java/com/example/springai/agents/config/SpringAiConfig.java
06-agents/pom.xml
pom.xml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now matches ChainWorkflow exactly: input, extract, standardize, sort, format, and a returned log that includes the initial text plus every stage output. The original LLM badge is reused, but disconnected steps and nonexistent gates are removed. Four calls execute sequentially. Inspect normalization semantics carefully: a numeric value is not automatically a meaningful percentage. A validation gate would be a separate extension, not an implemented branch.
Repository sources:
06-agents/README.md
06-agents/src/main/java/com/example/springai/agents/patterns/ChainWorkflow.java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lambda variable is expanded and whitespace shortened for readability. Despite the array name systemPrompts, the implementation interpolates each step instruction into a user message rather than using a separate .system call. The result log includes STEP 0 for the input plus the four model outputs. Normalizing arbitrary numbers into percentages can be semantically invalid; use the provided metric examples and validate units.
Repository sources:
06-agents/src/main/java/com/example/springai/agents/patterns/ChainWorkflow.java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transcription of one actual endpoint response recorded on 2026-09-07, not illustrative model output. STEP 0 was the complete input above. STEP 1: 92%: customer satisfaction; 45%: revenue growth; 87%: employee satisfaction. STEP 2 was identical because all values were already percentages. STEP 3 sorted the values to 92,87,45. STEP 4 returned the displayed Metric/Value markdown table with title-cased labels, rendered here as a native PowerPoint table. Newline whitespace was normalized for presentation. Checks verified all values at every stage, descending sort, and a final table. Future runs can vary. The existing application and four default prompts were used without code changes.
Repository sources:
06-agents/README.md
06-agents/src/main/java/com/example/springai/agents/patterns/ChainWorkflow.java
06-agents/src/main/java/com/example/springai/agents/controller/AgentPatternsController.java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original call panels are retained and reconnected. Each independent input is submitted to an executor, and every future is included in allOf. The output list is assembled by joining futures in original input order. No call is disconnected or allowed to bypass the join. The three-call example is illustrative; the method accepts a batch. Errors and provider quotas still matter, and this method does not implement a majority vote or an LLM synthesis step.
Repository sources:
06-agents/README.md
06-agents/src/main/java/com/example/springai/agents/patterns/ParallelizationWorkflow.java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excerpt now includes the central concurrency mechanism: supplyAsync submits each ChatClient call to the fixed executor. The full method creates the executor with newFixedThreadPool(nWorkers), waits for all futures, then joins them in original list order and shuts down the executor in finally. AgentPatternsService chooses inputs.size() workers, without a separate cap. Empty or very large batches need validation, and failed futures cause join failure rather than designed partial results. The lambda variable is expanded for readability; the APIs and execution behavior match the source.
Repository sources:
06-agents/src/main/java/com/example/springai/agents/patterns/ParallelizationWorkflow.java
06-agents/src/main/java/com/example/springai/agents/service/AgentPatternsService.java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routing pattern makes one classification call and then one specialized response call. AgentPatternsService supplies a LinkedHashMap of three route names and prompt texts. These are different prompts using the same shared model, not three separately deployed agents. Test clear examples and ambiguous messages; a plausible classification explanation does not establish that the route is correct.
Repository sources:
06-agents/src/main/java/com/example/springai/agents/patterns/RoutingWorkflow.java
06-agents/src/main/java/com/example/springai/agents/service/AgentPatternsService.java
06-agents/README.md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follows determineRoute with the result variable shortened for display. The selector asks for reasoning and selection and maps the response with entity(RoutingResponse.class). The reasoning field is generated explanatory text, not access to the model private reasoning. Native structured output is a format-level control; the application must still reject unknown labels and evaluate classification accuracy.
Repository sources:
06-agents/src/main/java/com/example/springai/agents/patterns/RoutingWorkflow.java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excerpt shortens the exception message and user-message whitespace while preserving the flow. route validates the selected map key before the second model call. It returns a Route selected prefix with the specialized response. Billing and technical prompts do not actually call account systems or retrieve policy documents; those capabilities would need tools or RAG. A fallback or cheaper classifier is a possible extension.
Repository sources:
06-agents/src/main/java/com/example/springai/agents/patterns/RoutingWorkflow.java
06-agents/src/main/java/com/example/springai/agents/service/AgentPatternsService.java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orchestrator artwork is retained while the flow is corrected to the source. The planner produces an OrchestratorResponse with analysis and tasks. A sequential stream calls a worker for each task, supplying the original task and that worker instructions. Application code retains the planner analysis and collects worker outputs into FinalResponse. There is no final model synthesis, no parallel worker execution here, and the typed tasks list is not part of the returned FinalResponse. The prompt asks for two or three tasks but code does not enforce that count.
Repository sources:
06-agents/src/main/java/com/example/springai/agents/patterns/OrchestratorWorkers.java
06-agents/src/main/java/com/example/springai/agents/service/AgentPatternsService.java
06-agents/README.md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records and entity mapping come from OrchestratorWorkers. The prompt examples include formal and conversational approaches. The model can vary the plan by input. A typed list helps parsing but does not enforce a business limit, ensure useful tasks, or guarantee safe worker instructions. Add explicit checks before unbounded model plans control expensive or consequential work.
Repository sources:
06-agents/src/main/java/com/example/springai/agents/patterns/OrchestratorWorkers.java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excerpt shortens variable names but preserves the exact sequential stream and the return contract. Worker outputs are displayed separately by AgentPatternsService. There is no final LLM synthesizer in this implementation. Parallel workers would be an extension once independence, provider limits, and error behavior are established. A synthesis step would add another call and should have explicit acceptance criteria.
Repository sources:
06-agents/src/main/java/com/example/springai/agents/patterns/OrchestratorWorkers.java
06-agents/src/main/java/com/example/springai/agents/service/AgentPatternsService.java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generator and evaluator image elements are retained with a corrected feedback and exit structure. Each draft is evaluated against the original task. PASS exits immediately. A non-PASS verdict repeats only when the iteration cap has not been reached; at the third default round, the last draft is returned regardless of verdict. The feedback includes earlier attempts and the latest evaluator feedback. Both calls use the same configured ChatClient, not independent models. This is a real bounded loop, unlike the single prompted code-generation call in Module 02.
Repository sources:
06-agents/src/main/java/com/example/springai/agents/patterns/EvaluatorOptimizer.java
06-agents/README.md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records match EvaluatorOptimizer. generate maps to Generation, while evaluate maps to EvaluationResponse. The thoughts field is generated explanatory content, not private model reasoning. The model judges correctness and quality from the provided task and draft; direct tests, parsers, or domain validators can provide stronger independent checks. A well-formed PASS verdict can still be substantively wrong.
Repository sources:
06-agents/src/main/java/com/example/springai/agents/patterns/EvaluatorOptimizer.java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 constructor sets maxIterations to three. The zero-based iteration counter gives at most three generation/evaluation pairs in a successful run, or six application-level model calls before provider retries. Both NEEDS_IMPROVEMENT and FAIL can lead to another round until the cap. RefinedResponse contains the last solution and generation history, not the final evaluation verdict or a full feedback history; the UI label Final Solution should not be read as certification.
Repository sources:
06-agents/src/main/java/com/example/springai/agents/patterns/EvaluatorOptimizer.java
06-agents/src/main/java/com/example/springai/agents/service/AgentPatternsService.java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MyLoggingAdvisor implements BaseAdvisor and returns the request/response unchanged after logging excerpts. The configured client enables system-message and available-tool logging. AdvisorLogSink sends REQUEST and RESPONSE events to a browser SSE endpoint. Logs can contain sensitive prompt or output data, so redact and control access before production. These logs are distinct from token-by-token answer streaming in Module 02.
Repository sources:
06-agents/src/main/java/com/example/springai/agents/config/SpringAiConfig.java
06-agents/src/main/java/com/example/springai/agents/advisor/MyLoggingAdvisor.java
06-agents/src/main/java/com/example/springai/agents/controller/AgentPatternsController.java
06-agents/src/main/java/com/example/springai/agents/advisor/AdvisorLogSink.java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counts describe successful current code paths: the default four-step chain, N parallel input calls, classification plus a routed response, one planner plus the returned worker count, and one to three generation/evaluation pairs. Errors can stop early; provider retries add requests. The parallel service uses one worker per input, the planner task count is only prompted, and the evaluator may return an unapproved final draft. Those are important production hardening points.
Repository sources:
06-agents/src/main/java/com/example/springai/agents/patterns/ChainWorkflow.java
06-agents/src/main/java/com/example/springai/agents/patterns/ParallelizationWorkflow.java
06-agents/src/main/java/com/example/springai/agents/patterns/RoutingWorkflow.java
06-agents/src/main/java/com/example/springai/agents/patterns/OrchestratorWorkers.java
06-agents/src/main/java/com/example/springai/agents/patterns/EvaluatorOptimizer.java
06-agents/src/main/java/com/example/springai/agents/service/AgentPatternsService.java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existing Module 01 environment. The five API suffixes are chain, parallelization, routing, orchestrator, and evaluator. Chain and routing accept input; parallelization accepts prompt and inputs; orchestrator and evaluator accept task. Inspect planner analysis and worker outputs, not a full task list that the current result does not expose. Advisor response excerpts are truncated and cannot be relied on to reconstruct the full plan. The evaluator result shows generation history; evaluation response excerpts appear in Advisor Logs. Final results and the separate SSE log channel serve different purposes.
Repository sources:
06-agents/README.md
06-agents/src/main/java/com/example/springai/agents/controller/AgentPatternsController.java
06-agents/src/main/java/com/example/springai/agents/service/AgentPatternsService.java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course by connecting the building blocks without claiming that more orchestration is automatically better. Choose a real task, define correctness and operational budgets, and test normal, ambiguous, and failing cases. Add a gate, concurrency cap, route validation, task-count limit, or deterministic evaluator as an intentional extension. The Spring AI reference and examples linked in the README are the next technical resources.
Repository sources:
06-agents/README.md
06-agents/src/main/java/com/example/springai/agents/service/AgentPatternsService.java
06-agents/src/main/java/com/example/springai/agents/patterns/EvaluatorOptimizer.java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A25"/>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t"/>
          <a:lstStyle/>
          <a:p>
            <a:pPr marL="0" indent="0">
              <a:buNone/>
            </a:pPr>
            <a:r>
              <a:rPr lang="en-US" sz="1400" b="1" dirty="0">
                <a:solidFill>
                  <a:srgbClr val="86CF54"/>
                </a:solidFill>
                <a:latin typeface="Calibri" pitchFamily="34" charset="0"/>
                <a:ea typeface="Calibri" pitchFamily="34" charset="-122"/>
                <a:cs typeface="Calibri" pitchFamily="34" charset="-120"/>
              </a:rPr>
              <a:t>SPRING AI  /  MODULE 06</a:t>
            </a:r>
            <a:endParaRPr lang="en-US" sz="1400" dirty="0"/>
          </a:p>
        </p:txBody>
      </p:sp>
      <p:sp>
        <p:nvSpPr>
          <p:cNvPr id="3" name="Text 1"/>
          <p:cNvSpPr/>
          <p:nvPr/>
        </p:nvSpPr>
        <p:spPr>
          <a:xfrm>
            <a:off x="548640" y="950976"/>
            <a:ext cx="10972800" cy="1197864"/>
          </a:xfrm>
          <a:prstGeom prst="rect">
            <a:avLst/>
          </a:prstGeom>
          <a:noFill/>
          <a:ln/>
        </p:spPr>
        <p:txBody>
          <a:bodyPr wrap="square" lIns="0" tIns="0" rIns="0" bIns="0" rtlCol="0" anchor="t"/>
          <a:lstStyle/>
          <a:p>
            <a:pPr marL="0" indent="0">
              <a:buNone/>
            </a:pPr>
            <a:r>
              <a:rPr lang="en-US" sz="4000" b="1" dirty="0">
                <a:solidFill>
                  <a:srgbClr val="FFFFFF"/>
                </a:solidFill>
                <a:latin typeface="Trebuchet MS" pitchFamily="34" charset="0"/>
                <a:ea typeface="Trebuchet MS" pitchFamily="34" charset="-122"/>
                <a:cs typeface="Trebuchet MS" pitchFamily="34" charset="-120"/>
              </a:rPr>
              <a:t>Agentic patterns with Spring AI</a:t>
            </a:r>
            <a:endParaRPr lang="en-US" sz="4000" dirty="0"/>
          </a:p>
        </p:txBody>
      </p:sp>
      <p:sp>
        <p:nvSpPr>
          <p:cNvPr id="4" name="Text 2"/>
          <p:cNvSpPr/>
          <p:nvPr/>
        </p:nvSpPr>
        <p:spPr>
          <a:xfrm>
            <a:off x="548640" y="2423160"/>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Compose ChatClient calls into explicit workflows.</a:t>
            </a:r>
            <a:endParaRPr lang="en-US" sz="2100" dirty="0"/>
          </a:p>
        </p:txBody>
      </p:sp>
      <p:sp>
        <p:nvSpPr>
          <p:cNvPr id="5" name="Text 3"/>
          <p:cNvSpPr/>
          <p:nvPr/>
        </p:nvSpPr>
        <p:spPr>
          <a:xfrm>
            <a:off x="548640" y="3410712"/>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Choose among five orchestration patterns.</a:t>
            </a:r>
            <a:endParaRPr lang="en-US" sz="2100" dirty="0"/>
          </a:p>
        </p:txBody>
      </p:sp>
      <p:sp>
        <p:nvSpPr>
          <p:cNvPr id="6" name="Text 4"/>
          <p:cNvSpPr/>
          <p:nvPr/>
        </p:nvSpPr>
        <p:spPr>
          <a:xfrm>
            <a:off x="548640" y="4398264"/>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Inspect intermediate results and enforce useful limits.</a:t>
            </a:r>
            <a:endParaRPr lang="en-US" sz="2100" dirty="0"/>
          </a:p>
        </p:txBody>
      </p:sp>
      <p:sp>
        <p:nvSpPr>
          <p:cNvPr id="9" name="Text 6"/>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B9CBB9"/>
                </a:solidFill>
                <a:latin typeface="Calibri" pitchFamily="34" charset="0"/>
                <a:ea typeface="Calibri" pitchFamily="34" charset="-122"/>
                <a:cs typeface="Calibri" pitchFamily="34" charset="-120"/>
              </a:rPr>
              <a:t>SPRING AI FOR BEGINNERS  /  06 Agentic Patterns</a:t>
            </a:r>
            <a:endParaRPr lang="en-US" sz="1050" dirty="0"/>
          </a:p>
        </p:txBody>
      </p:sp>
      <p:sp>
        <p:nvSpPr>
          <p:cNvPr id="10" name="Text 7"/>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B9CBB9"/>
                </a:solidFill>
                <a:latin typeface="Calibri" pitchFamily="34" charset="0"/>
                <a:ea typeface="Calibri" pitchFamily="34" charset="-122"/>
                <a:cs typeface="Calibri" pitchFamily="34" charset="-120"/>
              </a:rPr>
              <a:t>01 / 22</a:t>
            </a:r>
            <a:endParaRPr lang="en-US" sz="1200" dirty="0"/>
          </a:p>
        </p:txBody>
      </p:sp>
      <p:pic>
        <p:nvPicPr>
          <p:cNvPr id="12" name="Picture 11">
            <a:extLst>
              <a:ext uri="{FF2B5EF4-FFF2-40B4-BE49-F238E27FC236}">
                <a16:creationId xmlns:a16="http://schemas.microsoft.com/office/drawing/2014/main" id="{C9B93CF8-4955-60E1-272C-985468E22C07}"/>
              </a:ext>
            </a:extLst>
          </p:cNvPr>
          <p:cNvPicPr>
            <a:picLocks noChangeAspect="1"/>
          </p:cNvPicPr>
          <p:nvPr/>
        </p:nvPicPr>
        <p:blipFill>
          <a:blip r:embed="rId3"/>
          <a:stretch>
            <a:fillRect/>
          </a:stretch>
        </p:blipFill>
        <p:spPr>
          <a:xfrm>
            <a:off x="5969358" y="1764728"/>
            <a:ext cx="6082643" cy="36931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Control boundaries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A workflow is not an unconstrained autonomous agent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02 / 22</a:t>
            </a:r>
            <a:endParaRPr lang="en-US" sz="1200" dirty="0"/>
          </a:p>
        </p:txBody>
      </p:sp>
      <p:sp>
        <p:nvSpPr>
          <p:cNvPr id="6" name="Shape 4"/>
          <p:cNvSpPr/>
          <p:nvPr/>
        </p:nvSpPr>
        <p:spPr>
          <a:xfrm>
            <a:off x="548640" y="1792224"/>
            <a:ext cx="5330952" cy="530352"/>
          </a:xfrm>
          <a:prstGeom prst="rect">
            <a:avLst/>
          </a:prstGeom>
          <a:solidFill>
            <a:srgbClr val="202A25"/>
          </a:solidFill>
          <a:ln w="12700">
            <a:solidFill>
              <a:srgbClr val="202A25">
                <a:alpha val="0"/>
              </a:srgbClr>
            </a:solidFill>
            <a:prstDash val="solid"/>
          </a:ln>
        </p:spPr>
        <p:txBody>
          <a:bodyPr/>
          <a:lstStyle/>
          <a:p>
            <a:endParaRPr lang="en-ZA"/>
          </a:p>
        </p:txBody>
      </p:sp>
      <p:sp>
        <p:nvSpPr>
          <p:cNvPr id="7" name="Text 5"/>
          <p:cNvSpPr/>
          <p:nvPr/>
        </p:nvSpPr>
        <p:spPr>
          <a:xfrm>
            <a:off x="749808" y="1865376"/>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Application-defined workflow</a:t>
            </a:r>
            <a:endParaRPr lang="en-US" sz="2200" dirty="0"/>
          </a:p>
        </p:txBody>
      </p:sp>
      <p:sp>
        <p:nvSpPr>
          <p:cNvPr id="8" name="Text 6"/>
          <p:cNvSpPr/>
          <p:nvPr/>
        </p:nvSpPr>
        <p:spPr>
          <a:xfrm>
            <a:off x="548640" y="2660904"/>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Code controls the flow</a:t>
            </a:r>
            <a:endParaRPr lang="en-US" sz="2200" dirty="0"/>
          </a:p>
        </p:txBody>
      </p:sp>
      <p:sp>
        <p:nvSpPr>
          <p:cNvPr id="9" name="Text 7"/>
          <p:cNvSpPr/>
          <p:nvPr/>
        </p:nvSpPr>
        <p:spPr>
          <a:xfrm>
            <a:off x="548640" y="3136392"/>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Sequence, concurrency, routes, and stopping rules.</a:t>
            </a:r>
            <a:endParaRPr lang="en-US" sz="1900" dirty="0"/>
          </a:p>
        </p:txBody>
      </p:sp>
      <p:sp>
        <p:nvSpPr>
          <p:cNvPr id="10" name="Text 8"/>
          <p:cNvSpPr/>
          <p:nvPr/>
        </p:nvSpPr>
        <p:spPr>
          <a:xfrm>
            <a:off x="548640" y="4064508"/>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Model fills specific roles</a:t>
            </a:r>
            <a:endParaRPr lang="en-US" sz="2200" dirty="0"/>
          </a:p>
        </p:txBody>
      </p:sp>
      <p:sp>
        <p:nvSpPr>
          <p:cNvPr id="11" name="Text 9"/>
          <p:cNvSpPr/>
          <p:nvPr/>
        </p:nvSpPr>
        <p:spPr>
          <a:xfrm>
            <a:off x="548640" y="4539996"/>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Transform, classify, plan, generate, or evaluate.</a:t>
            </a:r>
            <a:endParaRPr lang="en-US" sz="1900" dirty="0"/>
          </a:p>
        </p:txBody>
      </p:sp>
      <p:sp>
        <p:nvSpPr>
          <p:cNvPr id="12" name="Shape 10"/>
          <p:cNvSpPr/>
          <p:nvPr/>
        </p:nvSpPr>
        <p:spPr>
          <a:xfrm>
            <a:off x="6309360" y="1792224"/>
            <a:ext cx="5330952" cy="530352"/>
          </a:xfrm>
          <a:prstGeom prst="rect">
            <a:avLst/>
          </a:prstGeom>
          <a:solidFill>
            <a:srgbClr val="397C25"/>
          </a:solidFill>
          <a:ln w="12700">
            <a:solidFill>
              <a:srgbClr val="397C25">
                <a:alpha val="0"/>
              </a:srgbClr>
            </a:solidFill>
            <a:prstDash val="solid"/>
          </a:ln>
        </p:spPr>
        <p:txBody>
          <a:bodyPr/>
          <a:lstStyle/>
          <a:p>
            <a:endParaRPr lang="en-ZA"/>
          </a:p>
        </p:txBody>
      </p:sp>
      <p:sp>
        <p:nvSpPr>
          <p:cNvPr id="13" name="Text 11"/>
          <p:cNvSpPr/>
          <p:nvPr/>
        </p:nvSpPr>
        <p:spPr>
          <a:xfrm>
            <a:off x="6510528" y="1865376"/>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More autonomous behavior</a:t>
            </a:r>
            <a:endParaRPr lang="en-US" sz="2200" dirty="0"/>
          </a:p>
        </p:txBody>
      </p:sp>
      <p:sp>
        <p:nvSpPr>
          <p:cNvPr id="14" name="Text 12"/>
          <p:cNvSpPr/>
          <p:nvPr/>
        </p:nvSpPr>
        <p:spPr>
          <a:xfrm>
            <a:off x="6309360" y="2660904"/>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Model chooses next actions</a:t>
            </a:r>
            <a:endParaRPr lang="en-US" sz="2200" dirty="0"/>
          </a:p>
        </p:txBody>
      </p:sp>
      <p:sp>
        <p:nvSpPr>
          <p:cNvPr id="15" name="Text 13"/>
          <p:cNvSpPr/>
          <p:nvPr/>
        </p:nvSpPr>
        <p:spPr>
          <a:xfrm>
            <a:off x="6309360" y="3136392"/>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Plans and tool sequences can change dynamically.</a:t>
            </a:r>
            <a:endParaRPr lang="en-US" sz="1900" dirty="0"/>
          </a:p>
        </p:txBody>
      </p:sp>
      <p:sp>
        <p:nvSpPr>
          <p:cNvPr id="16" name="Text 14"/>
          <p:cNvSpPr/>
          <p:nvPr/>
        </p:nvSpPr>
        <p:spPr>
          <a:xfrm>
            <a:off x="6309360" y="4064508"/>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More operational controls</a:t>
            </a:r>
            <a:endParaRPr lang="en-US" sz="2200" dirty="0"/>
          </a:p>
        </p:txBody>
      </p:sp>
      <p:sp>
        <p:nvSpPr>
          <p:cNvPr id="17" name="Text 15"/>
          <p:cNvSpPr/>
          <p:nvPr/>
        </p:nvSpPr>
        <p:spPr>
          <a:xfrm>
            <a:off x="6309360" y="4539996"/>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Permissions, budgets, monitoring, and escalation.</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The working example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The workflows are runnable Spring Boot demos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03 / 22</a:t>
            </a:r>
            <a:endParaRPr lang="en-US" sz="1200" dirty="0"/>
          </a:p>
        </p:txBody>
      </p:sp>
      <p:pic>
        <p:nvPicPr>
          <p:cNvPr id="6" name="Image 0" descr="chain ui"/>
          <p:cNvPicPr>
            <a:picLocks noChangeAspect="1"/>
          </p:cNvPicPr>
          <p:nvPr/>
        </p:nvPicPr>
        <p:blipFill>
          <a:blip r:embed="rId3"/>
          <a:stretch>
            <a:fillRect/>
          </a:stretch>
        </p:blipFill>
        <p:spPr>
          <a:xfrm>
            <a:off x="2621280" y="1875884"/>
            <a:ext cx="6949440" cy="36394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Spring Boot integration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Reuse one Spring AI client across the patterns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04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public AgentPatternsService(ChatClient chatClient)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this.chainWorkflow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new ChainWorkflow(chatClient);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this.parallelizationWorkflow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new ParallelizationWorkflow(chatClient);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this.routingWorkflow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new RoutingWorkflow(chatClient);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this.orchestratorWorkers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new OrchestratorWorkers(chatClient);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this.evaluatorOptimizer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new EvaluatorOptimizer(chatClient);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a:t>
            </a:r>
            <a:endParaRPr lang="en-US" sz="16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Shared dependencies</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OpenAI starter and ChatClient come from the root POM.</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No agent framework add-on</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Java code controls the workflow.</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Same deployment</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Specialized prompts do not require separate models.</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Pattern 1 / Chain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Chain workflow: make each stage do one job</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05 / 22</a:t>
            </a:r>
            <a:endParaRPr lang="en-US" sz="1200" dirty="0"/>
          </a:p>
        </p:txBody>
      </p:sp>
      <p:pic>
        <p:nvPicPr>
          <p:cNvPr id="6" name="Image 0" descr="chain workflow"/>
          <p:cNvPicPr>
            <a:picLocks noChangeAspect="1"/>
          </p:cNvPicPr>
          <p:nvPr/>
        </p:nvPicPr>
        <p:blipFill>
          <a:blip r:embed="rId3"/>
          <a:stretch>
            <a:fillRect/>
          </a:stretch>
        </p:blipFill>
        <p:spPr>
          <a:xfrm>
            <a:off x="3755370" y="1837944"/>
            <a:ext cx="1358939" cy="384048"/>
          </a:xfrm>
          <a:prstGeom prst="rect">
            <a:avLst/>
          </a:prstGeom>
        </p:spPr>
      </p:pic>
      <p:sp>
        <p:nvSpPr>
          <p:cNvPr id="7" name="Shape 4"/>
          <p:cNvSpPr/>
          <p:nvPr/>
        </p:nvSpPr>
        <p:spPr>
          <a:xfrm>
            <a:off x="1623060" y="2514600"/>
            <a:ext cx="0" cy="457200"/>
          </a:xfrm>
          <a:prstGeom prst="line">
            <a:avLst/>
          </a:prstGeom>
          <a:noFill/>
          <a:ln w="21590">
            <a:solidFill>
              <a:srgbClr val="397C25"/>
            </a:solidFill>
            <a:prstDash val="solid"/>
            <a:tailEnd type="triangle"/>
          </a:ln>
        </p:spPr>
        <p:txBody>
          <a:bodyPr/>
          <a:lstStyle/>
          <a:p>
            <a:endParaRPr lang="en-ZA"/>
          </a:p>
        </p:txBody>
      </p:sp>
      <p:sp>
        <p:nvSpPr>
          <p:cNvPr id="8" name="Shape 5"/>
          <p:cNvSpPr/>
          <p:nvPr/>
        </p:nvSpPr>
        <p:spPr>
          <a:xfrm>
            <a:off x="2697480" y="3771900"/>
            <a:ext cx="832104" cy="0"/>
          </a:xfrm>
          <a:prstGeom prst="line">
            <a:avLst/>
          </a:prstGeom>
          <a:noFill/>
          <a:ln w="21590">
            <a:solidFill>
              <a:srgbClr val="397C25"/>
            </a:solidFill>
            <a:prstDash val="solid"/>
            <a:tailEnd type="triangle"/>
          </a:ln>
        </p:spPr>
        <p:txBody>
          <a:bodyPr/>
          <a:lstStyle/>
          <a:p>
            <a:endParaRPr lang="en-ZA"/>
          </a:p>
        </p:txBody>
      </p:sp>
      <p:sp>
        <p:nvSpPr>
          <p:cNvPr id="9" name="Shape 6"/>
          <p:cNvSpPr/>
          <p:nvPr/>
        </p:nvSpPr>
        <p:spPr>
          <a:xfrm>
            <a:off x="5678424" y="3771900"/>
            <a:ext cx="832104" cy="0"/>
          </a:xfrm>
          <a:prstGeom prst="line">
            <a:avLst/>
          </a:prstGeom>
          <a:noFill/>
          <a:ln w="21590">
            <a:solidFill>
              <a:srgbClr val="397C25"/>
            </a:solidFill>
            <a:prstDash val="solid"/>
            <a:tailEnd type="triangle"/>
          </a:ln>
        </p:spPr>
        <p:txBody>
          <a:bodyPr/>
          <a:lstStyle/>
          <a:p>
            <a:endParaRPr lang="en-ZA"/>
          </a:p>
        </p:txBody>
      </p:sp>
      <p:sp>
        <p:nvSpPr>
          <p:cNvPr id="10" name="Shape 7"/>
          <p:cNvSpPr/>
          <p:nvPr/>
        </p:nvSpPr>
        <p:spPr>
          <a:xfrm>
            <a:off x="8659368" y="3771900"/>
            <a:ext cx="832104" cy="0"/>
          </a:xfrm>
          <a:prstGeom prst="line">
            <a:avLst/>
          </a:prstGeom>
          <a:noFill/>
          <a:ln w="21590">
            <a:solidFill>
              <a:srgbClr val="397C25"/>
            </a:solidFill>
            <a:prstDash val="solid"/>
            <a:tailEnd type="triangle"/>
          </a:ln>
        </p:spPr>
        <p:txBody>
          <a:bodyPr/>
          <a:lstStyle/>
          <a:p>
            <a:endParaRPr lang="en-ZA"/>
          </a:p>
        </p:txBody>
      </p:sp>
      <p:sp>
        <p:nvSpPr>
          <p:cNvPr id="11" name="Shape 8"/>
          <p:cNvSpPr/>
          <p:nvPr/>
        </p:nvSpPr>
        <p:spPr>
          <a:xfrm>
            <a:off x="10565892" y="4572000"/>
            <a:ext cx="0" cy="438912"/>
          </a:xfrm>
          <a:prstGeom prst="line">
            <a:avLst/>
          </a:prstGeom>
          <a:noFill/>
          <a:ln w="21590">
            <a:solidFill>
              <a:srgbClr val="397C25"/>
            </a:solidFill>
            <a:prstDash val="solid"/>
            <a:tailEnd type="triangle"/>
          </a:ln>
        </p:spPr>
        <p:txBody>
          <a:bodyPr/>
          <a:lstStyle/>
          <a:p>
            <a:endParaRPr lang="en-ZA"/>
          </a:p>
        </p:txBody>
      </p:sp>
      <p:sp>
        <p:nvSpPr>
          <p:cNvPr id="12" name="Shape 9"/>
          <p:cNvSpPr/>
          <p:nvPr/>
        </p:nvSpPr>
        <p:spPr>
          <a:xfrm>
            <a:off x="548640" y="1874520"/>
            <a:ext cx="2148840" cy="640080"/>
          </a:xfrm>
          <a:prstGeom prst="rect">
            <a:avLst/>
          </a:prstGeom>
          <a:solidFill>
            <a:srgbClr val="202A25"/>
          </a:solidFill>
          <a:ln w="12700">
            <a:solidFill>
              <a:srgbClr val="202A25">
                <a:alpha val="0"/>
              </a:srgbClr>
            </a:solidFill>
            <a:prstDash val="solid"/>
          </a:ln>
        </p:spPr>
        <p:txBody>
          <a:bodyPr/>
          <a:lstStyle/>
          <a:p>
            <a:endParaRPr lang="en-ZA"/>
          </a:p>
        </p:txBody>
      </p:sp>
      <p:sp>
        <p:nvSpPr>
          <p:cNvPr id="13" name="Text 10"/>
          <p:cNvSpPr/>
          <p:nvPr/>
        </p:nvSpPr>
        <p:spPr>
          <a:xfrm>
            <a:off x="667512" y="2011680"/>
            <a:ext cx="1911096" cy="365760"/>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Original text</a:t>
            </a:r>
            <a:endParaRPr lang="en-US" sz="2100" dirty="0"/>
          </a:p>
        </p:txBody>
      </p:sp>
      <p:sp>
        <p:nvSpPr>
          <p:cNvPr id="14" name="Shape 11"/>
          <p:cNvSpPr/>
          <p:nvPr/>
        </p:nvSpPr>
        <p:spPr>
          <a:xfrm>
            <a:off x="548640" y="2971800"/>
            <a:ext cx="2148840" cy="1600200"/>
          </a:xfrm>
          <a:prstGeom prst="rect">
            <a:avLst/>
          </a:prstGeom>
          <a:solidFill>
            <a:srgbClr val="202A25"/>
          </a:solidFill>
          <a:ln w="12700">
            <a:solidFill>
              <a:srgbClr val="202A25">
                <a:alpha val="0"/>
              </a:srgbClr>
            </a:solidFill>
            <a:prstDash val="solid"/>
          </a:ln>
        </p:spPr>
        <p:txBody>
          <a:bodyPr/>
          <a:lstStyle/>
          <a:p>
            <a:endParaRPr lang="en-ZA"/>
          </a:p>
        </p:txBody>
      </p:sp>
      <p:sp>
        <p:nvSpPr>
          <p:cNvPr id="15" name="Text 12"/>
          <p:cNvSpPr/>
          <p:nvPr/>
        </p:nvSpPr>
        <p:spPr>
          <a:xfrm>
            <a:off x="676656" y="3090672"/>
            <a:ext cx="189280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1. Extract</a:t>
            </a:r>
            <a:endParaRPr lang="en-US" sz="2100" dirty="0"/>
          </a:p>
        </p:txBody>
      </p:sp>
      <p:sp>
        <p:nvSpPr>
          <p:cNvPr id="16" name="Text 13"/>
          <p:cNvSpPr/>
          <p:nvPr/>
        </p:nvSpPr>
        <p:spPr>
          <a:xfrm>
            <a:off x="676656" y="3593592"/>
            <a:ext cx="1892808" cy="877824"/>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Metrics and numerical values</a:t>
            </a:r>
            <a:endParaRPr lang="en-US" sz="1800" dirty="0"/>
          </a:p>
        </p:txBody>
      </p:sp>
      <p:sp>
        <p:nvSpPr>
          <p:cNvPr id="17" name="Shape 14"/>
          <p:cNvSpPr/>
          <p:nvPr/>
        </p:nvSpPr>
        <p:spPr>
          <a:xfrm>
            <a:off x="3529584" y="2971800"/>
            <a:ext cx="2148840" cy="1600200"/>
          </a:xfrm>
          <a:prstGeom prst="rect">
            <a:avLst/>
          </a:prstGeom>
          <a:solidFill>
            <a:srgbClr val="202A25"/>
          </a:solidFill>
          <a:ln w="12700">
            <a:solidFill>
              <a:srgbClr val="202A25">
                <a:alpha val="0"/>
              </a:srgbClr>
            </a:solidFill>
            <a:prstDash val="solid"/>
          </a:ln>
        </p:spPr>
        <p:txBody>
          <a:bodyPr/>
          <a:lstStyle/>
          <a:p>
            <a:endParaRPr lang="en-ZA"/>
          </a:p>
        </p:txBody>
      </p:sp>
      <p:sp>
        <p:nvSpPr>
          <p:cNvPr id="18" name="Text 15"/>
          <p:cNvSpPr/>
          <p:nvPr/>
        </p:nvSpPr>
        <p:spPr>
          <a:xfrm>
            <a:off x="3657600" y="3090672"/>
            <a:ext cx="1892808" cy="393192"/>
          </a:xfrm>
          <a:prstGeom prst="rect">
            <a:avLst/>
          </a:prstGeom>
          <a:noFill/>
          <a:ln/>
        </p:spPr>
        <p:txBody>
          <a:bodyPr wrap="square" lIns="0" tIns="0" rIns="0" bIns="0" rtlCol="0" anchor="t"/>
          <a:lstStyle/>
          <a:p>
            <a:pPr marL="0" indent="0">
              <a:buNone/>
            </a:pPr>
            <a:r>
              <a:rPr lang="en-US" sz="2000" b="1" dirty="0">
                <a:solidFill>
                  <a:srgbClr val="86CF54"/>
                </a:solidFill>
                <a:latin typeface="Calibri" pitchFamily="34" charset="0"/>
                <a:ea typeface="Calibri" pitchFamily="34" charset="-122"/>
                <a:cs typeface="Calibri" pitchFamily="34" charset="-120"/>
              </a:rPr>
              <a:t>2. Standardize</a:t>
            </a:r>
            <a:endParaRPr lang="en-US" sz="2000" dirty="0"/>
          </a:p>
        </p:txBody>
      </p:sp>
      <p:sp>
        <p:nvSpPr>
          <p:cNvPr id="19" name="Text 16"/>
          <p:cNvSpPr/>
          <p:nvPr/>
        </p:nvSpPr>
        <p:spPr>
          <a:xfrm>
            <a:off x="3657600" y="3593592"/>
            <a:ext cx="1892808" cy="877824"/>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Normalize values; inspect the units</a:t>
            </a:r>
            <a:endParaRPr lang="en-US" sz="1800" dirty="0"/>
          </a:p>
        </p:txBody>
      </p:sp>
      <p:sp>
        <p:nvSpPr>
          <p:cNvPr id="20" name="Shape 17"/>
          <p:cNvSpPr/>
          <p:nvPr/>
        </p:nvSpPr>
        <p:spPr>
          <a:xfrm>
            <a:off x="6510528" y="2971800"/>
            <a:ext cx="2148840" cy="1600200"/>
          </a:xfrm>
          <a:prstGeom prst="rect">
            <a:avLst/>
          </a:prstGeom>
          <a:solidFill>
            <a:srgbClr val="202A25"/>
          </a:solidFill>
          <a:ln w="12700">
            <a:solidFill>
              <a:srgbClr val="202A25">
                <a:alpha val="0"/>
              </a:srgbClr>
            </a:solidFill>
            <a:prstDash val="solid"/>
          </a:ln>
        </p:spPr>
        <p:txBody>
          <a:bodyPr/>
          <a:lstStyle/>
          <a:p>
            <a:endParaRPr lang="en-ZA"/>
          </a:p>
        </p:txBody>
      </p:sp>
      <p:sp>
        <p:nvSpPr>
          <p:cNvPr id="21" name="Text 18"/>
          <p:cNvSpPr/>
          <p:nvPr/>
        </p:nvSpPr>
        <p:spPr>
          <a:xfrm>
            <a:off x="6638544" y="3090672"/>
            <a:ext cx="189280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3. Sort</a:t>
            </a:r>
            <a:endParaRPr lang="en-US" sz="2100" dirty="0"/>
          </a:p>
        </p:txBody>
      </p:sp>
      <p:sp>
        <p:nvSpPr>
          <p:cNvPr id="22" name="Text 19"/>
          <p:cNvSpPr/>
          <p:nvPr/>
        </p:nvSpPr>
        <p:spPr>
          <a:xfrm>
            <a:off x="6638544" y="3593592"/>
            <a:ext cx="1892808" cy="877824"/>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Order metrics by numerical value</a:t>
            </a:r>
            <a:endParaRPr lang="en-US" sz="1800" dirty="0"/>
          </a:p>
        </p:txBody>
      </p:sp>
      <p:sp>
        <p:nvSpPr>
          <p:cNvPr id="23" name="Shape 20"/>
          <p:cNvSpPr/>
          <p:nvPr/>
        </p:nvSpPr>
        <p:spPr>
          <a:xfrm>
            <a:off x="9491472" y="2971800"/>
            <a:ext cx="2148840" cy="1600200"/>
          </a:xfrm>
          <a:prstGeom prst="rect">
            <a:avLst/>
          </a:prstGeom>
          <a:solidFill>
            <a:srgbClr val="202A25"/>
          </a:solidFill>
          <a:ln w="12700">
            <a:solidFill>
              <a:srgbClr val="202A25">
                <a:alpha val="0"/>
              </a:srgbClr>
            </a:solidFill>
            <a:prstDash val="solid"/>
          </a:ln>
        </p:spPr>
        <p:txBody>
          <a:bodyPr/>
          <a:lstStyle/>
          <a:p>
            <a:endParaRPr lang="en-ZA"/>
          </a:p>
        </p:txBody>
      </p:sp>
      <p:sp>
        <p:nvSpPr>
          <p:cNvPr id="24" name="Text 21"/>
          <p:cNvSpPr/>
          <p:nvPr/>
        </p:nvSpPr>
        <p:spPr>
          <a:xfrm>
            <a:off x="9619488" y="3090672"/>
            <a:ext cx="189280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4. Format</a:t>
            </a:r>
            <a:endParaRPr lang="en-US" sz="2100" dirty="0"/>
          </a:p>
        </p:txBody>
      </p:sp>
      <p:sp>
        <p:nvSpPr>
          <p:cNvPr id="25" name="Text 22"/>
          <p:cNvSpPr/>
          <p:nvPr/>
        </p:nvSpPr>
        <p:spPr>
          <a:xfrm>
            <a:off x="9619488" y="3593592"/>
            <a:ext cx="1892808" cy="877824"/>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Create the markdown table</a:t>
            </a:r>
            <a:endParaRPr lang="en-US" sz="1800" dirty="0"/>
          </a:p>
        </p:txBody>
      </p:sp>
      <p:sp>
        <p:nvSpPr>
          <p:cNvPr id="26" name="Shape 23"/>
          <p:cNvSpPr/>
          <p:nvPr/>
        </p:nvSpPr>
        <p:spPr>
          <a:xfrm>
            <a:off x="9491472" y="5010912"/>
            <a:ext cx="2148840" cy="594360"/>
          </a:xfrm>
          <a:prstGeom prst="rect">
            <a:avLst/>
          </a:prstGeom>
          <a:solidFill>
            <a:srgbClr val="202A25"/>
          </a:solidFill>
          <a:ln w="12700">
            <a:solidFill>
              <a:srgbClr val="202A25">
                <a:alpha val="0"/>
              </a:srgbClr>
            </a:solidFill>
            <a:prstDash val="solid"/>
          </a:ln>
        </p:spPr>
        <p:txBody>
          <a:bodyPr/>
          <a:lstStyle/>
          <a:p>
            <a:endParaRPr lang="en-ZA"/>
          </a:p>
        </p:txBody>
      </p:sp>
      <p:sp>
        <p:nvSpPr>
          <p:cNvPr id="27" name="Text 24"/>
          <p:cNvSpPr/>
          <p:nvPr/>
        </p:nvSpPr>
        <p:spPr>
          <a:xfrm>
            <a:off x="9610344" y="5148072"/>
            <a:ext cx="1911096" cy="3200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Log of all stages</a:t>
            </a:r>
            <a:endParaRPr lang="en-US" sz="1700" dirty="0"/>
          </a:p>
        </p:txBody>
      </p:sp>
      <p:sp>
        <p:nvSpPr>
          <p:cNvPr id="28" name="Text 25"/>
          <p:cNvSpPr/>
          <p:nvPr/>
        </p:nvSpPr>
        <p:spPr>
          <a:xfrm>
            <a:off x="5422392" y="1856232"/>
            <a:ext cx="5669280" cy="374904"/>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Each stage is one ChatClient call</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Spring AI chaining API</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ChainWorkflow passes each result into the next call</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06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for (String prompt : systemPrompts)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String stepInput = response;</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response = chatClient.prompt()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.user(user -&gt; user</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.text("{systemPrompt}\nInput:\n{stepInput}")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.param("systemPrompt", prompt)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.param("stepInput", stepInput))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.call()</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.content();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a:t>
            </a:r>
            <a:endParaRPr lang="en-US" sz="16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Extract</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Pull metrics and numbers from the source text.</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Standardize and sort</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Apply the requested normalization, then ordering.</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Format</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Produce the final markdown table.</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Chain demonstration / Recorded 7 Sep 2026</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Follow one recorded run through all four stages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07 / 22</a:t>
            </a:r>
            <a:endParaRPr lang="en-US" sz="1200" dirty="0"/>
          </a:p>
        </p:txBody>
      </p:sp>
      <p:sp>
        <p:nvSpPr>
          <p:cNvPr id="6" name="Text 4"/>
          <p:cNvSpPr/>
          <p:nvPr/>
        </p:nvSpPr>
        <p:spPr>
          <a:xfrm>
            <a:off x="548640" y="1746504"/>
            <a:ext cx="11091672" cy="65836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INPUT: Customer satisfaction was 92%, revenue growth was 45%, and employee satisfaction was 87%.</a:t>
            </a:r>
            <a:endParaRPr lang="en-US" sz="2000" dirty="0"/>
          </a:p>
        </p:txBody>
      </p:sp>
      <p:sp>
        <p:nvSpPr>
          <p:cNvPr id="7" name="Text 5"/>
          <p:cNvSpPr/>
          <p:nvPr/>
        </p:nvSpPr>
        <p:spPr>
          <a:xfrm>
            <a:off x="548640" y="2706624"/>
            <a:ext cx="5340096" cy="356616"/>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1. Extract</a:t>
            </a:r>
            <a:endParaRPr lang="en-US" sz="2200" dirty="0"/>
          </a:p>
        </p:txBody>
      </p:sp>
      <p:sp>
        <p:nvSpPr>
          <p:cNvPr id="8" name="Text 6"/>
          <p:cNvSpPr/>
          <p:nvPr/>
        </p:nvSpPr>
        <p:spPr>
          <a:xfrm>
            <a:off x="548640" y="3136392"/>
            <a:ext cx="5340096" cy="987552"/>
          </a:xfrm>
          <a:prstGeom prst="rect">
            <a:avLst/>
          </a:prstGeom>
          <a:noFill/>
          <a:ln/>
        </p:spPr>
        <p:txBody>
          <a:bodyPr wrap="square" lIns="0" tIns="0" rIns="0" bIns="0" rtlCol="0" anchor="t"/>
          <a:lstStyle/>
          <a:p>
            <a:pPr marL="0" indent="0">
              <a:buNone/>
            </a:pPr>
            <a:r>
              <a:rPr lang="en-US" sz="1800" dirty="0">
                <a:solidFill>
                  <a:srgbClr val="202A25"/>
                </a:solidFill>
                <a:latin typeface="Consolas" pitchFamily="34" charset="0"/>
                <a:ea typeface="Consolas" pitchFamily="34" charset="-122"/>
                <a:cs typeface="Consolas" pitchFamily="34" charset="-120"/>
              </a:rPr>
              <a:t>92%: customer satisfaction</a:t>
            </a:r>
            <a:endParaRPr lang="en-US" sz="1800" dirty="0"/>
          </a:p>
          <a:p>
            <a:pPr marL="0" indent="0">
              <a:buNone/>
            </a:pPr>
            <a:r>
              <a:rPr lang="en-US" sz="1800" dirty="0">
                <a:solidFill>
                  <a:srgbClr val="202A25"/>
                </a:solidFill>
                <a:latin typeface="Consolas" pitchFamily="34" charset="0"/>
                <a:ea typeface="Consolas" pitchFamily="34" charset="-122"/>
                <a:cs typeface="Consolas" pitchFamily="34" charset="-120"/>
              </a:rPr>
              <a:t>45%: revenue growth</a:t>
            </a:r>
            <a:endParaRPr lang="en-US" sz="1800" dirty="0"/>
          </a:p>
          <a:p>
            <a:pPr marL="0" indent="0">
              <a:buNone/>
            </a:pPr>
            <a:r>
              <a:rPr lang="en-US" sz="1800" dirty="0">
                <a:solidFill>
                  <a:srgbClr val="202A25"/>
                </a:solidFill>
                <a:latin typeface="Consolas" pitchFamily="34" charset="0"/>
                <a:ea typeface="Consolas" pitchFamily="34" charset="-122"/>
                <a:cs typeface="Consolas" pitchFamily="34" charset="-120"/>
              </a:rPr>
              <a:t>87%: employee satisfaction</a:t>
            </a:r>
            <a:endParaRPr lang="en-US" sz="1800" dirty="0"/>
          </a:p>
        </p:txBody>
      </p:sp>
      <p:sp>
        <p:nvSpPr>
          <p:cNvPr id="9" name="Text 7"/>
          <p:cNvSpPr/>
          <p:nvPr/>
        </p:nvSpPr>
        <p:spPr>
          <a:xfrm>
            <a:off x="6281928" y="2706624"/>
            <a:ext cx="5340096" cy="356616"/>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2. Standardize</a:t>
            </a:r>
            <a:endParaRPr lang="en-US" sz="2200" dirty="0"/>
          </a:p>
        </p:txBody>
      </p:sp>
      <p:sp>
        <p:nvSpPr>
          <p:cNvPr id="10" name="Text 8"/>
          <p:cNvSpPr/>
          <p:nvPr/>
        </p:nvSpPr>
        <p:spPr>
          <a:xfrm>
            <a:off x="6281928" y="3136392"/>
            <a:ext cx="5340096" cy="987552"/>
          </a:xfrm>
          <a:prstGeom prst="rect">
            <a:avLst/>
          </a:prstGeom>
          <a:noFill/>
          <a:ln/>
        </p:spPr>
        <p:txBody>
          <a:bodyPr wrap="square" lIns="0" tIns="0" rIns="0" bIns="0" rtlCol="0" anchor="t"/>
          <a:lstStyle/>
          <a:p>
            <a:pPr marL="0" indent="0">
              <a:buNone/>
            </a:pPr>
            <a:r>
              <a:rPr lang="en-US" sz="1800" dirty="0">
                <a:solidFill>
                  <a:srgbClr val="202A25"/>
                </a:solidFill>
                <a:latin typeface="Consolas" pitchFamily="34" charset="0"/>
                <a:ea typeface="Consolas" pitchFamily="34" charset="-122"/>
                <a:cs typeface="Consolas" pitchFamily="34" charset="-120"/>
              </a:rPr>
              <a:t>92%: customer satisfaction</a:t>
            </a:r>
            <a:endParaRPr lang="en-US" sz="1800" dirty="0"/>
          </a:p>
          <a:p>
            <a:pPr marL="0" indent="0">
              <a:buNone/>
            </a:pPr>
            <a:r>
              <a:rPr lang="en-US" sz="1800" dirty="0">
                <a:solidFill>
                  <a:srgbClr val="202A25"/>
                </a:solidFill>
                <a:latin typeface="Consolas" pitchFamily="34" charset="0"/>
                <a:ea typeface="Consolas" pitchFamily="34" charset="-122"/>
                <a:cs typeface="Consolas" pitchFamily="34" charset="-120"/>
              </a:rPr>
              <a:t>45%: revenue growth</a:t>
            </a:r>
            <a:endParaRPr lang="en-US" sz="1800" dirty="0"/>
          </a:p>
          <a:p>
            <a:pPr marL="0" indent="0">
              <a:buNone/>
            </a:pPr>
            <a:r>
              <a:rPr lang="en-US" sz="1800" dirty="0">
                <a:solidFill>
                  <a:srgbClr val="202A25"/>
                </a:solidFill>
                <a:latin typeface="Consolas" pitchFamily="34" charset="0"/>
                <a:ea typeface="Consolas" pitchFamily="34" charset="-122"/>
                <a:cs typeface="Consolas" pitchFamily="34" charset="-120"/>
              </a:rPr>
              <a:t>87%: employee satisfaction</a:t>
            </a:r>
            <a:endParaRPr lang="en-US" sz="1800" dirty="0"/>
          </a:p>
        </p:txBody>
      </p:sp>
      <p:sp>
        <p:nvSpPr>
          <p:cNvPr id="11" name="Text 9"/>
          <p:cNvSpPr/>
          <p:nvPr/>
        </p:nvSpPr>
        <p:spPr>
          <a:xfrm>
            <a:off x="548640" y="4197096"/>
            <a:ext cx="5340096" cy="356616"/>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3. Sort</a:t>
            </a:r>
            <a:endParaRPr lang="en-US" sz="2200" dirty="0"/>
          </a:p>
        </p:txBody>
      </p:sp>
      <p:sp>
        <p:nvSpPr>
          <p:cNvPr id="12" name="Text 10"/>
          <p:cNvSpPr/>
          <p:nvPr/>
        </p:nvSpPr>
        <p:spPr>
          <a:xfrm>
            <a:off x="548640" y="4626864"/>
            <a:ext cx="5340096" cy="987552"/>
          </a:xfrm>
          <a:prstGeom prst="rect">
            <a:avLst/>
          </a:prstGeom>
          <a:noFill/>
          <a:ln/>
        </p:spPr>
        <p:txBody>
          <a:bodyPr wrap="square" lIns="0" tIns="0" rIns="0" bIns="0" rtlCol="0" anchor="t"/>
          <a:lstStyle/>
          <a:p>
            <a:pPr marL="0" indent="0">
              <a:buNone/>
            </a:pPr>
            <a:r>
              <a:rPr lang="en-US" sz="1800" dirty="0">
                <a:solidFill>
                  <a:srgbClr val="202A25"/>
                </a:solidFill>
                <a:latin typeface="Consolas" pitchFamily="34" charset="0"/>
                <a:ea typeface="Consolas" pitchFamily="34" charset="-122"/>
                <a:cs typeface="Consolas" pitchFamily="34" charset="-120"/>
              </a:rPr>
              <a:t>92%: customer satisfaction</a:t>
            </a:r>
            <a:endParaRPr lang="en-US" sz="1800" dirty="0"/>
          </a:p>
          <a:p>
            <a:pPr marL="0" indent="0">
              <a:buNone/>
            </a:pPr>
            <a:r>
              <a:rPr lang="en-US" sz="1800" dirty="0">
                <a:solidFill>
                  <a:srgbClr val="202A25"/>
                </a:solidFill>
                <a:latin typeface="Consolas" pitchFamily="34" charset="0"/>
                <a:ea typeface="Consolas" pitchFamily="34" charset="-122"/>
                <a:cs typeface="Consolas" pitchFamily="34" charset="-120"/>
              </a:rPr>
              <a:t>87%: employee satisfaction</a:t>
            </a:r>
            <a:endParaRPr lang="en-US" sz="1800" dirty="0"/>
          </a:p>
          <a:p>
            <a:pPr marL="0" indent="0">
              <a:buNone/>
            </a:pPr>
            <a:r>
              <a:rPr lang="en-US" sz="1800" dirty="0">
                <a:solidFill>
                  <a:srgbClr val="202A25"/>
                </a:solidFill>
                <a:latin typeface="Consolas" pitchFamily="34" charset="0"/>
                <a:ea typeface="Consolas" pitchFamily="34" charset="-122"/>
                <a:cs typeface="Consolas" pitchFamily="34" charset="-120"/>
              </a:rPr>
              <a:t>45%: revenue growth</a:t>
            </a:r>
            <a:endParaRPr lang="en-US" sz="1800" dirty="0"/>
          </a:p>
        </p:txBody>
      </p:sp>
      <p:sp>
        <p:nvSpPr>
          <p:cNvPr id="13" name="Text 11"/>
          <p:cNvSpPr/>
          <p:nvPr/>
        </p:nvSpPr>
        <p:spPr>
          <a:xfrm>
            <a:off x="6281928" y="4197096"/>
            <a:ext cx="5340096" cy="356616"/>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4. Format</a:t>
            </a:r>
            <a:endParaRPr lang="en-US" sz="2200" dirty="0"/>
          </a:p>
        </p:txBody>
      </p:sp>
      <p:sp>
        <p:nvSpPr>
          <p:cNvPr id="14" name="Shape 12"/>
          <p:cNvSpPr/>
          <p:nvPr/>
        </p:nvSpPr>
        <p:spPr>
          <a:xfrm>
            <a:off x="6281928" y="4626864"/>
            <a:ext cx="4325112" cy="246888"/>
          </a:xfrm>
          <a:prstGeom prst="rect">
            <a:avLst/>
          </a:prstGeom>
          <a:solidFill>
            <a:srgbClr val="F7F9F6"/>
          </a:solidFill>
          <a:ln w="7620">
            <a:solidFill>
              <a:srgbClr val="D8E1D5"/>
            </a:solidFill>
            <a:prstDash val="solid"/>
          </a:ln>
        </p:spPr>
        <p:txBody>
          <a:bodyPr/>
          <a:lstStyle/>
          <a:p>
            <a:endParaRPr lang="en-ZA"/>
          </a:p>
        </p:txBody>
      </p:sp>
      <p:sp>
        <p:nvSpPr>
          <p:cNvPr id="15" name="Text 13"/>
          <p:cNvSpPr/>
          <p:nvPr/>
        </p:nvSpPr>
        <p:spPr>
          <a:xfrm>
            <a:off x="6318504" y="4626864"/>
            <a:ext cx="4251960" cy="246888"/>
          </a:xfrm>
          <a:prstGeom prst="rect">
            <a:avLst/>
          </a:prstGeom>
          <a:noFill/>
          <a:ln/>
        </p:spPr>
        <p:txBody>
          <a:bodyPr wrap="square" lIns="0" tIns="0" rIns="0" bIns="0" rtlCol="0" anchor="ctr"/>
          <a:lstStyle/>
          <a:p>
            <a:pPr marL="0" indent="0">
              <a:buNone/>
            </a:pPr>
            <a:r>
              <a:rPr lang="en-US" sz="1600" dirty="0">
                <a:solidFill>
                  <a:srgbClr val="202A25"/>
                </a:solidFill>
                <a:latin typeface="Calibri" pitchFamily="34" charset="0"/>
                <a:ea typeface="Calibri" pitchFamily="34" charset="-122"/>
                <a:cs typeface="Calibri" pitchFamily="34" charset="-120"/>
              </a:rPr>
              <a:t>Metric</a:t>
            </a:r>
            <a:endParaRPr lang="en-US" sz="1600" dirty="0"/>
          </a:p>
        </p:txBody>
      </p:sp>
      <p:sp>
        <p:nvSpPr>
          <p:cNvPr id="16" name="Shape 14"/>
          <p:cNvSpPr/>
          <p:nvPr/>
        </p:nvSpPr>
        <p:spPr>
          <a:xfrm>
            <a:off x="10607040" y="4626864"/>
            <a:ext cx="1014984" cy="246888"/>
          </a:xfrm>
          <a:prstGeom prst="rect">
            <a:avLst/>
          </a:prstGeom>
          <a:solidFill>
            <a:srgbClr val="F7F9F6"/>
          </a:solidFill>
          <a:ln w="7620">
            <a:solidFill>
              <a:srgbClr val="D8E1D5"/>
            </a:solidFill>
            <a:prstDash val="solid"/>
          </a:ln>
        </p:spPr>
        <p:txBody>
          <a:bodyPr/>
          <a:lstStyle/>
          <a:p>
            <a:endParaRPr lang="en-ZA"/>
          </a:p>
        </p:txBody>
      </p:sp>
      <p:sp>
        <p:nvSpPr>
          <p:cNvPr id="17" name="Text 15"/>
          <p:cNvSpPr/>
          <p:nvPr/>
        </p:nvSpPr>
        <p:spPr>
          <a:xfrm>
            <a:off x="10643616" y="4626864"/>
            <a:ext cx="941832" cy="246888"/>
          </a:xfrm>
          <a:prstGeom prst="rect">
            <a:avLst/>
          </a:prstGeom>
          <a:noFill/>
          <a:ln/>
        </p:spPr>
        <p:txBody>
          <a:bodyPr wrap="square" lIns="0" tIns="0" rIns="0" bIns="0" rtlCol="0" anchor="ctr"/>
          <a:lstStyle/>
          <a:p>
            <a:pPr marL="0" indent="0">
              <a:buNone/>
            </a:pPr>
            <a:r>
              <a:rPr lang="en-US" sz="1600" dirty="0">
                <a:solidFill>
                  <a:srgbClr val="202A25"/>
                </a:solidFill>
                <a:latin typeface="Calibri" pitchFamily="34" charset="0"/>
                <a:ea typeface="Calibri" pitchFamily="34" charset="-122"/>
                <a:cs typeface="Calibri" pitchFamily="34" charset="-120"/>
              </a:rPr>
              <a:t>Value</a:t>
            </a:r>
            <a:endParaRPr lang="en-US" sz="1600" dirty="0"/>
          </a:p>
        </p:txBody>
      </p:sp>
      <p:sp>
        <p:nvSpPr>
          <p:cNvPr id="18" name="Shape 16"/>
          <p:cNvSpPr/>
          <p:nvPr/>
        </p:nvSpPr>
        <p:spPr>
          <a:xfrm>
            <a:off x="6281928" y="4873752"/>
            <a:ext cx="4325112" cy="246888"/>
          </a:xfrm>
          <a:prstGeom prst="rect">
            <a:avLst/>
          </a:prstGeom>
          <a:solidFill>
            <a:srgbClr val="F7F9F6"/>
          </a:solidFill>
          <a:ln w="7620">
            <a:solidFill>
              <a:srgbClr val="D8E1D5"/>
            </a:solidFill>
            <a:prstDash val="solid"/>
          </a:ln>
        </p:spPr>
        <p:txBody>
          <a:bodyPr/>
          <a:lstStyle/>
          <a:p>
            <a:endParaRPr lang="en-ZA"/>
          </a:p>
        </p:txBody>
      </p:sp>
      <p:sp>
        <p:nvSpPr>
          <p:cNvPr id="19" name="Text 17"/>
          <p:cNvSpPr/>
          <p:nvPr/>
        </p:nvSpPr>
        <p:spPr>
          <a:xfrm>
            <a:off x="6318504" y="4873752"/>
            <a:ext cx="4251960" cy="246888"/>
          </a:xfrm>
          <a:prstGeom prst="rect">
            <a:avLst/>
          </a:prstGeom>
          <a:noFill/>
          <a:ln/>
        </p:spPr>
        <p:txBody>
          <a:bodyPr wrap="square" lIns="0" tIns="0" rIns="0" bIns="0" rtlCol="0" anchor="ctr"/>
          <a:lstStyle/>
          <a:p>
            <a:pPr marL="0" indent="0">
              <a:buNone/>
            </a:pPr>
            <a:r>
              <a:rPr lang="en-US" sz="1600" dirty="0">
                <a:solidFill>
                  <a:srgbClr val="202A25"/>
                </a:solidFill>
                <a:latin typeface="Calibri" pitchFamily="34" charset="0"/>
                <a:ea typeface="Calibri" pitchFamily="34" charset="-122"/>
                <a:cs typeface="Calibri" pitchFamily="34" charset="-120"/>
              </a:rPr>
              <a:t>Customer Satisfaction</a:t>
            </a:r>
            <a:endParaRPr lang="en-US" sz="1600" dirty="0"/>
          </a:p>
        </p:txBody>
      </p:sp>
      <p:sp>
        <p:nvSpPr>
          <p:cNvPr id="20" name="Shape 18"/>
          <p:cNvSpPr/>
          <p:nvPr/>
        </p:nvSpPr>
        <p:spPr>
          <a:xfrm>
            <a:off x="10607040" y="4873752"/>
            <a:ext cx="1014984" cy="246888"/>
          </a:xfrm>
          <a:prstGeom prst="rect">
            <a:avLst/>
          </a:prstGeom>
          <a:solidFill>
            <a:srgbClr val="F7F9F6"/>
          </a:solidFill>
          <a:ln w="7620">
            <a:solidFill>
              <a:srgbClr val="D8E1D5"/>
            </a:solidFill>
            <a:prstDash val="solid"/>
          </a:ln>
        </p:spPr>
        <p:txBody>
          <a:bodyPr/>
          <a:lstStyle/>
          <a:p>
            <a:endParaRPr lang="en-ZA"/>
          </a:p>
        </p:txBody>
      </p:sp>
      <p:sp>
        <p:nvSpPr>
          <p:cNvPr id="21" name="Text 19"/>
          <p:cNvSpPr/>
          <p:nvPr/>
        </p:nvSpPr>
        <p:spPr>
          <a:xfrm>
            <a:off x="10643616" y="4873752"/>
            <a:ext cx="941832" cy="246888"/>
          </a:xfrm>
          <a:prstGeom prst="rect">
            <a:avLst/>
          </a:prstGeom>
          <a:noFill/>
          <a:ln/>
        </p:spPr>
        <p:txBody>
          <a:bodyPr wrap="square" lIns="0" tIns="0" rIns="0" bIns="0" rtlCol="0" anchor="ctr"/>
          <a:lstStyle/>
          <a:p>
            <a:pPr marL="0" indent="0">
              <a:buNone/>
            </a:pPr>
            <a:r>
              <a:rPr lang="en-US" sz="1600" dirty="0">
                <a:solidFill>
                  <a:srgbClr val="202A25"/>
                </a:solidFill>
                <a:latin typeface="Calibri" pitchFamily="34" charset="0"/>
                <a:ea typeface="Calibri" pitchFamily="34" charset="-122"/>
                <a:cs typeface="Calibri" pitchFamily="34" charset="-120"/>
              </a:rPr>
              <a:t>92%</a:t>
            </a:r>
            <a:endParaRPr lang="en-US" sz="1600" dirty="0"/>
          </a:p>
        </p:txBody>
      </p:sp>
      <p:sp>
        <p:nvSpPr>
          <p:cNvPr id="22" name="Shape 20"/>
          <p:cNvSpPr/>
          <p:nvPr/>
        </p:nvSpPr>
        <p:spPr>
          <a:xfrm>
            <a:off x="6281928" y="5120640"/>
            <a:ext cx="4325112" cy="246888"/>
          </a:xfrm>
          <a:prstGeom prst="rect">
            <a:avLst/>
          </a:prstGeom>
          <a:solidFill>
            <a:srgbClr val="F7F9F6"/>
          </a:solidFill>
          <a:ln w="7620">
            <a:solidFill>
              <a:srgbClr val="D8E1D5"/>
            </a:solidFill>
            <a:prstDash val="solid"/>
          </a:ln>
        </p:spPr>
        <p:txBody>
          <a:bodyPr/>
          <a:lstStyle/>
          <a:p>
            <a:endParaRPr lang="en-ZA"/>
          </a:p>
        </p:txBody>
      </p:sp>
      <p:sp>
        <p:nvSpPr>
          <p:cNvPr id="23" name="Text 21"/>
          <p:cNvSpPr/>
          <p:nvPr/>
        </p:nvSpPr>
        <p:spPr>
          <a:xfrm>
            <a:off x="6318504" y="5120640"/>
            <a:ext cx="4251960" cy="246888"/>
          </a:xfrm>
          <a:prstGeom prst="rect">
            <a:avLst/>
          </a:prstGeom>
          <a:noFill/>
          <a:ln/>
        </p:spPr>
        <p:txBody>
          <a:bodyPr wrap="square" lIns="0" tIns="0" rIns="0" bIns="0" rtlCol="0" anchor="ctr"/>
          <a:lstStyle/>
          <a:p>
            <a:pPr marL="0" indent="0">
              <a:buNone/>
            </a:pPr>
            <a:r>
              <a:rPr lang="en-US" sz="1600" dirty="0">
                <a:solidFill>
                  <a:srgbClr val="202A25"/>
                </a:solidFill>
                <a:latin typeface="Calibri" pitchFamily="34" charset="0"/>
                <a:ea typeface="Calibri" pitchFamily="34" charset="-122"/>
                <a:cs typeface="Calibri" pitchFamily="34" charset="-120"/>
              </a:rPr>
              <a:t>Employee Satisfaction</a:t>
            </a:r>
            <a:endParaRPr lang="en-US" sz="1600" dirty="0"/>
          </a:p>
        </p:txBody>
      </p:sp>
      <p:sp>
        <p:nvSpPr>
          <p:cNvPr id="24" name="Shape 22"/>
          <p:cNvSpPr/>
          <p:nvPr/>
        </p:nvSpPr>
        <p:spPr>
          <a:xfrm>
            <a:off x="10607040" y="5120640"/>
            <a:ext cx="1014984" cy="246888"/>
          </a:xfrm>
          <a:prstGeom prst="rect">
            <a:avLst/>
          </a:prstGeom>
          <a:solidFill>
            <a:srgbClr val="F7F9F6"/>
          </a:solidFill>
          <a:ln w="7620">
            <a:solidFill>
              <a:srgbClr val="D8E1D5"/>
            </a:solidFill>
            <a:prstDash val="solid"/>
          </a:ln>
        </p:spPr>
        <p:txBody>
          <a:bodyPr/>
          <a:lstStyle/>
          <a:p>
            <a:endParaRPr lang="en-ZA"/>
          </a:p>
        </p:txBody>
      </p:sp>
      <p:sp>
        <p:nvSpPr>
          <p:cNvPr id="25" name="Text 23"/>
          <p:cNvSpPr/>
          <p:nvPr/>
        </p:nvSpPr>
        <p:spPr>
          <a:xfrm>
            <a:off x="10643616" y="5120640"/>
            <a:ext cx="941832" cy="246888"/>
          </a:xfrm>
          <a:prstGeom prst="rect">
            <a:avLst/>
          </a:prstGeom>
          <a:noFill/>
          <a:ln/>
        </p:spPr>
        <p:txBody>
          <a:bodyPr wrap="square" lIns="0" tIns="0" rIns="0" bIns="0" rtlCol="0" anchor="ctr"/>
          <a:lstStyle/>
          <a:p>
            <a:pPr marL="0" indent="0">
              <a:buNone/>
            </a:pPr>
            <a:r>
              <a:rPr lang="en-US" sz="1600" dirty="0">
                <a:solidFill>
                  <a:srgbClr val="202A25"/>
                </a:solidFill>
                <a:latin typeface="Calibri" pitchFamily="34" charset="0"/>
                <a:ea typeface="Calibri" pitchFamily="34" charset="-122"/>
                <a:cs typeface="Calibri" pitchFamily="34" charset="-120"/>
              </a:rPr>
              <a:t>87%</a:t>
            </a:r>
            <a:endParaRPr lang="en-US" sz="1600" dirty="0"/>
          </a:p>
        </p:txBody>
      </p:sp>
      <p:sp>
        <p:nvSpPr>
          <p:cNvPr id="26" name="Shape 24"/>
          <p:cNvSpPr/>
          <p:nvPr/>
        </p:nvSpPr>
        <p:spPr>
          <a:xfrm>
            <a:off x="6281928" y="5367528"/>
            <a:ext cx="4325112" cy="246888"/>
          </a:xfrm>
          <a:prstGeom prst="rect">
            <a:avLst/>
          </a:prstGeom>
          <a:solidFill>
            <a:srgbClr val="F7F9F6"/>
          </a:solidFill>
          <a:ln w="7620">
            <a:solidFill>
              <a:srgbClr val="D8E1D5"/>
            </a:solidFill>
            <a:prstDash val="solid"/>
          </a:ln>
        </p:spPr>
        <p:txBody>
          <a:bodyPr/>
          <a:lstStyle/>
          <a:p>
            <a:endParaRPr lang="en-ZA"/>
          </a:p>
        </p:txBody>
      </p:sp>
      <p:sp>
        <p:nvSpPr>
          <p:cNvPr id="27" name="Text 25"/>
          <p:cNvSpPr/>
          <p:nvPr/>
        </p:nvSpPr>
        <p:spPr>
          <a:xfrm>
            <a:off x="6318504" y="5367528"/>
            <a:ext cx="4251960" cy="246888"/>
          </a:xfrm>
          <a:prstGeom prst="rect">
            <a:avLst/>
          </a:prstGeom>
          <a:noFill/>
          <a:ln/>
        </p:spPr>
        <p:txBody>
          <a:bodyPr wrap="square" lIns="0" tIns="0" rIns="0" bIns="0" rtlCol="0" anchor="ctr"/>
          <a:lstStyle/>
          <a:p>
            <a:pPr marL="0" indent="0">
              <a:buNone/>
            </a:pPr>
            <a:r>
              <a:rPr lang="en-US" sz="1600" dirty="0">
                <a:solidFill>
                  <a:srgbClr val="202A25"/>
                </a:solidFill>
                <a:latin typeface="Calibri" pitchFamily="34" charset="0"/>
                <a:ea typeface="Calibri" pitchFamily="34" charset="-122"/>
                <a:cs typeface="Calibri" pitchFamily="34" charset="-120"/>
              </a:rPr>
              <a:t>Revenue Growth</a:t>
            </a:r>
            <a:endParaRPr lang="en-US" sz="1600" dirty="0"/>
          </a:p>
        </p:txBody>
      </p:sp>
      <p:sp>
        <p:nvSpPr>
          <p:cNvPr id="28" name="Shape 26"/>
          <p:cNvSpPr/>
          <p:nvPr/>
        </p:nvSpPr>
        <p:spPr>
          <a:xfrm>
            <a:off x="10607040" y="5367528"/>
            <a:ext cx="1014984" cy="246888"/>
          </a:xfrm>
          <a:prstGeom prst="rect">
            <a:avLst/>
          </a:prstGeom>
          <a:solidFill>
            <a:srgbClr val="F7F9F6"/>
          </a:solidFill>
          <a:ln w="7620">
            <a:solidFill>
              <a:srgbClr val="D8E1D5"/>
            </a:solidFill>
            <a:prstDash val="solid"/>
          </a:ln>
        </p:spPr>
        <p:txBody>
          <a:bodyPr/>
          <a:lstStyle/>
          <a:p>
            <a:endParaRPr lang="en-ZA"/>
          </a:p>
        </p:txBody>
      </p:sp>
      <p:sp>
        <p:nvSpPr>
          <p:cNvPr id="29" name="Text 27"/>
          <p:cNvSpPr/>
          <p:nvPr/>
        </p:nvSpPr>
        <p:spPr>
          <a:xfrm>
            <a:off x="10643616" y="5367528"/>
            <a:ext cx="941832" cy="246888"/>
          </a:xfrm>
          <a:prstGeom prst="rect">
            <a:avLst/>
          </a:prstGeom>
          <a:noFill/>
          <a:ln/>
        </p:spPr>
        <p:txBody>
          <a:bodyPr wrap="square" lIns="0" tIns="0" rIns="0" bIns="0" rtlCol="0" anchor="ctr"/>
          <a:lstStyle/>
          <a:p>
            <a:pPr marL="0" indent="0">
              <a:buNone/>
            </a:pPr>
            <a:r>
              <a:rPr lang="en-US" sz="1600" dirty="0">
                <a:solidFill>
                  <a:srgbClr val="202A25"/>
                </a:solidFill>
                <a:latin typeface="Calibri" pitchFamily="34" charset="0"/>
                <a:ea typeface="Calibri" pitchFamily="34" charset="-122"/>
                <a:cs typeface="Calibri" pitchFamily="34" charset="-120"/>
              </a:rPr>
              <a:t>45%</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Pattern 2 / Parallelization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Parallelization: fan out independent work</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08 / 22</a:t>
            </a:r>
            <a:endParaRPr lang="en-US" sz="1200" dirty="0"/>
          </a:p>
        </p:txBody>
      </p:sp>
      <p:pic>
        <p:nvPicPr>
          <p:cNvPr id="6" name="Image 0" descr="parallelization workflow"/>
          <p:cNvPicPr>
            <a:picLocks noChangeAspect="1"/>
          </p:cNvPicPr>
          <p:nvPr/>
        </p:nvPicPr>
        <p:blipFill>
          <a:blip r:embed="rId3"/>
          <a:stretch>
            <a:fillRect/>
          </a:stretch>
        </p:blipFill>
        <p:spPr>
          <a:xfrm>
            <a:off x="3817189" y="1828800"/>
            <a:ext cx="2332583" cy="1188720"/>
          </a:xfrm>
          <a:prstGeom prst="rect">
            <a:avLst/>
          </a:prstGeom>
        </p:spPr>
      </p:pic>
      <p:pic>
        <p:nvPicPr>
          <p:cNvPr id="7" name="Image 1" descr="parallelization workflow"/>
          <p:cNvPicPr>
            <a:picLocks noChangeAspect="1"/>
          </p:cNvPicPr>
          <p:nvPr/>
        </p:nvPicPr>
        <p:blipFill>
          <a:blip r:embed="rId4"/>
          <a:stretch>
            <a:fillRect/>
          </a:stretch>
        </p:blipFill>
        <p:spPr>
          <a:xfrm>
            <a:off x="3771452" y="3099816"/>
            <a:ext cx="2424056" cy="1188720"/>
          </a:xfrm>
          <a:prstGeom prst="rect">
            <a:avLst/>
          </a:prstGeom>
        </p:spPr>
      </p:pic>
      <p:pic>
        <p:nvPicPr>
          <p:cNvPr id="8" name="Image 2" descr="parallelization workflow"/>
          <p:cNvPicPr>
            <a:picLocks noChangeAspect="1"/>
          </p:cNvPicPr>
          <p:nvPr/>
        </p:nvPicPr>
        <p:blipFill>
          <a:blip r:embed="rId5"/>
          <a:stretch>
            <a:fillRect/>
          </a:stretch>
        </p:blipFill>
        <p:spPr>
          <a:xfrm>
            <a:off x="3763478" y="4370832"/>
            <a:ext cx="2440004" cy="1188720"/>
          </a:xfrm>
          <a:prstGeom prst="rect">
            <a:avLst/>
          </a:prstGeom>
        </p:spPr>
      </p:pic>
      <p:sp>
        <p:nvSpPr>
          <p:cNvPr id="9" name="Shape 4"/>
          <p:cNvSpPr/>
          <p:nvPr/>
        </p:nvSpPr>
        <p:spPr>
          <a:xfrm>
            <a:off x="2651760" y="3694176"/>
            <a:ext cx="530352" cy="0"/>
          </a:xfrm>
          <a:prstGeom prst="line">
            <a:avLst/>
          </a:prstGeom>
          <a:noFill/>
          <a:ln w="21590">
            <a:solidFill>
              <a:srgbClr val="397C25"/>
            </a:solidFill>
            <a:prstDash val="solid"/>
          </a:ln>
        </p:spPr>
        <p:txBody>
          <a:bodyPr/>
          <a:lstStyle/>
          <a:p>
            <a:endParaRPr lang="en-ZA"/>
          </a:p>
        </p:txBody>
      </p:sp>
      <p:sp>
        <p:nvSpPr>
          <p:cNvPr id="10" name="Shape 5"/>
          <p:cNvSpPr/>
          <p:nvPr/>
        </p:nvSpPr>
        <p:spPr>
          <a:xfrm>
            <a:off x="3182112" y="2423160"/>
            <a:ext cx="0" cy="1271016"/>
          </a:xfrm>
          <a:prstGeom prst="line">
            <a:avLst/>
          </a:prstGeom>
          <a:noFill/>
          <a:ln w="21590">
            <a:solidFill>
              <a:srgbClr val="397C25"/>
            </a:solidFill>
            <a:prstDash val="solid"/>
          </a:ln>
        </p:spPr>
        <p:txBody>
          <a:bodyPr/>
          <a:lstStyle/>
          <a:p>
            <a:endParaRPr lang="en-ZA"/>
          </a:p>
        </p:txBody>
      </p:sp>
      <p:sp>
        <p:nvSpPr>
          <p:cNvPr id="11" name="Shape 6"/>
          <p:cNvSpPr/>
          <p:nvPr/>
        </p:nvSpPr>
        <p:spPr>
          <a:xfrm>
            <a:off x="3182112" y="2423160"/>
            <a:ext cx="635078" cy="0"/>
          </a:xfrm>
          <a:prstGeom prst="line">
            <a:avLst/>
          </a:prstGeom>
          <a:noFill/>
          <a:ln w="21590">
            <a:solidFill>
              <a:srgbClr val="397C25"/>
            </a:solidFill>
            <a:prstDash val="solid"/>
            <a:tailEnd type="triangle"/>
          </a:ln>
        </p:spPr>
        <p:txBody>
          <a:bodyPr/>
          <a:lstStyle/>
          <a:p>
            <a:endParaRPr lang="en-ZA"/>
          </a:p>
        </p:txBody>
      </p:sp>
      <p:sp>
        <p:nvSpPr>
          <p:cNvPr id="12" name="Shape 7"/>
          <p:cNvSpPr/>
          <p:nvPr/>
        </p:nvSpPr>
        <p:spPr>
          <a:xfrm>
            <a:off x="2651760" y="3694176"/>
            <a:ext cx="1119692" cy="0"/>
          </a:xfrm>
          <a:prstGeom prst="line">
            <a:avLst/>
          </a:prstGeom>
          <a:noFill/>
          <a:ln w="21590">
            <a:solidFill>
              <a:srgbClr val="397C25"/>
            </a:solidFill>
            <a:prstDash val="solid"/>
            <a:tailEnd type="triangle"/>
          </a:ln>
        </p:spPr>
        <p:txBody>
          <a:bodyPr/>
          <a:lstStyle/>
          <a:p>
            <a:endParaRPr lang="en-ZA"/>
          </a:p>
        </p:txBody>
      </p:sp>
      <p:sp>
        <p:nvSpPr>
          <p:cNvPr id="13" name="Shape 8"/>
          <p:cNvSpPr/>
          <p:nvPr/>
        </p:nvSpPr>
        <p:spPr>
          <a:xfrm>
            <a:off x="2651760" y="3694176"/>
            <a:ext cx="530352" cy="0"/>
          </a:xfrm>
          <a:prstGeom prst="line">
            <a:avLst/>
          </a:prstGeom>
          <a:noFill/>
          <a:ln w="21590">
            <a:solidFill>
              <a:srgbClr val="397C25"/>
            </a:solidFill>
            <a:prstDash val="solid"/>
          </a:ln>
        </p:spPr>
        <p:txBody>
          <a:bodyPr/>
          <a:lstStyle/>
          <a:p>
            <a:endParaRPr lang="en-ZA"/>
          </a:p>
        </p:txBody>
      </p:sp>
      <p:sp>
        <p:nvSpPr>
          <p:cNvPr id="14" name="Shape 9"/>
          <p:cNvSpPr/>
          <p:nvPr/>
        </p:nvSpPr>
        <p:spPr>
          <a:xfrm>
            <a:off x="3182112" y="3694176"/>
            <a:ext cx="0" cy="1271016"/>
          </a:xfrm>
          <a:prstGeom prst="line">
            <a:avLst/>
          </a:prstGeom>
          <a:noFill/>
          <a:ln w="21590">
            <a:solidFill>
              <a:srgbClr val="397C25"/>
            </a:solidFill>
            <a:prstDash val="solid"/>
          </a:ln>
        </p:spPr>
        <p:txBody>
          <a:bodyPr/>
          <a:lstStyle/>
          <a:p>
            <a:endParaRPr lang="en-ZA"/>
          </a:p>
        </p:txBody>
      </p:sp>
      <p:sp>
        <p:nvSpPr>
          <p:cNvPr id="15" name="Shape 10"/>
          <p:cNvSpPr/>
          <p:nvPr/>
        </p:nvSpPr>
        <p:spPr>
          <a:xfrm>
            <a:off x="3182112" y="4965192"/>
            <a:ext cx="581366" cy="0"/>
          </a:xfrm>
          <a:prstGeom prst="line">
            <a:avLst/>
          </a:prstGeom>
          <a:noFill/>
          <a:ln w="21590">
            <a:solidFill>
              <a:srgbClr val="397C25"/>
            </a:solidFill>
            <a:prstDash val="solid"/>
            <a:tailEnd type="triangle"/>
          </a:ln>
        </p:spPr>
        <p:txBody>
          <a:bodyPr/>
          <a:lstStyle/>
          <a:p>
            <a:endParaRPr lang="en-ZA"/>
          </a:p>
        </p:txBody>
      </p:sp>
      <p:sp>
        <p:nvSpPr>
          <p:cNvPr id="16" name="Shape 11"/>
          <p:cNvSpPr/>
          <p:nvPr/>
        </p:nvSpPr>
        <p:spPr>
          <a:xfrm>
            <a:off x="6149770" y="2423160"/>
            <a:ext cx="735662" cy="0"/>
          </a:xfrm>
          <a:prstGeom prst="line">
            <a:avLst/>
          </a:prstGeom>
          <a:noFill/>
          <a:ln w="21590">
            <a:solidFill>
              <a:srgbClr val="397C25"/>
            </a:solidFill>
            <a:prstDash val="solid"/>
          </a:ln>
        </p:spPr>
        <p:txBody>
          <a:bodyPr/>
          <a:lstStyle/>
          <a:p>
            <a:endParaRPr lang="en-ZA"/>
          </a:p>
        </p:txBody>
      </p:sp>
      <p:sp>
        <p:nvSpPr>
          <p:cNvPr id="17" name="Shape 12"/>
          <p:cNvSpPr/>
          <p:nvPr/>
        </p:nvSpPr>
        <p:spPr>
          <a:xfrm>
            <a:off x="6885432" y="2423160"/>
            <a:ext cx="0" cy="1271016"/>
          </a:xfrm>
          <a:prstGeom prst="line">
            <a:avLst/>
          </a:prstGeom>
          <a:noFill/>
          <a:ln w="21590">
            <a:solidFill>
              <a:srgbClr val="397C25"/>
            </a:solidFill>
            <a:prstDash val="solid"/>
          </a:ln>
        </p:spPr>
        <p:txBody>
          <a:bodyPr/>
          <a:lstStyle/>
          <a:p>
            <a:endParaRPr lang="en-ZA"/>
          </a:p>
        </p:txBody>
      </p:sp>
      <p:sp>
        <p:nvSpPr>
          <p:cNvPr id="18" name="Shape 13"/>
          <p:cNvSpPr/>
          <p:nvPr/>
        </p:nvSpPr>
        <p:spPr>
          <a:xfrm>
            <a:off x="6885432" y="3694176"/>
            <a:ext cx="704088" cy="0"/>
          </a:xfrm>
          <a:prstGeom prst="line">
            <a:avLst/>
          </a:prstGeom>
          <a:noFill/>
          <a:ln w="21590">
            <a:solidFill>
              <a:srgbClr val="397C25"/>
            </a:solidFill>
            <a:prstDash val="solid"/>
            <a:tailEnd type="triangle"/>
          </a:ln>
        </p:spPr>
        <p:txBody>
          <a:bodyPr/>
          <a:lstStyle/>
          <a:p>
            <a:endParaRPr lang="en-ZA"/>
          </a:p>
        </p:txBody>
      </p:sp>
      <p:sp>
        <p:nvSpPr>
          <p:cNvPr id="19" name="Shape 14"/>
          <p:cNvSpPr/>
          <p:nvPr/>
        </p:nvSpPr>
        <p:spPr>
          <a:xfrm>
            <a:off x="6195508" y="3694176"/>
            <a:ext cx="1394012" cy="0"/>
          </a:xfrm>
          <a:prstGeom prst="line">
            <a:avLst/>
          </a:prstGeom>
          <a:noFill/>
          <a:ln w="21590">
            <a:solidFill>
              <a:srgbClr val="397C25"/>
            </a:solidFill>
            <a:prstDash val="solid"/>
            <a:tailEnd type="triangle"/>
          </a:ln>
        </p:spPr>
        <p:txBody>
          <a:bodyPr/>
          <a:lstStyle/>
          <a:p>
            <a:endParaRPr lang="en-ZA"/>
          </a:p>
        </p:txBody>
      </p:sp>
      <p:sp>
        <p:nvSpPr>
          <p:cNvPr id="20" name="Shape 15"/>
          <p:cNvSpPr/>
          <p:nvPr/>
        </p:nvSpPr>
        <p:spPr>
          <a:xfrm>
            <a:off x="6203482" y="4965192"/>
            <a:ext cx="681950" cy="0"/>
          </a:xfrm>
          <a:prstGeom prst="line">
            <a:avLst/>
          </a:prstGeom>
          <a:noFill/>
          <a:ln w="21590">
            <a:solidFill>
              <a:srgbClr val="397C25"/>
            </a:solidFill>
            <a:prstDash val="solid"/>
          </a:ln>
        </p:spPr>
        <p:txBody>
          <a:bodyPr/>
          <a:lstStyle/>
          <a:p>
            <a:endParaRPr lang="en-ZA"/>
          </a:p>
        </p:txBody>
      </p:sp>
      <p:sp>
        <p:nvSpPr>
          <p:cNvPr id="21" name="Shape 16"/>
          <p:cNvSpPr/>
          <p:nvPr/>
        </p:nvSpPr>
        <p:spPr>
          <a:xfrm>
            <a:off x="6885432" y="3694176"/>
            <a:ext cx="0" cy="1271016"/>
          </a:xfrm>
          <a:prstGeom prst="line">
            <a:avLst/>
          </a:prstGeom>
          <a:noFill/>
          <a:ln w="21590">
            <a:solidFill>
              <a:srgbClr val="397C25"/>
            </a:solidFill>
            <a:prstDash val="solid"/>
          </a:ln>
        </p:spPr>
        <p:txBody>
          <a:bodyPr/>
          <a:lstStyle/>
          <a:p>
            <a:endParaRPr lang="en-ZA"/>
          </a:p>
        </p:txBody>
      </p:sp>
      <p:sp>
        <p:nvSpPr>
          <p:cNvPr id="22" name="Shape 17"/>
          <p:cNvSpPr/>
          <p:nvPr/>
        </p:nvSpPr>
        <p:spPr>
          <a:xfrm>
            <a:off x="6885432" y="3694176"/>
            <a:ext cx="704088" cy="0"/>
          </a:xfrm>
          <a:prstGeom prst="line">
            <a:avLst/>
          </a:prstGeom>
          <a:noFill/>
          <a:ln w="21590">
            <a:solidFill>
              <a:srgbClr val="397C25"/>
            </a:solidFill>
            <a:prstDash val="solid"/>
            <a:tailEnd type="triangle"/>
          </a:ln>
        </p:spPr>
        <p:txBody>
          <a:bodyPr/>
          <a:lstStyle/>
          <a:p>
            <a:endParaRPr lang="en-ZA"/>
          </a:p>
        </p:txBody>
      </p:sp>
      <p:sp>
        <p:nvSpPr>
          <p:cNvPr id="23" name="Shape 18"/>
          <p:cNvSpPr/>
          <p:nvPr/>
        </p:nvSpPr>
        <p:spPr>
          <a:xfrm>
            <a:off x="9418320" y="3694176"/>
            <a:ext cx="640080" cy="0"/>
          </a:xfrm>
          <a:prstGeom prst="line">
            <a:avLst/>
          </a:prstGeom>
          <a:noFill/>
          <a:ln w="21590">
            <a:solidFill>
              <a:srgbClr val="397C25"/>
            </a:solidFill>
            <a:prstDash val="solid"/>
            <a:tailEnd type="triangle"/>
          </a:ln>
        </p:spPr>
        <p:txBody>
          <a:bodyPr/>
          <a:lstStyle/>
          <a:p>
            <a:endParaRPr lang="en-ZA"/>
          </a:p>
        </p:txBody>
      </p:sp>
      <p:sp>
        <p:nvSpPr>
          <p:cNvPr id="24" name="Shape 19"/>
          <p:cNvSpPr/>
          <p:nvPr/>
        </p:nvSpPr>
        <p:spPr>
          <a:xfrm>
            <a:off x="548640" y="3099816"/>
            <a:ext cx="2103120" cy="1188720"/>
          </a:xfrm>
          <a:prstGeom prst="rect">
            <a:avLst/>
          </a:prstGeom>
          <a:solidFill>
            <a:srgbClr val="202A25"/>
          </a:solidFill>
          <a:ln w="12700">
            <a:solidFill>
              <a:srgbClr val="202A25">
                <a:alpha val="0"/>
              </a:srgbClr>
            </a:solidFill>
            <a:prstDash val="solid"/>
          </a:ln>
        </p:spPr>
        <p:txBody>
          <a:bodyPr/>
          <a:lstStyle/>
          <a:p>
            <a:endParaRPr lang="en-ZA"/>
          </a:p>
        </p:txBody>
      </p:sp>
      <p:sp>
        <p:nvSpPr>
          <p:cNvPr id="25" name="Text 20"/>
          <p:cNvSpPr/>
          <p:nvPr/>
        </p:nvSpPr>
        <p:spPr>
          <a:xfrm>
            <a:off x="676656" y="3218688"/>
            <a:ext cx="184708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Input batch</a:t>
            </a:r>
            <a:endParaRPr lang="en-US" sz="2100" dirty="0"/>
          </a:p>
        </p:txBody>
      </p:sp>
      <p:sp>
        <p:nvSpPr>
          <p:cNvPr id="26" name="Text 21"/>
          <p:cNvSpPr/>
          <p:nvPr/>
        </p:nvSpPr>
        <p:spPr>
          <a:xfrm>
            <a:off x="676656" y="3721608"/>
            <a:ext cx="1847088" cy="46634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One call per input</a:t>
            </a:r>
            <a:endParaRPr lang="en-US" sz="1900" dirty="0"/>
          </a:p>
        </p:txBody>
      </p:sp>
      <p:sp>
        <p:nvSpPr>
          <p:cNvPr id="27" name="Shape 22"/>
          <p:cNvSpPr/>
          <p:nvPr/>
        </p:nvSpPr>
        <p:spPr>
          <a:xfrm>
            <a:off x="7589520" y="3099816"/>
            <a:ext cx="1828800" cy="1188720"/>
          </a:xfrm>
          <a:prstGeom prst="rect">
            <a:avLst/>
          </a:prstGeom>
          <a:solidFill>
            <a:srgbClr val="202A25"/>
          </a:solidFill>
          <a:ln w="12700">
            <a:solidFill>
              <a:srgbClr val="202A25">
                <a:alpha val="0"/>
              </a:srgbClr>
            </a:solidFill>
            <a:prstDash val="solid"/>
          </a:ln>
        </p:spPr>
        <p:txBody>
          <a:bodyPr/>
          <a:lstStyle/>
          <a:p>
            <a:endParaRPr lang="en-ZA"/>
          </a:p>
        </p:txBody>
      </p:sp>
      <p:sp>
        <p:nvSpPr>
          <p:cNvPr id="28" name="Text 23"/>
          <p:cNvSpPr/>
          <p:nvPr/>
        </p:nvSpPr>
        <p:spPr>
          <a:xfrm>
            <a:off x="7717536" y="3218688"/>
            <a:ext cx="157276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Java join</a:t>
            </a:r>
            <a:endParaRPr lang="en-US" sz="2100" dirty="0"/>
          </a:p>
        </p:txBody>
      </p:sp>
      <p:sp>
        <p:nvSpPr>
          <p:cNvPr id="29" name="Text 24"/>
          <p:cNvSpPr/>
          <p:nvPr/>
        </p:nvSpPr>
        <p:spPr>
          <a:xfrm>
            <a:off x="7717536" y="3721608"/>
            <a:ext cx="1572768" cy="46634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Wait for all</a:t>
            </a:r>
            <a:endParaRPr lang="en-US" sz="1900" dirty="0"/>
          </a:p>
        </p:txBody>
      </p:sp>
      <p:sp>
        <p:nvSpPr>
          <p:cNvPr id="30" name="Shape 25"/>
          <p:cNvSpPr/>
          <p:nvPr/>
        </p:nvSpPr>
        <p:spPr>
          <a:xfrm>
            <a:off x="10058400" y="3099816"/>
            <a:ext cx="1581912" cy="1188720"/>
          </a:xfrm>
          <a:prstGeom prst="rect">
            <a:avLst/>
          </a:prstGeom>
          <a:solidFill>
            <a:srgbClr val="202A25"/>
          </a:solidFill>
          <a:ln w="12700">
            <a:solidFill>
              <a:srgbClr val="202A25">
                <a:alpha val="0"/>
              </a:srgbClr>
            </a:solidFill>
            <a:prstDash val="solid"/>
          </a:ln>
        </p:spPr>
        <p:txBody>
          <a:bodyPr/>
          <a:lstStyle/>
          <a:p>
            <a:endParaRPr lang="en-ZA"/>
          </a:p>
        </p:txBody>
      </p:sp>
      <p:sp>
        <p:nvSpPr>
          <p:cNvPr id="31" name="Text 26"/>
          <p:cNvSpPr/>
          <p:nvPr/>
        </p:nvSpPr>
        <p:spPr>
          <a:xfrm>
            <a:off x="10177272" y="3236976"/>
            <a:ext cx="1344168" cy="91440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Ordered results</a:t>
            </a:r>
            <a:endParaRPr lang="en-US" sz="1900" dirty="0"/>
          </a:p>
        </p:txBody>
      </p:sp>
      <p:sp>
        <p:nvSpPr>
          <p:cNvPr id="32" name="Text 27"/>
          <p:cNvSpPr/>
          <p:nvPr/>
        </p:nvSpPr>
        <p:spPr>
          <a:xfrm>
            <a:off x="6748272" y="5074920"/>
            <a:ext cx="4846320" cy="484632"/>
          </a:xfrm>
          <a:prstGeom prst="rect">
            <a:avLst/>
          </a:prstGeom>
          <a:noFill/>
          <a:ln/>
        </p:spPr>
        <p:txBody>
          <a:bodyPr wrap="square" lIns="0" tIns="0" rIns="0" bIns="0" rtlCol="0" anchor="t"/>
          <a:lstStyle/>
          <a:p>
            <a:pPr marL="0" indent="0">
              <a:buNone/>
            </a:pPr>
            <a:r>
              <a:rPr lang="en-US" sz="1700" b="1" dirty="0">
                <a:solidFill>
                  <a:srgbClr val="397C25"/>
                </a:solidFill>
                <a:latin typeface="Calibri" pitchFamily="34" charset="0"/>
                <a:ea typeface="Calibri" pitchFamily="34" charset="-122"/>
                <a:cs typeface="Calibri" pitchFamily="34" charset="-120"/>
              </a:rPr>
              <a:t>Every future is submitted and joined.</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Java concurrency + Spring AI</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Use futures while preserving the input order</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09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List&lt;CompletableFuture&lt;String&gt;&gt; futures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inputs.stream().map(input -&gt;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CompletableFuture.supplyAsync(() -&gt;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chatClient.prompt()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.user(user -&gt; user</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.text("{prompt}\nInput: {input}")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.param("prompt", prompt)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.param("input", input))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.call().content(), executor))</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.collect(Collectors.toList());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CompletableFuture.allOf(</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futures.toArray(CompletableFuture[]::new)).join();</a:t>
            </a:r>
            <a:endParaRPr lang="en-US" sz="16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Submit independently</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Each future executes its own ChatClient call.</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Join in original order</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Completion order does not reorder the output list.</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Bound the workload</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demo uses inputs.size() workers; add limits for production.</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Pattern 3 / Routing</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Routing: classify, then specialize the response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10 / 22</a:t>
            </a:r>
            <a:endParaRPr lang="en-US" sz="1200" dirty="0"/>
          </a:p>
        </p:txBody>
      </p:sp>
      <p:pic>
        <p:nvPicPr>
          <p:cNvPr id="6" name="Image 0" descr="routing workflow"/>
          <p:cNvPicPr>
            <a:picLocks noChangeAspect="1"/>
          </p:cNvPicPr>
          <p:nvPr/>
        </p:nvPicPr>
        <p:blipFill>
          <a:blip r:embed="rId3"/>
          <a:stretch>
            <a:fillRect/>
          </a:stretch>
        </p:blipFill>
        <p:spPr>
          <a:xfrm>
            <a:off x="548640" y="2039850"/>
            <a:ext cx="11091672" cy="315320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Spring AI structured output</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Map the route decision into a Java record</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11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public record RoutingResponse(</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String reasoning, String selection) {}</a:t>
            </a:r>
            <a:endParaRPr lang="en-US" sz="1600" dirty="0"/>
          </a:p>
          <a:p>
            <a:pPr marL="0" indent="0">
              <a:lnSpc>
                <a:spcPts val="1750"/>
              </a:lnSpc>
              <a:buNone/>
            </a:pP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RoutingResponse result = chatClient.prompt()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.user(user -&gt; user.text(selectorPrompt)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.param("routes", availableRoutes)</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.param("input", input))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.advisors(</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AdvisorParams.ENABLE_NATIVE_STRUCTURED_OUTPUT)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.call()</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.entity(RoutingResponse.class);</a:t>
            </a:r>
            <a:endParaRPr lang="en-US" sz="16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Typed contract</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Read the selection as a field, not scraped prose.</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Native structure</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Request provider-backed structured output support.</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Semantic validation</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Still check that the selected route exists.</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Routing control flow</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Dispatch only after validating the selected route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12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String selectedPrompt = routes.get(routeKey);</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if (selectedPrompt == null)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throw new IllegalArgumentException(</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"Selected route not found in routes map");</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a:t>
            </a:r>
            <a:endParaRPr lang="en-US" sz="1600" dirty="0"/>
          </a:p>
          <a:p>
            <a:pPr marL="0" indent="0">
              <a:lnSpc>
                <a:spcPts val="1750"/>
              </a:lnSpc>
              <a:buNone/>
            </a:pP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String answer = chatClient.prompt()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.user(user -&gt; user.text("{routePrompt}\n{input}")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.param("routePrompt", selectedPrompt)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.param("input", input))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.call().content();</a:t>
            </a:r>
            <a:endParaRPr lang="en-US" sz="16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Closed route set</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Unknown selections raise an error.</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Specialized prompt</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Use the original input with the selected instructions.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Visible choice</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result names the route alongside the answer.</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Pattern 4 / Orchestrator-workers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Orchestrator-workers: let the input shape the plan</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13 / 22</a:t>
            </a:r>
            <a:endParaRPr lang="en-US" sz="1200" dirty="0"/>
          </a:p>
        </p:txBody>
      </p:sp>
      <p:pic>
        <p:nvPicPr>
          <p:cNvPr id="6" name="Image 0" descr="orchestrator workers"/>
          <p:cNvPicPr>
            <a:picLocks noChangeAspect="1"/>
          </p:cNvPicPr>
          <p:nvPr/>
        </p:nvPicPr>
        <p:blipFill>
          <a:blip r:embed="rId3"/>
          <a:stretch>
            <a:fillRect/>
          </a:stretch>
        </p:blipFill>
        <p:spPr>
          <a:xfrm>
            <a:off x="2889504" y="2199530"/>
            <a:ext cx="2194560" cy="1681701"/>
          </a:xfrm>
          <a:prstGeom prst="rect">
            <a:avLst/>
          </a:prstGeom>
        </p:spPr>
      </p:pic>
      <p:sp>
        <p:nvSpPr>
          <p:cNvPr id="7" name="Shape 4"/>
          <p:cNvSpPr/>
          <p:nvPr/>
        </p:nvSpPr>
        <p:spPr>
          <a:xfrm>
            <a:off x="2377440" y="3040380"/>
            <a:ext cx="512064" cy="0"/>
          </a:xfrm>
          <a:prstGeom prst="line">
            <a:avLst/>
          </a:prstGeom>
          <a:noFill/>
          <a:ln w="21590">
            <a:solidFill>
              <a:srgbClr val="397C25"/>
            </a:solidFill>
            <a:prstDash val="solid"/>
            <a:tailEnd type="triangle"/>
          </a:ln>
        </p:spPr>
        <p:txBody>
          <a:bodyPr/>
          <a:lstStyle/>
          <a:p>
            <a:endParaRPr lang="en-ZA"/>
          </a:p>
        </p:txBody>
      </p:sp>
      <p:sp>
        <p:nvSpPr>
          <p:cNvPr id="8" name="Shape 5"/>
          <p:cNvSpPr/>
          <p:nvPr/>
        </p:nvSpPr>
        <p:spPr>
          <a:xfrm>
            <a:off x="5084064" y="3040380"/>
            <a:ext cx="731520" cy="0"/>
          </a:xfrm>
          <a:prstGeom prst="line">
            <a:avLst/>
          </a:prstGeom>
          <a:noFill/>
          <a:ln w="21590">
            <a:solidFill>
              <a:srgbClr val="397C25"/>
            </a:solidFill>
            <a:prstDash val="solid"/>
            <a:tailEnd type="triangle"/>
          </a:ln>
        </p:spPr>
        <p:txBody>
          <a:bodyPr/>
          <a:lstStyle/>
          <a:p>
            <a:endParaRPr lang="en-ZA"/>
          </a:p>
        </p:txBody>
      </p:sp>
      <p:sp>
        <p:nvSpPr>
          <p:cNvPr id="9" name="Shape 6"/>
          <p:cNvSpPr/>
          <p:nvPr/>
        </p:nvSpPr>
        <p:spPr>
          <a:xfrm>
            <a:off x="8010144" y="3040380"/>
            <a:ext cx="832104" cy="0"/>
          </a:xfrm>
          <a:prstGeom prst="line">
            <a:avLst/>
          </a:prstGeom>
          <a:noFill/>
          <a:ln w="21590">
            <a:solidFill>
              <a:srgbClr val="397C25"/>
            </a:solidFill>
            <a:prstDash val="solid"/>
            <a:tailEnd type="triangle"/>
          </a:ln>
        </p:spPr>
        <p:txBody>
          <a:bodyPr/>
          <a:lstStyle/>
          <a:p>
            <a:endParaRPr lang="en-ZA"/>
          </a:p>
        </p:txBody>
      </p:sp>
      <p:sp>
        <p:nvSpPr>
          <p:cNvPr id="10" name="Shape 7"/>
          <p:cNvSpPr/>
          <p:nvPr/>
        </p:nvSpPr>
        <p:spPr>
          <a:xfrm>
            <a:off x="6912864" y="3749040"/>
            <a:ext cx="0" cy="347472"/>
          </a:xfrm>
          <a:prstGeom prst="line">
            <a:avLst/>
          </a:prstGeom>
          <a:noFill/>
          <a:ln w="21590">
            <a:solidFill>
              <a:srgbClr val="397C25"/>
            </a:solidFill>
            <a:prstDash val="solid"/>
          </a:ln>
        </p:spPr>
        <p:txBody>
          <a:bodyPr/>
          <a:lstStyle/>
          <a:p>
            <a:endParaRPr lang="en-ZA"/>
          </a:p>
        </p:txBody>
      </p:sp>
      <p:sp>
        <p:nvSpPr>
          <p:cNvPr id="11" name="Shape 8"/>
          <p:cNvSpPr/>
          <p:nvPr/>
        </p:nvSpPr>
        <p:spPr>
          <a:xfrm>
            <a:off x="3474720" y="4096512"/>
            <a:ext cx="3438144" cy="0"/>
          </a:xfrm>
          <a:prstGeom prst="line">
            <a:avLst/>
          </a:prstGeom>
          <a:noFill/>
          <a:ln w="21590">
            <a:solidFill>
              <a:srgbClr val="397C25"/>
            </a:solidFill>
            <a:prstDash val="solid"/>
          </a:ln>
        </p:spPr>
        <p:txBody>
          <a:bodyPr/>
          <a:lstStyle/>
          <a:p>
            <a:endParaRPr lang="en-ZA"/>
          </a:p>
        </p:txBody>
      </p:sp>
      <p:sp>
        <p:nvSpPr>
          <p:cNvPr id="12" name="Shape 9"/>
          <p:cNvSpPr/>
          <p:nvPr/>
        </p:nvSpPr>
        <p:spPr>
          <a:xfrm>
            <a:off x="3474720" y="4096512"/>
            <a:ext cx="0" cy="457200"/>
          </a:xfrm>
          <a:prstGeom prst="line">
            <a:avLst/>
          </a:prstGeom>
          <a:noFill/>
          <a:ln w="21590">
            <a:solidFill>
              <a:srgbClr val="397C25"/>
            </a:solidFill>
            <a:prstDash val="solid"/>
            <a:tailEnd type="triangle"/>
          </a:ln>
        </p:spPr>
        <p:txBody>
          <a:bodyPr/>
          <a:lstStyle/>
          <a:p>
            <a:endParaRPr lang="en-ZA"/>
          </a:p>
        </p:txBody>
      </p:sp>
      <p:sp>
        <p:nvSpPr>
          <p:cNvPr id="13" name="Shape 10"/>
          <p:cNvSpPr/>
          <p:nvPr/>
        </p:nvSpPr>
        <p:spPr>
          <a:xfrm>
            <a:off x="10241280" y="3749040"/>
            <a:ext cx="0" cy="1330452"/>
          </a:xfrm>
          <a:prstGeom prst="line">
            <a:avLst/>
          </a:prstGeom>
          <a:noFill/>
          <a:ln w="21590">
            <a:solidFill>
              <a:srgbClr val="397C25"/>
            </a:solidFill>
            <a:prstDash val="solid"/>
          </a:ln>
        </p:spPr>
        <p:txBody>
          <a:bodyPr/>
          <a:lstStyle/>
          <a:p>
            <a:endParaRPr lang="en-ZA"/>
          </a:p>
        </p:txBody>
      </p:sp>
      <p:sp>
        <p:nvSpPr>
          <p:cNvPr id="14" name="Shape 11"/>
          <p:cNvSpPr/>
          <p:nvPr/>
        </p:nvSpPr>
        <p:spPr>
          <a:xfrm>
            <a:off x="6400800" y="5079492"/>
            <a:ext cx="3840480" cy="0"/>
          </a:xfrm>
          <a:prstGeom prst="line">
            <a:avLst/>
          </a:prstGeom>
          <a:noFill/>
          <a:ln w="21590">
            <a:solidFill>
              <a:srgbClr val="397C25"/>
            </a:solidFill>
            <a:prstDash val="solid"/>
            <a:headEnd type="triangle"/>
          </a:ln>
        </p:spPr>
        <p:txBody>
          <a:bodyPr/>
          <a:lstStyle/>
          <a:p>
            <a:endParaRPr lang="en-ZA"/>
          </a:p>
        </p:txBody>
      </p:sp>
      <p:sp>
        <p:nvSpPr>
          <p:cNvPr id="15" name="Shape 12"/>
          <p:cNvSpPr/>
          <p:nvPr/>
        </p:nvSpPr>
        <p:spPr>
          <a:xfrm>
            <a:off x="548640" y="2331720"/>
            <a:ext cx="1828800" cy="1417320"/>
          </a:xfrm>
          <a:prstGeom prst="rect">
            <a:avLst/>
          </a:prstGeom>
          <a:solidFill>
            <a:srgbClr val="202A25"/>
          </a:solidFill>
          <a:ln w="12700">
            <a:solidFill>
              <a:srgbClr val="202A25">
                <a:alpha val="0"/>
              </a:srgbClr>
            </a:solidFill>
            <a:prstDash val="solid"/>
          </a:ln>
        </p:spPr>
        <p:txBody>
          <a:bodyPr/>
          <a:lstStyle/>
          <a:p>
            <a:endParaRPr lang="en-ZA"/>
          </a:p>
        </p:txBody>
      </p:sp>
      <p:sp>
        <p:nvSpPr>
          <p:cNvPr id="16" name="Text 13"/>
          <p:cNvSpPr/>
          <p:nvPr/>
        </p:nvSpPr>
        <p:spPr>
          <a:xfrm>
            <a:off x="676656" y="2450592"/>
            <a:ext cx="157276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User task</a:t>
            </a:r>
            <a:endParaRPr lang="en-US" sz="2100" dirty="0"/>
          </a:p>
        </p:txBody>
      </p:sp>
      <p:sp>
        <p:nvSpPr>
          <p:cNvPr id="17" name="Text 14"/>
          <p:cNvSpPr/>
          <p:nvPr/>
        </p:nvSpPr>
        <p:spPr>
          <a:xfrm>
            <a:off x="676656" y="2953512"/>
            <a:ext cx="1572768" cy="69494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User request</a:t>
            </a:r>
            <a:endParaRPr lang="en-US" sz="1900" dirty="0"/>
          </a:p>
        </p:txBody>
      </p:sp>
      <p:sp>
        <p:nvSpPr>
          <p:cNvPr id="18" name="Shape 15"/>
          <p:cNvSpPr/>
          <p:nvPr/>
        </p:nvSpPr>
        <p:spPr>
          <a:xfrm>
            <a:off x="5815584" y="2331720"/>
            <a:ext cx="2194560" cy="1417320"/>
          </a:xfrm>
          <a:prstGeom prst="rect">
            <a:avLst/>
          </a:prstGeom>
          <a:solidFill>
            <a:srgbClr val="202A25"/>
          </a:solidFill>
          <a:ln w="12700">
            <a:solidFill>
              <a:srgbClr val="202A25">
                <a:alpha val="0"/>
              </a:srgbClr>
            </a:solidFill>
            <a:prstDash val="solid"/>
          </a:ln>
        </p:spPr>
        <p:txBody>
          <a:bodyPr/>
          <a:lstStyle/>
          <a:p>
            <a:endParaRPr lang="en-ZA"/>
          </a:p>
        </p:txBody>
      </p:sp>
      <p:sp>
        <p:nvSpPr>
          <p:cNvPr id="19" name="Text 16"/>
          <p:cNvSpPr/>
          <p:nvPr/>
        </p:nvSpPr>
        <p:spPr>
          <a:xfrm>
            <a:off x="5943600" y="2450592"/>
            <a:ext cx="193852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Typed plan</a:t>
            </a:r>
            <a:endParaRPr lang="en-US" sz="2100" dirty="0"/>
          </a:p>
        </p:txBody>
      </p:sp>
      <p:sp>
        <p:nvSpPr>
          <p:cNvPr id="20" name="Text 17"/>
          <p:cNvSpPr/>
          <p:nvPr/>
        </p:nvSpPr>
        <p:spPr>
          <a:xfrm>
            <a:off x="5943600" y="2953512"/>
            <a:ext cx="1938528" cy="69494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analysis + tasks[]</a:t>
            </a:r>
            <a:endParaRPr lang="en-US" sz="1900" dirty="0"/>
          </a:p>
        </p:txBody>
      </p:sp>
      <p:sp>
        <p:nvSpPr>
          <p:cNvPr id="21" name="Shape 18"/>
          <p:cNvSpPr/>
          <p:nvPr/>
        </p:nvSpPr>
        <p:spPr>
          <a:xfrm>
            <a:off x="8842248" y="2331720"/>
            <a:ext cx="2798064" cy="1417320"/>
          </a:xfrm>
          <a:prstGeom prst="rect">
            <a:avLst/>
          </a:prstGeom>
          <a:solidFill>
            <a:srgbClr val="202A25"/>
          </a:solidFill>
          <a:ln w="12700">
            <a:solidFill>
              <a:srgbClr val="202A25">
                <a:alpha val="0"/>
              </a:srgbClr>
            </a:solidFill>
            <a:prstDash val="solid"/>
          </a:ln>
        </p:spPr>
        <p:txBody>
          <a:bodyPr/>
          <a:lstStyle/>
          <a:p>
            <a:endParaRPr lang="en-ZA"/>
          </a:p>
        </p:txBody>
      </p:sp>
      <p:sp>
        <p:nvSpPr>
          <p:cNvPr id="22" name="Text 19"/>
          <p:cNvSpPr/>
          <p:nvPr/>
        </p:nvSpPr>
        <p:spPr>
          <a:xfrm>
            <a:off x="8970264" y="2450592"/>
            <a:ext cx="2542032"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For each task</a:t>
            </a:r>
            <a:endParaRPr lang="en-US" sz="2100" dirty="0"/>
          </a:p>
        </p:txBody>
      </p:sp>
      <p:sp>
        <p:nvSpPr>
          <p:cNvPr id="23" name="Text 20"/>
          <p:cNvSpPr/>
          <p:nvPr/>
        </p:nvSpPr>
        <p:spPr>
          <a:xfrm>
            <a:off x="8970264" y="2953512"/>
            <a:ext cx="2542032" cy="694944"/>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Original task + worker instructions</a:t>
            </a:r>
            <a:endParaRPr lang="en-US" sz="1800" dirty="0"/>
          </a:p>
        </p:txBody>
      </p:sp>
      <p:sp>
        <p:nvSpPr>
          <p:cNvPr id="24" name="Shape 21"/>
          <p:cNvSpPr/>
          <p:nvPr/>
        </p:nvSpPr>
        <p:spPr>
          <a:xfrm>
            <a:off x="548640" y="4553712"/>
            <a:ext cx="5852160" cy="1051560"/>
          </a:xfrm>
          <a:prstGeom prst="rect">
            <a:avLst/>
          </a:prstGeom>
          <a:solidFill>
            <a:srgbClr val="202A25"/>
          </a:solidFill>
          <a:ln w="12700">
            <a:solidFill>
              <a:srgbClr val="202A25">
                <a:alpha val="0"/>
              </a:srgbClr>
            </a:solidFill>
            <a:prstDash val="solid"/>
          </a:ln>
        </p:spPr>
        <p:txBody>
          <a:bodyPr/>
          <a:lstStyle/>
          <a:p>
            <a:endParaRPr lang="en-ZA"/>
          </a:p>
        </p:txBody>
      </p:sp>
      <p:sp>
        <p:nvSpPr>
          <p:cNvPr id="25" name="Text 22"/>
          <p:cNvSpPr/>
          <p:nvPr/>
        </p:nvSpPr>
        <p:spPr>
          <a:xfrm>
            <a:off x="676656" y="4672584"/>
            <a:ext cx="559612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FinalResponse</a:t>
            </a:r>
            <a:endParaRPr lang="en-US" sz="2100" dirty="0"/>
          </a:p>
        </p:txBody>
      </p:sp>
      <p:sp>
        <p:nvSpPr>
          <p:cNvPr id="26" name="Text 23"/>
          <p:cNvSpPr/>
          <p:nvPr/>
        </p:nvSpPr>
        <p:spPr>
          <a:xfrm>
            <a:off x="676656" y="5175504"/>
            <a:ext cx="5596128" cy="32918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analysis + workerResponses[]</a:t>
            </a:r>
            <a:endParaRPr lang="en-US" sz="1900" dirty="0"/>
          </a:p>
        </p:txBody>
      </p:sp>
      <p:sp>
        <p:nvSpPr>
          <p:cNvPr id="27" name="Text 24"/>
          <p:cNvSpPr/>
          <p:nvPr/>
        </p:nvSpPr>
        <p:spPr>
          <a:xfrm>
            <a:off x="2889504" y="1755648"/>
            <a:ext cx="2423160" cy="365760"/>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Orchestrator call</a:t>
            </a:r>
            <a:endParaRPr lang="en-US" sz="1800" dirty="0"/>
          </a:p>
        </p:txBody>
      </p:sp>
      <p:sp>
        <p:nvSpPr>
          <p:cNvPr id="28" name="Text 25"/>
          <p:cNvSpPr/>
          <p:nvPr/>
        </p:nvSpPr>
        <p:spPr>
          <a:xfrm>
            <a:off x="5532120" y="1755648"/>
            <a:ext cx="6108192" cy="411480"/>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Workers run sequentially, one call per planned task</a:t>
            </a:r>
            <a:endParaRPr lang="en-US" sz="1800" dirty="0"/>
          </a:p>
        </p:txBody>
      </p:sp>
      <p:sp>
        <p:nvSpPr>
          <p:cNvPr id="29" name="Text 26"/>
          <p:cNvSpPr/>
          <p:nvPr/>
        </p:nvSpPr>
        <p:spPr>
          <a:xfrm>
            <a:off x="548640" y="4023360"/>
            <a:ext cx="2743200" cy="347472"/>
          </a:xfrm>
          <a:prstGeom prst="rect">
            <a:avLst/>
          </a:prstGeom>
          <a:noFill/>
          <a:ln/>
        </p:spPr>
        <p:txBody>
          <a:bodyPr wrap="square" lIns="0" tIns="0" rIns="0" bIns="0" rtlCol="0" anchor="t"/>
          <a:lstStyle/>
          <a:p>
            <a:pPr marL="0" indent="0">
              <a:buNone/>
            </a:pPr>
            <a:r>
              <a:rPr lang="en-US" sz="1700" b="1" dirty="0">
                <a:solidFill>
                  <a:srgbClr val="397C25"/>
                </a:solidFill>
                <a:latin typeface="Calibri" pitchFamily="34" charset="0"/>
                <a:ea typeface="Calibri" pitchFamily="34" charset="-122"/>
                <a:cs typeface="Calibri" pitchFamily="34" charset="-120"/>
              </a:rPr>
              <a:t>Retain planner analysis</a:t>
            </a:r>
            <a:endParaRPr lang="en-US" sz="1700" dirty="0"/>
          </a:p>
        </p:txBody>
      </p:sp>
      <p:sp>
        <p:nvSpPr>
          <p:cNvPr id="30" name="Text 27"/>
          <p:cNvSpPr/>
          <p:nvPr/>
        </p:nvSpPr>
        <p:spPr>
          <a:xfrm>
            <a:off x="6922008" y="4645152"/>
            <a:ext cx="4023360" cy="338328"/>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Collect worker responses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Spring AI planner output</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Represent a dynamic plan with typed records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14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public record Task(</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String type, String description)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public record OrchestratorResponse(</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String analysis, List&lt;Task&gt; tasks) {}</a:t>
            </a:r>
            <a:endParaRPr lang="en-US" sz="1600" dirty="0"/>
          </a:p>
          <a:p>
            <a:pPr marL="0" indent="0">
              <a:lnSpc>
                <a:spcPts val="1750"/>
              </a:lnSpc>
              <a:buNone/>
            </a:pP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OrchestratorResponse plan = chatClient.prompt()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.user(user -&gt; user.text(orchestratorPrompt)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.param("task", taskDescription))</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.advisors(</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AdvisorParams.ENABLE_NATIVE_STRUCTURED_OUTPUT)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.call().entity(OrchestratorResponse.class);</a:t>
            </a:r>
            <a:endParaRPr lang="en-US" sz="16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Planner input</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original user task drives decomposition.</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Worker instructions</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Each task has a type and description.</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Bound the plan</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prompt asks for 2-3 tasks; Java does not enforce that count.</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Worker execution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Run each worker with the original task and its role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15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List&lt;String&gt; outputs = plan.tasks().stream()</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.map(task -&gt; chatClient.prompt()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.user(user -&gt; user.text(workerPrompt)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.param("original_task", taskDescription)</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.param("task_type", task.type())</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.param("task_description",</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task.description()))</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.call().content())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.toList();</a:t>
            </a:r>
            <a:endParaRPr lang="en-US" sz="1600" dirty="0"/>
          </a:p>
          <a:p>
            <a:pPr marL="0" indent="0">
              <a:lnSpc>
                <a:spcPts val="1750"/>
              </a:lnSpc>
              <a:buNone/>
            </a:pP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return new FinalResponse(plan.analysis(), outputs);</a:t>
            </a:r>
            <a:endParaRPr lang="en-US" sz="16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Original intent</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Every worker sees the original user task.</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Specialized variation</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planner adds type and guidelines.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Current execution</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 plain stream runs workers sequentially.</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Pattern 5 / Evaluator-optimizer</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Evaluator-optimizer: generate, assess, and refine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16 / 22</a:t>
            </a:r>
            <a:endParaRPr lang="en-US" sz="1200" dirty="0"/>
          </a:p>
        </p:txBody>
      </p:sp>
      <p:pic>
        <p:nvPicPr>
          <p:cNvPr id="6" name="Image 0" descr="evaluator optimizer"/>
          <p:cNvPicPr>
            <a:picLocks noChangeAspect="1"/>
          </p:cNvPicPr>
          <p:nvPr/>
        </p:nvPicPr>
        <p:blipFill>
          <a:blip r:embed="rId3"/>
          <a:stretch>
            <a:fillRect/>
          </a:stretch>
        </p:blipFill>
        <p:spPr>
          <a:xfrm>
            <a:off x="3440094" y="2423160"/>
            <a:ext cx="2172372" cy="1234440"/>
          </a:xfrm>
          <a:prstGeom prst="rect">
            <a:avLst/>
          </a:prstGeom>
        </p:spPr>
      </p:pic>
      <p:pic>
        <p:nvPicPr>
          <p:cNvPr id="7" name="Image 1" descr="evaluator optimizer"/>
          <p:cNvPicPr>
            <a:picLocks noChangeAspect="1"/>
          </p:cNvPicPr>
          <p:nvPr/>
        </p:nvPicPr>
        <p:blipFill>
          <a:blip r:embed="rId4"/>
          <a:stretch>
            <a:fillRect/>
          </a:stretch>
        </p:blipFill>
        <p:spPr>
          <a:xfrm>
            <a:off x="6655622" y="2423160"/>
            <a:ext cx="2142116" cy="1234440"/>
          </a:xfrm>
          <a:prstGeom prst="rect">
            <a:avLst/>
          </a:prstGeom>
        </p:spPr>
      </p:pic>
      <p:sp>
        <p:nvSpPr>
          <p:cNvPr id="8" name="Shape 4"/>
          <p:cNvSpPr/>
          <p:nvPr/>
        </p:nvSpPr>
        <p:spPr>
          <a:xfrm>
            <a:off x="2468880" y="3040380"/>
            <a:ext cx="971212" cy="0"/>
          </a:xfrm>
          <a:prstGeom prst="line">
            <a:avLst/>
          </a:prstGeom>
          <a:noFill/>
          <a:ln w="21590">
            <a:solidFill>
              <a:srgbClr val="397C25"/>
            </a:solidFill>
            <a:prstDash val="solid"/>
            <a:tailEnd type="triangle"/>
          </a:ln>
        </p:spPr>
        <p:txBody>
          <a:bodyPr/>
          <a:lstStyle/>
          <a:p>
            <a:endParaRPr lang="en-ZA"/>
          </a:p>
        </p:txBody>
      </p:sp>
      <p:sp>
        <p:nvSpPr>
          <p:cNvPr id="9" name="Shape 5"/>
          <p:cNvSpPr/>
          <p:nvPr/>
        </p:nvSpPr>
        <p:spPr>
          <a:xfrm>
            <a:off x="5612468" y="3040380"/>
            <a:ext cx="1043157" cy="0"/>
          </a:xfrm>
          <a:prstGeom prst="line">
            <a:avLst/>
          </a:prstGeom>
          <a:noFill/>
          <a:ln w="21590">
            <a:solidFill>
              <a:srgbClr val="397C25"/>
            </a:solidFill>
            <a:prstDash val="solid"/>
            <a:tailEnd type="triangle"/>
          </a:ln>
        </p:spPr>
        <p:txBody>
          <a:bodyPr/>
          <a:lstStyle/>
          <a:p>
            <a:endParaRPr lang="en-ZA"/>
          </a:p>
        </p:txBody>
      </p:sp>
      <p:sp>
        <p:nvSpPr>
          <p:cNvPr id="10" name="Shape 6"/>
          <p:cNvSpPr/>
          <p:nvPr/>
        </p:nvSpPr>
        <p:spPr>
          <a:xfrm>
            <a:off x="8797735" y="3040380"/>
            <a:ext cx="712025" cy="0"/>
          </a:xfrm>
          <a:prstGeom prst="line">
            <a:avLst/>
          </a:prstGeom>
          <a:noFill/>
          <a:ln w="21590">
            <a:solidFill>
              <a:srgbClr val="397C25"/>
            </a:solidFill>
            <a:prstDash val="solid"/>
            <a:tailEnd type="triangle"/>
          </a:ln>
        </p:spPr>
        <p:txBody>
          <a:bodyPr/>
          <a:lstStyle/>
          <a:p>
            <a:endParaRPr lang="en-ZA"/>
          </a:p>
        </p:txBody>
      </p:sp>
      <p:sp>
        <p:nvSpPr>
          <p:cNvPr id="11" name="Shape 7"/>
          <p:cNvSpPr/>
          <p:nvPr/>
        </p:nvSpPr>
        <p:spPr>
          <a:xfrm>
            <a:off x="7726680" y="3657600"/>
            <a:ext cx="0" cy="1426464"/>
          </a:xfrm>
          <a:prstGeom prst="line">
            <a:avLst/>
          </a:prstGeom>
          <a:noFill/>
          <a:ln w="21590">
            <a:solidFill>
              <a:srgbClr val="397C25"/>
            </a:solidFill>
            <a:prstDash val="dash"/>
          </a:ln>
        </p:spPr>
        <p:txBody>
          <a:bodyPr/>
          <a:lstStyle/>
          <a:p>
            <a:endParaRPr lang="en-ZA"/>
          </a:p>
        </p:txBody>
      </p:sp>
      <p:sp>
        <p:nvSpPr>
          <p:cNvPr id="12" name="Shape 8"/>
          <p:cNvSpPr/>
          <p:nvPr/>
        </p:nvSpPr>
        <p:spPr>
          <a:xfrm>
            <a:off x="4526280" y="5084064"/>
            <a:ext cx="3200400" cy="0"/>
          </a:xfrm>
          <a:prstGeom prst="line">
            <a:avLst/>
          </a:prstGeom>
          <a:noFill/>
          <a:ln w="21590">
            <a:solidFill>
              <a:srgbClr val="397C25"/>
            </a:solidFill>
            <a:prstDash val="dash"/>
          </a:ln>
        </p:spPr>
        <p:txBody>
          <a:bodyPr/>
          <a:lstStyle/>
          <a:p>
            <a:endParaRPr lang="en-ZA"/>
          </a:p>
        </p:txBody>
      </p:sp>
      <p:sp>
        <p:nvSpPr>
          <p:cNvPr id="13" name="Shape 9"/>
          <p:cNvSpPr/>
          <p:nvPr/>
        </p:nvSpPr>
        <p:spPr>
          <a:xfrm>
            <a:off x="4526280" y="3657600"/>
            <a:ext cx="0" cy="1426464"/>
          </a:xfrm>
          <a:prstGeom prst="line">
            <a:avLst/>
          </a:prstGeom>
          <a:noFill/>
          <a:ln w="21590">
            <a:solidFill>
              <a:srgbClr val="397C25"/>
            </a:solidFill>
            <a:prstDash val="dash"/>
            <a:headEnd type="triangle"/>
          </a:ln>
        </p:spPr>
        <p:txBody>
          <a:bodyPr/>
          <a:lstStyle/>
          <a:p>
            <a:endParaRPr lang="en-ZA"/>
          </a:p>
        </p:txBody>
      </p:sp>
      <p:sp>
        <p:nvSpPr>
          <p:cNvPr id="14" name="Shape 10"/>
          <p:cNvSpPr/>
          <p:nvPr/>
        </p:nvSpPr>
        <p:spPr>
          <a:xfrm>
            <a:off x="548640" y="2423160"/>
            <a:ext cx="1920240" cy="1234440"/>
          </a:xfrm>
          <a:prstGeom prst="rect">
            <a:avLst/>
          </a:prstGeom>
          <a:solidFill>
            <a:srgbClr val="202A25"/>
          </a:solidFill>
          <a:ln w="12700">
            <a:solidFill>
              <a:srgbClr val="202A25">
                <a:alpha val="0"/>
              </a:srgbClr>
            </a:solidFill>
            <a:prstDash val="solid"/>
          </a:ln>
        </p:spPr>
        <p:txBody>
          <a:bodyPr/>
          <a:lstStyle/>
          <a:p>
            <a:endParaRPr lang="en-ZA"/>
          </a:p>
        </p:txBody>
      </p:sp>
      <p:sp>
        <p:nvSpPr>
          <p:cNvPr id="15" name="Text 11"/>
          <p:cNvSpPr/>
          <p:nvPr/>
        </p:nvSpPr>
        <p:spPr>
          <a:xfrm>
            <a:off x="667512" y="2560320"/>
            <a:ext cx="1682496" cy="960120"/>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Original task</a:t>
            </a:r>
            <a:endParaRPr lang="en-US" sz="2100" dirty="0"/>
          </a:p>
        </p:txBody>
      </p:sp>
      <p:sp>
        <p:nvSpPr>
          <p:cNvPr id="16" name="Shape 12"/>
          <p:cNvSpPr/>
          <p:nvPr/>
        </p:nvSpPr>
        <p:spPr>
          <a:xfrm>
            <a:off x="9509760" y="2423160"/>
            <a:ext cx="2130552" cy="1234440"/>
          </a:xfrm>
          <a:prstGeom prst="rect">
            <a:avLst/>
          </a:prstGeom>
          <a:solidFill>
            <a:srgbClr val="202A25"/>
          </a:solidFill>
          <a:ln w="12700">
            <a:solidFill>
              <a:srgbClr val="202A25">
                <a:alpha val="0"/>
              </a:srgbClr>
            </a:solidFill>
            <a:prstDash val="solid"/>
          </a:ln>
        </p:spPr>
        <p:txBody>
          <a:bodyPr/>
          <a:lstStyle/>
          <a:p>
            <a:endParaRPr lang="en-ZA"/>
          </a:p>
        </p:txBody>
      </p:sp>
      <p:sp>
        <p:nvSpPr>
          <p:cNvPr id="17" name="Text 13"/>
          <p:cNvSpPr/>
          <p:nvPr/>
        </p:nvSpPr>
        <p:spPr>
          <a:xfrm>
            <a:off x="9637776" y="2542032"/>
            <a:ext cx="1874520"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Return draft</a:t>
            </a:r>
            <a:endParaRPr lang="en-US" sz="2100" dirty="0"/>
          </a:p>
        </p:txBody>
      </p:sp>
      <p:sp>
        <p:nvSpPr>
          <p:cNvPr id="18" name="Text 14"/>
          <p:cNvSpPr/>
          <p:nvPr/>
        </p:nvSpPr>
        <p:spPr>
          <a:xfrm>
            <a:off x="9637776" y="3044952"/>
            <a:ext cx="1874520" cy="51206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PASS or cap</a:t>
            </a:r>
            <a:endParaRPr lang="en-US" sz="1900" dirty="0"/>
          </a:p>
        </p:txBody>
      </p:sp>
      <p:sp>
        <p:nvSpPr>
          <p:cNvPr id="19" name="Text 15"/>
          <p:cNvSpPr/>
          <p:nvPr/>
        </p:nvSpPr>
        <p:spPr>
          <a:xfrm>
            <a:off x="548640" y="1801368"/>
            <a:ext cx="11064240" cy="393192"/>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Both model calls receive the original task. The evaluator also receives the current draft.</a:t>
            </a:r>
            <a:endParaRPr lang="en-US" sz="1800" dirty="0"/>
          </a:p>
        </p:txBody>
      </p:sp>
      <p:sp>
        <p:nvSpPr>
          <p:cNvPr id="20" name="Text 16"/>
          <p:cNvSpPr/>
          <p:nvPr/>
        </p:nvSpPr>
        <p:spPr>
          <a:xfrm>
            <a:off x="4773168" y="4050792"/>
            <a:ext cx="2743200" cy="877824"/>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Non-PASS, below cap:</a:t>
            </a:r>
            <a:endParaRPr lang="en-US" sz="1800" dirty="0"/>
          </a:p>
          <a:p>
            <a:pPr marL="0" indent="0">
              <a:buNone/>
            </a:pPr>
            <a:r>
              <a:rPr lang="en-US" sz="1800" b="1" dirty="0">
                <a:solidFill>
                  <a:srgbClr val="397C25"/>
                </a:solidFill>
                <a:latin typeface="Calibri" pitchFamily="34" charset="0"/>
                <a:ea typeface="Calibri" pitchFamily="34" charset="-122"/>
                <a:cs typeface="Calibri" pitchFamily="34" charset="-120"/>
              </a:rPr>
              <a:t>prior attempts +</a:t>
            </a:r>
            <a:endParaRPr lang="en-US" sz="1800" dirty="0"/>
          </a:p>
          <a:p>
            <a:pPr marL="0" indent="0">
              <a:buNone/>
            </a:pPr>
            <a:r>
              <a:rPr lang="en-US" sz="1800" b="1" dirty="0">
                <a:solidFill>
                  <a:srgbClr val="397C25"/>
                </a:solidFill>
                <a:latin typeface="Calibri" pitchFamily="34" charset="0"/>
                <a:ea typeface="Calibri" pitchFamily="34" charset="-122"/>
                <a:cs typeface="Calibri" pitchFamily="34" charset="-120"/>
              </a:rPr>
              <a:t>latest feedback</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Typed refinement outputs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Use structured generation and evaluation contracts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17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public record Generation(</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String thoughts, String response) {}</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public record EvaluationResponse(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Evaluation evaluation, String feedback)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public enum Evaluation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PASS, NEEDS_IMPROVEMENT, FAIL</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Generator record</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Holds the draft and generated explanation.</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Evaluator record</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Holds a constrained verdict and feedback text.</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Spring AI mapping</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Both calls use native structured output and entity(...).</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Bounded iteration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Stop on PASS or after three evaluated drafts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18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if (evaluationResponse.evaluation().equals(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EvaluationResponse.Evaluation.PASS)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 iteration &gt;= maxIterations - 1)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return new RefinedResponse(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generation.response(), chainOfThought);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return loop(task, newContext.toString(),</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memory, chainOfThought, iteration + 1);</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Default cap: 3</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Each round has one generator and one evaluator call.</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Feedback context</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Prior attempts and the latest feedback guide refinement.</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At the limit</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last draft is returned even without a PASS.</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Cross-cutting observability</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Observe calls with a Spring AI BaseAdvisor</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19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return ChatClient.builder(chatModel)</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.defaultAdvisors(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MyLoggingAdvisor.builder()</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.showSystemMessage(true)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.showAvailableTools(true)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.labelPrefix("[Agent]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.logSink(logSink)</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.build())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.build();</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before(...)</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Logs request excerpts and available tools.</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after(...)</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Logs generated text and tool-call details.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Browser stream</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AdvisorLogSink feeds /api/agents/logs via SSE.</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Pattern selection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Choose the smallest workflow that fits the task</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20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CURRENT APPLICATION-LEVEL MODEL CALLS</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Chain            4 sequential calls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Parallelization  N independent calls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Routing          2 sequential calls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Orchestrator     1 planner + N workers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Evaluator        2 to 6 calls by default</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These counts exclude provider retries.</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Dependency shape</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Sequential, independent, classified, or dynamic work?</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Quality target</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What check justifies another model call?</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Operational budget</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Bound duration, worker count, and retries.</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06  /  Workshop demonstration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Run every pattern and inspect intermediate evidence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06 Agentic Patterns</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21 / 22</a:t>
            </a:r>
            <a:endParaRPr lang="en-US" sz="1200" dirty="0"/>
          </a:p>
        </p:txBody>
      </p:sp>
      <p:sp>
        <p:nvSpPr>
          <p:cNvPr id="6" name="Shape 4"/>
          <p:cNvSpPr/>
          <p:nvPr/>
        </p:nvSpPr>
        <p:spPr>
          <a:xfrm>
            <a:off x="548640" y="1773936"/>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7" name="Text 5"/>
          <p:cNvSpPr/>
          <p:nvPr/>
        </p:nvSpPr>
        <p:spPr>
          <a:xfrm>
            <a:off x="548640" y="1828800"/>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298448" y="1746504"/>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Start from 06-agents</a:t>
            </a:r>
            <a:endParaRPr lang="en-US" sz="2400" dirty="0"/>
          </a:p>
        </p:txBody>
      </p:sp>
      <p:sp>
        <p:nvSpPr>
          <p:cNvPr id="9" name="Text 7"/>
          <p:cNvSpPr/>
          <p:nvPr/>
        </p:nvSpPr>
        <p:spPr>
          <a:xfrm>
            <a:off x="1298448" y="2231136"/>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PowerShell: .\start.ps1    |    Bash: ./start.sh    |    http://localhost:8086</a:t>
            </a:r>
            <a:endParaRPr lang="en-US" sz="2000" dirty="0"/>
          </a:p>
        </p:txBody>
      </p:sp>
      <p:sp>
        <p:nvSpPr>
          <p:cNvPr id="10" name="Shape 8"/>
          <p:cNvSpPr/>
          <p:nvPr/>
        </p:nvSpPr>
        <p:spPr>
          <a:xfrm>
            <a:off x="548640" y="3060192"/>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11" name="Text 9"/>
          <p:cNvSpPr/>
          <p:nvPr/>
        </p:nvSpPr>
        <p:spPr>
          <a:xfrm>
            <a:off x="548640" y="3115056"/>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1298448" y="3032760"/>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Use the built-in examples</a:t>
            </a:r>
            <a:endParaRPr lang="en-US" sz="2400" dirty="0"/>
          </a:p>
        </p:txBody>
      </p:sp>
      <p:sp>
        <p:nvSpPr>
          <p:cNvPr id="13" name="Text 11"/>
          <p:cNvSpPr/>
          <p:nvPr/>
        </p:nvSpPr>
        <p:spPr>
          <a:xfrm>
            <a:off x="1298448" y="3517392"/>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Q3 report, translations, billing issue, API documentation, and thread-safe counter.</a:t>
            </a:r>
            <a:endParaRPr lang="en-US" sz="2000" dirty="0"/>
          </a:p>
        </p:txBody>
      </p:sp>
      <p:sp>
        <p:nvSpPr>
          <p:cNvPr id="14" name="Shape 12"/>
          <p:cNvSpPr/>
          <p:nvPr/>
        </p:nvSpPr>
        <p:spPr>
          <a:xfrm>
            <a:off x="548640" y="4346448"/>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15" name="Text 13"/>
          <p:cNvSpPr/>
          <p:nvPr/>
        </p:nvSpPr>
        <p:spPr>
          <a:xfrm>
            <a:off x="548640" y="4401312"/>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1298448" y="4319016"/>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Inspect the result and advisor logs</a:t>
            </a:r>
            <a:endParaRPr lang="en-US" sz="2400" dirty="0"/>
          </a:p>
        </p:txBody>
      </p:sp>
      <p:sp>
        <p:nvSpPr>
          <p:cNvPr id="17" name="Text 15"/>
          <p:cNvSpPr/>
          <p:nvPr/>
        </p:nvSpPr>
        <p:spPr>
          <a:xfrm>
            <a:off x="1298448" y="4803648"/>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Check stages, input order, route, planner analysis, worker outputs, and refinement history.</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02A25"/>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t"/>
          <a:lstStyle/>
          <a:p>
            <a:pPr marL="0" indent="0">
              <a:buNone/>
            </a:pPr>
            <a:r>
              <a:rPr lang="en-US" sz="1400" b="1" dirty="0">
                <a:solidFill>
                  <a:srgbClr val="86CF54"/>
                </a:solidFill>
                <a:latin typeface="Calibri" pitchFamily="34" charset="0"/>
                <a:ea typeface="Calibri" pitchFamily="34" charset="-122"/>
                <a:cs typeface="Calibri" pitchFamily="34" charset="-120"/>
              </a:rPr>
              <a:t>SPRING AI  /  MODULE 06</a:t>
            </a:r>
            <a:endParaRPr lang="en-US" sz="1400" dirty="0"/>
          </a:p>
        </p:txBody>
      </p:sp>
      <p:sp>
        <p:nvSpPr>
          <p:cNvPr id="9" name="Text 6"/>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B9CBB9"/>
                </a:solidFill>
                <a:latin typeface="Calibri" pitchFamily="34" charset="0"/>
                <a:ea typeface="Calibri" pitchFamily="34" charset="-122"/>
                <a:cs typeface="Calibri" pitchFamily="34" charset="-120"/>
              </a:rPr>
              <a:t>SPRING AI FOR BEGINNERS  /  06 Agentic Patterns</a:t>
            </a:r>
            <a:endParaRPr lang="en-US" sz="1050" dirty="0"/>
          </a:p>
        </p:txBody>
      </p:sp>
      <p:sp>
        <p:nvSpPr>
          <p:cNvPr id="10" name="Text 7"/>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B9CBB9"/>
                </a:solidFill>
                <a:latin typeface="Calibri" pitchFamily="34" charset="0"/>
                <a:ea typeface="Calibri" pitchFamily="34" charset="-122"/>
                <a:cs typeface="Calibri" pitchFamily="34" charset="-120"/>
              </a:rPr>
              <a:t>22 / 22</a:t>
            </a:r>
            <a:endParaRPr lang="en-US" sz="1200" dirty="0"/>
          </a:p>
        </p:txBody>
      </p:sp>
      <p:sp>
        <p:nvSpPr>
          <p:cNvPr id="12" name="Text 1">
            <a:extLst>
              <a:ext uri="{FF2B5EF4-FFF2-40B4-BE49-F238E27FC236}">
                <a16:creationId xmlns:a16="http://schemas.microsoft.com/office/drawing/2014/main" id="{9E872420-166F-EF99-26B7-BD93948ABA76}"/>
              </a:ext>
            </a:extLst>
          </p:cNvPr>
          <p:cNvSpPr/>
          <p:nvPr/>
        </p:nvSpPr>
        <p:spPr>
          <a:xfrm>
            <a:off x="645232" y="2888731"/>
            <a:ext cx="1615011" cy="678201"/>
          </a:xfrm>
          <a:prstGeom prst="rect">
            <a:avLst/>
          </a:prstGeom>
          <a:noFill/>
          <a:ln/>
        </p:spPr>
        <p:txBody>
          <a:bodyPr wrap="square" lIns="0" tIns="0" rIns="0" bIns="0" rtlCol="0" anchor="t"/>
          <a:lstStyle/>
          <a:p>
            <a:pPr marL="0" indent="0">
              <a:buNone/>
            </a:pPr>
            <a:r>
              <a:rPr lang="en-US" sz="4000" b="1" dirty="0">
                <a:solidFill>
                  <a:srgbClr val="FFFFFF"/>
                </a:solidFill>
                <a:latin typeface="Trebuchet MS" pitchFamily="34" charset="0"/>
                <a:ea typeface="Trebuchet MS" pitchFamily="34" charset="-122"/>
                <a:cs typeface="Trebuchet MS" pitchFamily="34" charset="-120"/>
              </a:rPr>
              <a:t>Demo</a:t>
            </a:r>
            <a:endParaRPr lang="en-US" sz="4000" dirty="0"/>
          </a:p>
        </p:txBody>
      </p:sp>
      <p:pic>
        <p:nvPicPr>
          <p:cNvPr id="14" name="Picture 13" descr="QR Code">
            <a:extLst>
              <a:ext uri="{FF2B5EF4-FFF2-40B4-BE49-F238E27FC236}">
                <a16:creationId xmlns:a16="http://schemas.microsoft.com/office/drawing/2014/main" id="{E3187775-6A95-83C7-49FF-240FD89EEFDE}"/>
              </a:ext>
            </a:extLst>
          </p:cNvPr>
          <p:cNvPicPr>
            <a:picLocks noChangeAspect="1"/>
          </p:cNvPicPr>
          <p:nvPr/>
        </p:nvPicPr>
        <p:blipFill>
          <a:blip r:embed="rId3"/>
          <a:stretch>
            <a:fillRect/>
          </a:stretch>
        </p:blipFill>
        <p:spPr>
          <a:xfrm>
            <a:off x="3574694" y="675763"/>
            <a:ext cx="5143500" cy="5143500"/>
          </a:xfrm>
          <a:prstGeom prst="rect">
            <a:avLst/>
          </a:prstGeom>
        </p:spPr>
      </p:pic>
      <p:sp>
        <p:nvSpPr>
          <p:cNvPr id="16" name="TextBox 15">
            <a:extLst>
              <a:ext uri="{FF2B5EF4-FFF2-40B4-BE49-F238E27FC236}">
                <a16:creationId xmlns:a16="http://schemas.microsoft.com/office/drawing/2014/main" id="{3BF97AAD-DCF5-344F-6BA0-47030EE5A3E6}"/>
              </a:ext>
            </a:extLst>
          </p:cNvPr>
          <p:cNvSpPr txBox="1"/>
          <p:nvPr/>
        </p:nvSpPr>
        <p:spPr>
          <a:xfrm>
            <a:off x="2869576" y="5816025"/>
            <a:ext cx="6553736" cy="584775"/>
          </a:xfrm>
          <a:prstGeom prst="rect">
            <a:avLst/>
          </a:prstGeom>
          <a:noFill/>
        </p:spPr>
        <p:txBody>
          <a:bodyPr wrap="square">
            <a:spAutoFit/>
          </a:bodyPr>
          <a:lstStyle/>
          <a:p>
            <a:r>
              <a:rPr lang="en-ZA" sz="3200" dirty="0">
                <a:solidFill>
                  <a:schemeClr val="bg2"/>
                </a:solidFill>
              </a:rPr>
              <a:t>http://aka.ms/Spring-AI-for-Beginners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TotalTime>
  <Words>4900</Words>
  <Application>Microsoft Office PowerPoint</Application>
  <PresentationFormat>Widescreen</PresentationFormat>
  <Paragraphs>402</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Spring AI for Beginners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Patterns with Spring AI</dc:title>
  <dc:subject>Spring AI module teaching presentation</dc:subject>
  <dc:creator>Spring AI for Beginners</dc:creator>
  <cp:lastModifiedBy>Rory Preddy</cp:lastModifiedBy>
  <cp:revision>4</cp:revision>
  <dcterms:created xsi:type="dcterms:W3CDTF">2026-09-07T13:29:54Z</dcterms:created>
  <dcterms:modified xsi:type="dcterms:W3CDTF">2026-09-08T06:51:37Z</dcterms:modified>
</cp:coreProperties>
</file>