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9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814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Model Context Protocol through the working tic-tac-toe application. The human plays X and the server AI plays O. Both board clicks and the chat panel use server-hosted MCP tools. The server owns the game engine and an internal ChatClient for AI moves; the client has both a deterministic invocation path and an LLM-orchestrated path.
Repository sources:
05-mcp/README.md
05-mcp/mcp-client/src/main/java/com/example/springai/mcp/client/GameService.java
05-mcp/mcp-client/src/main/java/com/example/springai/mcp/client/AgentService.java
05-mcp/mcp-server/src/main/java/com/example/springai/mcp/server/TicTacToeTools.java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04 registered Java objects inside one process. MCP makes it possible to publish a tool contract from an independently running service and reuse it from multiple clients. An AI application discovers available capabilities instead of hard-coding every network API integration. The protocol does not eliminate authentication, authorization, versioning, or trust decisions.
Repository sources:
05-mcp/README.md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process boundary rather than implying one option is universally better. Module 04 explicitly registers WeatherTool and TemperatureTool using ChatClient.tools; they are not made globally available by component scan alone. Module 05 publishes annotated server methods and discovers them through MCP. Remote use adds transport latency, connection lifecycle, and server trust considerations.
Repository sources:
05-mcp/README.md
05-mcp/mcp-server/src/main/java/com/example/springai/mcp/server/TicTacToeTools.java
05-mcp/mcp-client/src/main/java/com/example/springai/mcp/client/GameService.java
04-tools/src/main/java/com/example/springai/tools/service/AgentService.java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the protocol messages separately from their transport. Clients initialize a session, discover tool definitions, and send named tool calls with arguments. Streamable HTTP is the configured network transport in this module, rather than the legacy HTTP+SSE transport. Streamable HTTP can itself use event streams, so do not describe it as universally having no SSE. stdio is the alternative for a local subprocess.
Repository sources:
05-mcp/README.md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describes STREAMABLE and STATELESS Spring AI server modes. Stateful operation supports the session and callback features discussed later. Stateless transport reduces session coupling, but this application still holds boards and chat state in process memory. A production deployment must design persistence, concurrency, routing, and identity independently of the transport setting.
Repository sources:
05-mcp/README.md
05-mcp/mcp-server/src/main/java/com/example/springai/mcp/server/GameEngine.java
05-mcp/mcp-client/src/main/java/com/example/springai/mcp/client/AgentService.java
05-mcp/mcp-server/src/main/resources/application.yaml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wire flow includes initialization, tools/list discovery, and tools/call invocation. The Spring AI MCP client starter handles the protocol connection and provides a ToolCallbackProvider. GameService indexes those callbacks by tool definition name. The server must be available when the client initializes; a missing callback is reported as an application error rather than magically resolved by the model.
Repository sources:
05-mcp/README.md
05-mcp/mcp-client/src/main/java/com/example/springai/mcp/client/GameService.java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adds the Web MVC MCP server starter. The client adds the WebFlux MCP client starter and Thymeleaf for its UI, while the repository still supplies the shared application baseline. Both inherit the OpenAI starter and ChatClient. A direct aiMove invocation avoids a client-side model decision, but the server tool still calls its own model; do not describe the whole move as model-free.
Repository sources:
05-mcp/mcp-server/pom.xml
05-mcp/mcp-client/pom.xml
pom.xml
05-mcp/mcp-server/src/main/java/com/example/springai/mcp/server/TicTacToeTools.java
05-mcp/mcp-client/src/main/java/com/example/springai/mcp/client/GameService.java
05-mcp/mcp-client/src/main/java/com/example/springai/mcp/client/AgentService.java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excerpts belong to separate application.yaml files and use dotted YAML keys to fit on the slide. The full files also configure names, ports, and the OpenAI deployment. The connection URL is the server base address. The MCP server is not the browser application; a root-page 404 on port 8085 is not proof that MCP is broken. Open the client at port 8082.
Repository sources:
05-mcp/README.md
05-mcp/mcp-server/src/main/resources/application.yaml
05-mcp/mcp-client/src/main/resources/application.yaml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exact tool names from TicTacToeTools. GameEngine returns JSON strings including gameId, board, status, winner, and currentPlayer; terminal states have no current player. makeMove accepts a position and player; aiMove selects and executes the server AI move as O. The interface is sufficient for both the board and chat interaction patterns.
Repository sources:
05-mcp/mcp-server/src/main/java/com/example/springai/mcp/server/TicTacToeTools.java
05-mcp/mcp-server/src/main/java/com/example/springai/mcp/server/GameEngine.java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getBoardState method from the Spring-managed TicTacToeTools service, with string wrapping adjusted for legibility. The annotations are org.springframework.ai.mcp.annotation.McpTool and McpToolParam. GameEngine contains the ordinary Java rules and has no MCP imports. Publishing a method still requires deliberate authorization and trustworthy return data in a production service.
Repository sources:
05-mcp/mcp-server/src/main/java/com/example/springai/mcp/server/TicTacToeTools.java
05-mcp/mcp-server/src/main/java/com/example/springai/mcp/server/GameEngine.java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GameEngine validates game existence, status, position range, occupancy, and turn order before mutating a board. It checks the eight winning lines and then a full-board draw. The data structures are in-memory maps; this does not establish transactional safety across concurrent operations or persistent games. A production game service would need explicit concurrency and lifecycle design.
Repository sources:
05-mcp/mcp-server/src/main/java/com/example/springai/mcp/server/GameEngine.java
05-mcp/mcp-server/src/main/java/com/example/springai/mcp/server/TicTacToeTools.java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tool reads getBoardState and getAvailableMoves before this excerpt. It asks ChatClient for a single digit and then routes the result through selectMove. The strategy lives on the server, so any MCP-compatible client can request the same AI move. The strategy prompt does not make the model unbeatable or guarantee a legal answer by itself.
Repository sources:
05-mcp/mcp-server/src/main/java/com/example/springai/mcp/server/TicTacToeTools.java
05-mcp/mcp-client/src/main/java/com/example/springai/mcp/client/GameService.java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AI_STRATEGY_PROMPT requests win, block, center, corners, edges. selectMove extracts the first digit in the range zero through eight and checks membership in available moves. Invalid or occupied choices trigger the constant fallback order 4,0,2,6,8,1,3,5,7. That fallback does not calculate winning or blocking moves. Empty available moves cause aiMove to fail before the model call, and transport/model failures are not covered by this selection fallback.
Repository sources:
05-mcp/mcp-server/src/main/java/com/example/springai/mcp/server/TicTacToeTools.java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GameService constructor loop with the local variable renamed for readability. Spring AI exposes the remote tool contract through ToolCallback and ToolDefinition. GameService stores the callbacks in a name-keyed map. AgentService receives the same provider and wraps callbacks to capture returned game IDs. Neither path needs to implement MCP message framing manually.
Repository sources:
05-mcp/mcp-client/src/main/java/com/example/springai/mcp/client/GameService.java
05-mcp/mcp-client/src/main/java/com/example/springai/mcp/client/AgentService.java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GameService has a missing-tool check before the excerpt and uses a Jackson parser to unwrap the MCP TextContent array. The JSON is an illustrative input shape, not a current game ID. For a board move, the controller invokes makeMove as X and then aiMove when the game is still active. A direct startNewGame or makeMove selection needs no client model call.
Repository sources:
05-mcp/mcp-client/src/main/java/com/example/springai/mcp/client/GameService.java
05-mcp/mcp-client/src/main/java/com/example/springai/mcp/client/GameController.java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posts gameId and position. GameController invokes makeMove as X and inspects the returned status. Only IN_PROGRESS triggers aiMove; a win or draw returns the terminal state directly without the four AI-exchange messages. Inside aiMove the server calls its own ChatClient, validates the proposed index, and applies O. The diagram reuses the original user artwork with editable, source-checked messages. Direct invocation avoids a client-side model decision, not the model call inside the server tool.
Repository sources:
05-mcp/README.md
05-mcp/mcp-client/src/main/java/com/example/springai/mcp/client/GameController.java
05-mcp/mcp-client/src/main/java/com/example/springai/mcp/client/GameService.java
05-mcp/mcp-server/src/main/java/com/example/springai/mcp/server/TicTacToeTools.java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matches the AgentService constructor. It wraps each callback with a game-ID capture decorator, then attaches those callbacks and MessageChatMemoryAdvisor. The system prompt describes the game behavior without hard-coding individual tool names, allowing discovery descriptions to guide selection. A request can involve several model and tool round-trips, not necessarily one model call.
Repository sources:
05-mcp/mcp-client/src/main/java/com/example/springai/mcp/client/AgentService.java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carries the conversation identifier twice for distinct reasons. The advisor parameter scopes memory. ToolContext carries the identifier to the callback wrapper, which parses the returned game JSON and updates conversationGameIds. This avoids scraping a game ID from the model natural-language answer. Neither identifier mechanism is an authentication or authorization system.
Repository sources:
05-mcp/mcp-client/src/main/java/com/example/springai/mcp/client/AgentService.java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three-argument chat method accepts boardGameId. seedGameContext obtains real server state and adds a labelled AssistantMessage snapshot with JSON, explicit positions, and a readable grid. The system prompt prioritizes the latest snapshot. The reverse path captures game IDs from tool results so a game started in chat can update the board. Fetch errors are logged; this approach improves grounding but does not make model descriptions infallible.
Repository sources:
05-mcp/mcp-client/src/main/java/com/example/springai/mcp/client/AgentService.java
05-mcp/mcp-client/src/main/java/com/example/springai/mcp/client/GameController.java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assumes an existing game, X to move, empty position 4, and a human move that does not finish the game. The user explicitly requests a human position; an ambiguous your-turn message would not justify inventing one. GameController requires message and conversationId, and optionally receives gameId from the visual board. AgentService fetches a fresh snapshot, passes it with memory and discovered tools to ChatClient, and executes the selected remote move. Its result goes back to the client-side model before the next decision. The following slide continues that same request; the exact model-selected tool sequence can vary.
Repository sources:
05-mcp/README.md
05-mcp/mcp-client/src/main/java/com/example/springai/mcp/client/GameController.java
05-mcp/mcp-client/src/main/java/com/example/springai/mcp/client/AgentService.java
05-mcp/mcp-server/src/main/java/com/example/springai/mcp/server/TicTacToeTools.java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nonterminal human-move example from the prior slide. The client-side model asks for aiMove after receiving the human move result. The server tool makes a separate ChatClient call using its current board, validates the selected cell, and applies O. Spring AI then sends the returned tool result to the client-side model, which generates the final reply. GameController fetches the latest board independently and returns reply, gameId, and gameState to the browser. A transport error or a terminal human move follows a different path; this slide is a specific successful scenario, not a mandatory sequence for every chat prompt.
Repository sources:
05-mcp/mcp-client/src/main/java/com/example/springai/mcp/client/GameController.java
05-mcp/mcp-client/src/main/java/com/example/springai/mcp/client/AgentService.java
05-mcp/mcp-server/src/main/java/com/example/springai/mcp/server/TicTacToeTools.java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introduces the wider annotation set. Sampling means a server asks a client to use its model, whereas this demo aiMove directly uses the server own ChatClient. Elicitation requests user input. Resources and prompts have different contracts from tools. Client support, negotiated capabilities, and transport/session mode matter; listing an annotation does not make the demo implement the feature.
Repository sources:
05-mcp/README.md
05-mcp/mcp-server/src/main/java/com/example/springai/mcp/server/TicTacToeTools.java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server, then the client. Open port 8082, create a game, make one human move, and wait for O. Inspect an empty cell and explicitly ask Agent Chat to place X at that position, provided the game is in progress and X is next. Verify the changed board and O response, then continue with a board click. A question about available cells can be answered from a fresh injected snapshot without model-selected tool use, so it is insufficient alone to demonstrate that path. Reset Chat, New Game, and Reset Scores respectively affect conversation, server game, and browser scores. Server games are temporary.
Repository sources:
05-mcp/README.md
05-mcp/mcp-client/src/main/java/com/example/springai/mcp/client/GameService.java
05-mcp/mcp-client/src/main/java/com/example/springai/mcp/client/AgentService.java
05-mcp/mcp-server/src/main/java/com/example/springai/mcp/server/GameEngine.java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can add a read-only game-summary or validation operation. Define a clear input and return contract, restart the server and client as required for discovery, and test direct invocation before model-driven selection. For deployment beyond localhost, add trusted connections, authentication, authorization, timeouts, persistence, and concurrency control. The next module focuses on deciding and observing multi-stage application workflows.
Repository sources:
05-mcp/mcp-server/src/main/java/com/example/springai/mcp/server/TicTacToeTools.java
05-mcp/mcp-client/src/main/java/com/example/springai/mcp/client/GameService.java
05-mcp/mcp-client/src/main/java/com/example/springai/mcp/client/AgentService.java
05-mcp/README.md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05</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MCP with Spring AI</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Publish tools from a separate Spring Boot server.</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Discover remote tools through Spring AI callbacks.</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Drive one game with board actions and natural-language chat.</a:t>
            </a:r>
            <a:endParaRPr lang="en-US" sz="21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05 MCP</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01 / 24</a:t>
            </a:r>
            <a:endParaRPr lang="en-US" sz="1200" dirty="0"/>
          </a:p>
        </p:txBody>
      </p:sp>
      <p:pic>
        <p:nvPicPr>
          <p:cNvPr id="12" name="Picture 11">
            <a:extLst>
              <a:ext uri="{FF2B5EF4-FFF2-40B4-BE49-F238E27FC236}">
                <a16:creationId xmlns:a16="http://schemas.microsoft.com/office/drawing/2014/main" id="{92E33471-9526-CC61-2908-CF2D85CD0054}"/>
              </a:ext>
            </a:extLst>
          </p:cNvPr>
          <p:cNvPicPr>
            <a:picLocks noChangeAspect="1"/>
          </p:cNvPicPr>
          <p:nvPr/>
        </p:nvPicPr>
        <p:blipFill>
          <a:blip r:embed="rId3"/>
          <a:stretch>
            <a:fillRect/>
          </a:stretch>
        </p:blipFill>
        <p:spPr>
          <a:xfrm>
            <a:off x="5969358" y="1764728"/>
            <a:ext cx="6082643" cy="3693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Why MCP matters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Share capabilities across application boundaries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02 / 24</a:t>
            </a:r>
            <a:endParaRPr lang="en-US" sz="1200" dirty="0"/>
          </a:p>
        </p:txBody>
      </p:sp>
      <p:pic>
        <p:nvPicPr>
          <p:cNvPr id="6" name="Image 0" descr="mcp architecture"/>
          <p:cNvPicPr>
            <a:picLocks noChangeAspect="1"/>
          </p:cNvPicPr>
          <p:nvPr/>
        </p:nvPicPr>
        <p:blipFill>
          <a:blip r:embed="rId3"/>
          <a:stretch>
            <a:fillRect/>
          </a:stretch>
        </p:blipFill>
        <p:spPr>
          <a:xfrm>
            <a:off x="919529" y="1682496"/>
            <a:ext cx="10349894"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MCP standardizes discovery and invocation across compatible clients and servers.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Module 04 to Module 05</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Local tools and MCP tools use different boundaries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03 / 24</a:t>
            </a:r>
            <a:endParaRPr lang="en-US" sz="1200" dirty="0"/>
          </a:p>
        </p:txBody>
      </p:sp>
      <p:pic>
        <p:nvPicPr>
          <p:cNvPr id="6" name="Image 0" descr="custom vs mcp tools"/>
          <p:cNvPicPr>
            <a:picLocks noChangeAspect="1"/>
          </p:cNvPicPr>
          <p:nvPr/>
        </p:nvPicPr>
        <p:blipFill>
          <a:blip r:embed="rId3"/>
          <a:stretch>
            <a:fillRect/>
          </a:stretch>
        </p:blipFill>
        <p:spPr>
          <a:xfrm>
            <a:off x="3193542" y="1682496"/>
            <a:ext cx="5801868"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@Tool: registered local instances. @McpTool: server-published remote capabilities.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Protocol fundamentals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MCP carries discovery and calls over a transport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04 / 24</a:t>
            </a:r>
            <a:endParaRPr lang="en-US" sz="1200" dirty="0"/>
          </a:p>
        </p:txBody>
      </p:sp>
      <p:pic>
        <p:nvPicPr>
          <p:cNvPr id="6" name="Image 0" descr="mcp protocol detail"/>
          <p:cNvPicPr>
            <a:picLocks noChangeAspect="1"/>
          </p:cNvPicPr>
          <p:nvPr/>
        </p:nvPicPr>
        <p:blipFill>
          <a:blip r:embed="rId3"/>
          <a:stretch>
            <a:fillRect/>
          </a:stretch>
        </p:blipFill>
        <p:spPr>
          <a:xfrm>
            <a:off x="3846656" y="1682496"/>
            <a:ext cx="4495640"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This workshop uses JSON-RPC over Streamable HTTP; stdio supports local-process servers.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Transport choices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Protocol sessions are different from game state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05 / 24</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Stateful transport</a:t>
            </a:r>
            <a:endParaRPr lang="en-US" sz="2200" dirty="0"/>
          </a:p>
        </p:txBody>
      </p:sp>
      <p:sp>
        <p:nvSpPr>
          <p:cNvPr id="8" name="Text 6"/>
          <p:cNvSpPr/>
          <p:nvPr/>
        </p:nvSpPr>
        <p:spPr>
          <a:xfrm>
            <a:off x="54864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STREAMABLE in this demo</a:t>
            </a:r>
            <a:endParaRPr lang="en-US" sz="2200" dirty="0"/>
          </a:p>
        </p:txBody>
      </p:sp>
      <p:sp>
        <p:nvSpPr>
          <p:cNvPr id="9" name="Text 7"/>
          <p:cNvSpPr/>
          <p:nvPr/>
        </p:nvSpPr>
        <p:spPr>
          <a:xfrm>
            <a:off x="54864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Supports session-oriented exchange and server callbacks.</a:t>
            </a:r>
            <a:endParaRPr lang="en-US" sz="1900" dirty="0"/>
          </a:p>
        </p:txBody>
      </p:sp>
      <p:sp>
        <p:nvSpPr>
          <p:cNvPr id="10" name="Text 8"/>
          <p:cNvSpPr/>
          <p:nvPr/>
        </p:nvSpPr>
        <p:spPr>
          <a:xfrm>
            <a:off x="54864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Deployment consideration</a:t>
            </a:r>
            <a:endParaRPr lang="en-US" sz="2200" dirty="0"/>
          </a:p>
        </p:txBody>
      </p:sp>
      <p:sp>
        <p:nvSpPr>
          <p:cNvPr id="11" name="Text 9"/>
          <p:cNvSpPr/>
          <p:nvPr/>
        </p:nvSpPr>
        <p:spPr>
          <a:xfrm>
            <a:off x="54864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Session routing matters when scaling servers.</a:t>
            </a:r>
            <a:endParaRPr lang="en-US" sz="1900" dirty="0"/>
          </a:p>
        </p:txBody>
      </p:sp>
      <p:sp>
        <p:nvSpPr>
          <p:cNvPr id="12" name="Shape 10"/>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3" name="Text 11"/>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Stateless transport</a:t>
            </a:r>
            <a:endParaRPr lang="en-US" sz="2200" dirty="0"/>
          </a:p>
        </p:txBody>
      </p:sp>
      <p:sp>
        <p:nvSpPr>
          <p:cNvPr id="14" name="Text 12"/>
          <p:cNvSpPr/>
          <p:nvPr/>
        </p:nvSpPr>
        <p:spPr>
          <a:xfrm>
            <a:off x="630936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STATELESS option</a:t>
            </a:r>
            <a:endParaRPr lang="en-US" sz="2200" dirty="0"/>
          </a:p>
        </p:txBody>
      </p:sp>
      <p:sp>
        <p:nvSpPr>
          <p:cNvPr id="15" name="Text 13"/>
          <p:cNvSpPr/>
          <p:nvPr/>
        </p:nvSpPr>
        <p:spPr>
          <a:xfrm>
            <a:off x="630936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Independent request/response tool calls.</a:t>
            </a:r>
            <a:endParaRPr lang="en-US" sz="1900" dirty="0"/>
          </a:p>
        </p:txBody>
      </p:sp>
      <p:sp>
        <p:nvSpPr>
          <p:cNvPr id="16" name="Text 14"/>
          <p:cNvSpPr/>
          <p:nvPr/>
        </p:nvSpPr>
        <p:spPr>
          <a:xfrm>
            <a:off x="630936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Application state remains</a:t>
            </a:r>
            <a:endParaRPr lang="en-US" sz="2200" dirty="0"/>
          </a:p>
        </p:txBody>
      </p:sp>
      <p:sp>
        <p:nvSpPr>
          <p:cNvPr id="17" name="Text 15"/>
          <p:cNvSpPr/>
          <p:nvPr/>
        </p:nvSpPr>
        <p:spPr>
          <a:xfrm>
            <a:off x="630936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GameEngine still needs durable, coordinated storage.</a:t>
            </a:r>
            <a:endParaRPr lang="en-US" sz="19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Changing transport mode does not make an in-memory game engine horizontally scalable.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Connection lifecycle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Discover tool contracts before invoking them</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06 / 24</a:t>
            </a:r>
            <a:endParaRPr lang="en-US" sz="1200" dirty="0"/>
          </a:p>
        </p:txBody>
      </p:sp>
      <p:sp>
        <p:nvSpPr>
          <p:cNvPr id="6" name="Text 4"/>
          <p:cNvSpPr/>
          <p:nvPr/>
        </p:nvSpPr>
        <p:spPr>
          <a:xfrm>
            <a:off x="548640" y="2057400"/>
            <a:ext cx="3514344"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01</a:t>
            </a:r>
            <a:endParaRPr lang="en-US" sz="4200" dirty="0"/>
          </a:p>
        </p:txBody>
      </p:sp>
      <p:sp>
        <p:nvSpPr>
          <p:cNvPr id="7" name="Shape 5"/>
          <p:cNvSpPr/>
          <p:nvPr/>
        </p:nvSpPr>
        <p:spPr>
          <a:xfrm>
            <a:off x="548640" y="2999232"/>
            <a:ext cx="3514344"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8" name="Text 6"/>
          <p:cNvSpPr/>
          <p:nvPr/>
        </p:nvSpPr>
        <p:spPr>
          <a:xfrm>
            <a:off x="667512" y="3099816"/>
            <a:ext cx="3276600"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Connect</a:t>
            </a:r>
            <a:endParaRPr lang="en-US" sz="2000" dirty="0"/>
          </a:p>
        </p:txBody>
      </p:sp>
      <p:sp>
        <p:nvSpPr>
          <p:cNvPr id="9" name="Text 7"/>
          <p:cNvSpPr/>
          <p:nvPr/>
        </p:nvSpPr>
        <p:spPr>
          <a:xfrm>
            <a:off x="548640" y="3840480"/>
            <a:ext cx="3514344"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Initialize the configured MCP server connection.</a:t>
            </a:r>
            <a:endParaRPr lang="en-US" sz="2200" dirty="0"/>
          </a:p>
        </p:txBody>
      </p:sp>
      <p:sp>
        <p:nvSpPr>
          <p:cNvPr id="10" name="Text 8"/>
          <p:cNvSpPr/>
          <p:nvPr/>
        </p:nvSpPr>
        <p:spPr>
          <a:xfrm>
            <a:off x="4337304" y="2057400"/>
            <a:ext cx="3514344"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02</a:t>
            </a:r>
            <a:endParaRPr lang="en-US" sz="4200" dirty="0"/>
          </a:p>
        </p:txBody>
      </p:sp>
      <p:sp>
        <p:nvSpPr>
          <p:cNvPr id="11" name="Shape 9"/>
          <p:cNvSpPr/>
          <p:nvPr/>
        </p:nvSpPr>
        <p:spPr>
          <a:xfrm>
            <a:off x="4337304" y="2999232"/>
            <a:ext cx="3514344"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12" name="Text 10"/>
          <p:cNvSpPr/>
          <p:nvPr/>
        </p:nvSpPr>
        <p:spPr>
          <a:xfrm>
            <a:off x="4456176" y="3099816"/>
            <a:ext cx="3276600"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Discover</a:t>
            </a:r>
            <a:endParaRPr lang="en-US" sz="2000" dirty="0"/>
          </a:p>
        </p:txBody>
      </p:sp>
      <p:sp>
        <p:nvSpPr>
          <p:cNvPr id="13" name="Text 11"/>
          <p:cNvSpPr/>
          <p:nvPr/>
        </p:nvSpPr>
        <p:spPr>
          <a:xfrm>
            <a:off x="4337304" y="3840480"/>
            <a:ext cx="3514344"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Obtain tool names, descriptions, and input schemas.</a:t>
            </a:r>
            <a:endParaRPr lang="en-US" sz="2200" dirty="0"/>
          </a:p>
        </p:txBody>
      </p:sp>
      <p:sp>
        <p:nvSpPr>
          <p:cNvPr id="14" name="Text 12"/>
          <p:cNvSpPr/>
          <p:nvPr/>
        </p:nvSpPr>
        <p:spPr>
          <a:xfrm>
            <a:off x="8125968" y="2057400"/>
            <a:ext cx="3514344"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03</a:t>
            </a:r>
            <a:endParaRPr lang="en-US" sz="4200" dirty="0"/>
          </a:p>
        </p:txBody>
      </p:sp>
      <p:sp>
        <p:nvSpPr>
          <p:cNvPr id="15" name="Shape 13"/>
          <p:cNvSpPr/>
          <p:nvPr/>
        </p:nvSpPr>
        <p:spPr>
          <a:xfrm>
            <a:off x="8125968" y="2999232"/>
            <a:ext cx="3514344"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4"/>
          <p:cNvSpPr/>
          <p:nvPr/>
        </p:nvSpPr>
        <p:spPr>
          <a:xfrm>
            <a:off x="8244840" y="3099816"/>
            <a:ext cx="3276600"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Invoke</a:t>
            </a:r>
            <a:endParaRPr lang="en-US" sz="2000" dirty="0"/>
          </a:p>
        </p:txBody>
      </p:sp>
      <p:sp>
        <p:nvSpPr>
          <p:cNvPr id="17" name="Text 15"/>
          <p:cNvSpPr/>
          <p:nvPr/>
        </p:nvSpPr>
        <p:spPr>
          <a:xfrm>
            <a:off x="8125968" y="3840480"/>
            <a:ext cx="3514344"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Send a named call and parse the returned content.</a:t>
            </a:r>
            <a:endParaRPr lang="en-US" sz="22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Spring AI exposes the discovered capabilities through ToolCallbackProvider.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Dependencies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Use matching Spring AI server and client starters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07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MAVEN ARTIFACTS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MCP server: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spring-ai-starter-mcp-server-webmvc</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MCP client: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spring-ai-starter-mcp-client-webflux</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Inherited by both applications: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spring-ai-starter-model-openai</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spring-ai-client-chat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Server model use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aiMove calls ChatClient inside the tool.</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Client model use</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agent chat path lets an LLM choose tools.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Direct path</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GameService itself does not need a client-side LLM.</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Two Spring Boot applications inherit the same repository-managed Spring AI versions.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Spring Boot properties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Connect the client to the server configuration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08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YAML / TWO APPLICATION EXCERPTS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spring.ai.mcp.server: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name: tictactoe-server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protocol: STREAMABLE</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spring.ai.mcp.client: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streamable-http:</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connections: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tictactoe-server: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url: http://localhost:8085</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Server: 8085</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Publishes the tool catalog and executes game methods.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Client: 8082</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Hosts the browser UI and the two invocation paths.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Shared environment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Both use the Module 01 model configuration.</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Start the MCP server first, then start the client that discovers it.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Remote capabilities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Five server tools define the game contract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09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MCP TOOL CATALOG</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startNewGame()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makeMove(gameId, position, player)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aiMove(gameId)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getBoardState(gameId)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getAvailableMoves(gameId)</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Board positions: 0 through 8</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Players: X = human, O = AI</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States: IN_PROGRESS, WON, DRAW</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Create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 new game returns an ID and an empty board.</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Mutate</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makeMove and aiMove update server-owned state.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Inspect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Read board state and empty positions.</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client invokes a contract; the server owns the implementation.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Spring AI server API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Publish a method with @McpTool</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10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@McpTool(description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"Get the current board state for a game.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"Returns the board array, game status, "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"current player, and winner if any.")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public String getBoardState(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@McpToolParam(description = "The game 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String gameId)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return gameEngine.getBoardState(gameId);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@McpTool</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Publishes the operation and return contract.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@McpToolParam</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Describes required input for discovery.</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Spring service</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server starter scans the annotated service.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Descriptions should explain what the tool does, requires, and returns.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Application-owned rules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Keep move validation in the game engine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11 / 24</a:t>
            </a:r>
            <a:endParaRPr lang="en-US" sz="1200" dirty="0"/>
          </a:p>
        </p:txBody>
      </p:sp>
      <p:sp>
        <p:nvSpPr>
          <p:cNvPr id="6" name="Text 4"/>
          <p:cNvSpPr/>
          <p:nvPr/>
        </p:nvSpPr>
        <p:spPr>
          <a:xfrm>
            <a:off x="548640"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01</a:t>
            </a:r>
            <a:endParaRPr lang="en-US" sz="4200" dirty="0"/>
          </a:p>
        </p:txBody>
      </p:sp>
      <p:sp>
        <p:nvSpPr>
          <p:cNvPr id="7" name="Shape 5"/>
          <p:cNvSpPr/>
          <p:nvPr/>
        </p:nvSpPr>
        <p:spPr>
          <a:xfrm>
            <a:off x="548640"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8" name="Text 6"/>
          <p:cNvSpPr/>
          <p:nvPr/>
        </p:nvSpPr>
        <p:spPr>
          <a:xfrm>
            <a:off x="667512"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Game</a:t>
            </a:r>
            <a:endParaRPr lang="en-US" sz="2000" dirty="0"/>
          </a:p>
        </p:txBody>
      </p:sp>
      <p:sp>
        <p:nvSpPr>
          <p:cNvPr id="9" name="Text 7"/>
          <p:cNvSpPr/>
          <p:nvPr/>
        </p:nvSpPr>
        <p:spPr>
          <a:xfrm>
            <a:off x="548640"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Require an existing game that is still in progress.</a:t>
            </a:r>
            <a:endParaRPr lang="en-US" sz="2200" dirty="0"/>
          </a:p>
        </p:txBody>
      </p:sp>
      <p:sp>
        <p:nvSpPr>
          <p:cNvPr id="10" name="Text 8"/>
          <p:cNvSpPr/>
          <p:nvPr/>
        </p:nvSpPr>
        <p:spPr>
          <a:xfrm>
            <a:off x="3390138"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02</a:t>
            </a:r>
            <a:endParaRPr lang="en-US" sz="4200" dirty="0"/>
          </a:p>
        </p:txBody>
      </p:sp>
      <p:sp>
        <p:nvSpPr>
          <p:cNvPr id="11" name="Shape 9"/>
          <p:cNvSpPr/>
          <p:nvPr/>
        </p:nvSpPr>
        <p:spPr>
          <a:xfrm>
            <a:off x="3390138"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12" name="Text 10"/>
          <p:cNvSpPr/>
          <p:nvPr/>
        </p:nvSpPr>
        <p:spPr>
          <a:xfrm>
            <a:off x="3509010"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Position</a:t>
            </a:r>
            <a:endParaRPr lang="en-US" sz="2000" dirty="0"/>
          </a:p>
        </p:txBody>
      </p:sp>
      <p:sp>
        <p:nvSpPr>
          <p:cNvPr id="13" name="Text 11"/>
          <p:cNvSpPr/>
          <p:nvPr/>
        </p:nvSpPr>
        <p:spPr>
          <a:xfrm>
            <a:off x="3390138"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Accept only an empty cell from 0 through 8.</a:t>
            </a:r>
            <a:endParaRPr lang="en-US" sz="2200" dirty="0"/>
          </a:p>
        </p:txBody>
      </p:sp>
      <p:sp>
        <p:nvSpPr>
          <p:cNvPr id="14" name="Text 12"/>
          <p:cNvSpPr/>
          <p:nvPr/>
        </p:nvSpPr>
        <p:spPr>
          <a:xfrm>
            <a:off x="6231636"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03</a:t>
            </a:r>
            <a:endParaRPr lang="en-US" sz="4200" dirty="0"/>
          </a:p>
        </p:txBody>
      </p:sp>
      <p:sp>
        <p:nvSpPr>
          <p:cNvPr id="15" name="Shape 13"/>
          <p:cNvSpPr/>
          <p:nvPr/>
        </p:nvSpPr>
        <p:spPr>
          <a:xfrm>
            <a:off x="6231636"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4"/>
          <p:cNvSpPr/>
          <p:nvPr/>
        </p:nvSpPr>
        <p:spPr>
          <a:xfrm>
            <a:off x="6350508"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Turn</a:t>
            </a:r>
            <a:endParaRPr lang="en-US" sz="2000" dirty="0"/>
          </a:p>
        </p:txBody>
      </p:sp>
      <p:sp>
        <p:nvSpPr>
          <p:cNvPr id="17" name="Text 15"/>
          <p:cNvSpPr/>
          <p:nvPr/>
        </p:nvSpPr>
        <p:spPr>
          <a:xfrm>
            <a:off x="6231636"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Require the expected player, then apply the move.</a:t>
            </a:r>
            <a:endParaRPr lang="en-US" sz="2200" dirty="0"/>
          </a:p>
        </p:txBody>
      </p:sp>
      <p:sp>
        <p:nvSpPr>
          <p:cNvPr id="18" name="Text 16"/>
          <p:cNvSpPr/>
          <p:nvPr/>
        </p:nvSpPr>
        <p:spPr>
          <a:xfrm>
            <a:off x="9073134"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04</a:t>
            </a:r>
            <a:endParaRPr lang="en-US" sz="4200" dirty="0"/>
          </a:p>
        </p:txBody>
      </p:sp>
      <p:sp>
        <p:nvSpPr>
          <p:cNvPr id="19" name="Shape 17"/>
          <p:cNvSpPr/>
          <p:nvPr/>
        </p:nvSpPr>
        <p:spPr>
          <a:xfrm>
            <a:off x="9073134"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20" name="Text 18"/>
          <p:cNvSpPr/>
          <p:nvPr/>
        </p:nvSpPr>
        <p:spPr>
          <a:xfrm>
            <a:off x="9192006"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Outcome</a:t>
            </a:r>
            <a:endParaRPr lang="en-US" sz="2000" dirty="0"/>
          </a:p>
        </p:txBody>
      </p:sp>
      <p:sp>
        <p:nvSpPr>
          <p:cNvPr id="21" name="Text 19"/>
          <p:cNvSpPr/>
          <p:nvPr/>
        </p:nvSpPr>
        <p:spPr>
          <a:xfrm>
            <a:off x="9073134"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Resolve a win or draw, or change turns.</a:t>
            </a:r>
            <a:endParaRPr lang="en-US" sz="2200" dirty="0"/>
          </a:p>
        </p:txBody>
      </p:sp>
      <p:sp>
        <p:nvSpPr>
          <p:cNvPr id="22" name="Text 2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 model-proposed move must pass the same Java rules as a direct board click.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Server-side model integration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The aiMove tool calls Spring AI on the server</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12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aiResponse = chatClient.prompt()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.system(AI_STRATEGY_PROMPT)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.user("Current board state: " + boardState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 "\nAvailable positions: " + available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 "\nChoose your position:")</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.call().content();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int position = selectMove(aiResponse, available);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gameEngine.makeMove(gameId, position, "O");</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Server context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Read the board and available positions first.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Strategy prompt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Ask for one digit using win/block/position priorities.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Apply safely</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Validate the selection before calling makeMove.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Calling aiMove directly avoids client-side selection, not the server-side model call.</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Guardrails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Prompt strategy and Java fallback are not identical</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13 / 24</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Requested strategy</a:t>
            </a:r>
            <a:endParaRPr lang="en-US" sz="2200" dirty="0"/>
          </a:p>
        </p:txBody>
      </p:sp>
      <p:sp>
        <p:nvSpPr>
          <p:cNvPr id="8" name="Text 6"/>
          <p:cNvSpPr/>
          <p:nvPr/>
        </p:nvSpPr>
        <p:spPr>
          <a:xfrm>
            <a:off x="54864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Win, then block</a:t>
            </a:r>
            <a:endParaRPr lang="en-US" sz="2200" dirty="0"/>
          </a:p>
        </p:txBody>
      </p:sp>
      <p:sp>
        <p:nvSpPr>
          <p:cNvPr id="9" name="Text 7"/>
          <p:cNvSpPr/>
          <p:nvPr/>
        </p:nvSpPr>
        <p:spPr>
          <a:xfrm>
            <a:off x="54864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prompt prioritizes immediate tactical moves.</a:t>
            </a:r>
            <a:endParaRPr lang="en-US" sz="1900" dirty="0"/>
          </a:p>
        </p:txBody>
      </p:sp>
      <p:sp>
        <p:nvSpPr>
          <p:cNvPr id="10" name="Text 8"/>
          <p:cNvSpPr/>
          <p:nvPr/>
        </p:nvSpPr>
        <p:spPr>
          <a:xfrm>
            <a:off x="54864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Then position</a:t>
            </a:r>
            <a:endParaRPr lang="en-US" sz="2200" dirty="0"/>
          </a:p>
        </p:txBody>
      </p:sp>
      <p:sp>
        <p:nvSpPr>
          <p:cNvPr id="11" name="Text 9"/>
          <p:cNvSpPr/>
          <p:nvPr/>
        </p:nvSpPr>
        <p:spPr>
          <a:xfrm>
            <a:off x="54864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Prefer center, corners, and finally edges.</a:t>
            </a:r>
            <a:endParaRPr lang="en-US" sz="1900" dirty="0"/>
          </a:p>
        </p:txBody>
      </p:sp>
      <p:sp>
        <p:nvSpPr>
          <p:cNvPr id="12" name="Shape 10"/>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3" name="Text 11"/>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Validated fallback</a:t>
            </a:r>
            <a:endParaRPr lang="en-US" sz="2200" dirty="0"/>
          </a:p>
        </p:txBody>
      </p:sp>
      <p:sp>
        <p:nvSpPr>
          <p:cNvPr id="14" name="Text 12"/>
          <p:cNvSpPr/>
          <p:nvPr/>
        </p:nvSpPr>
        <p:spPr>
          <a:xfrm>
            <a:off x="630936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Check the response</a:t>
            </a:r>
            <a:endParaRPr lang="en-US" sz="2200" dirty="0"/>
          </a:p>
        </p:txBody>
      </p:sp>
      <p:sp>
        <p:nvSpPr>
          <p:cNvPr id="15" name="Text 13"/>
          <p:cNvSpPr/>
          <p:nvPr/>
        </p:nvSpPr>
        <p:spPr>
          <a:xfrm>
            <a:off x="630936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Accept an extracted 0-8 digit only if available.</a:t>
            </a:r>
            <a:endParaRPr lang="en-US" sz="1900" dirty="0"/>
          </a:p>
        </p:txBody>
      </p:sp>
      <p:sp>
        <p:nvSpPr>
          <p:cNvPr id="16" name="Text 14"/>
          <p:cNvSpPr/>
          <p:nvPr/>
        </p:nvSpPr>
        <p:spPr>
          <a:xfrm>
            <a:off x="630936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Otherwise select</a:t>
            </a:r>
            <a:endParaRPr lang="en-US" sz="2200" dirty="0"/>
          </a:p>
        </p:txBody>
      </p:sp>
      <p:sp>
        <p:nvSpPr>
          <p:cNvPr id="17" name="Text 15"/>
          <p:cNvSpPr/>
          <p:nvPr/>
        </p:nvSpPr>
        <p:spPr>
          <a:xfrm>
            <a:off x="630936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Choose center, corners, then edges from legal cells.</a:t>
            </a:r>
            <a:endParaRPr lang="en-US" sz="19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fallback is a legal-move preference order, not a full win/block game solver.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Spring AI client discovery</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ToolCallbackProvider exposes discovered tools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14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this.mcpTools = new HashMap&lt;&gt;();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for (ToolCallback callback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toolCallbackProvider.getToolCallbacks())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mcpTools.put(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callback.getToolDefinition().name(),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callback);</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Injected provider</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MCP starter supplies remote callbacks.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ToolDefinition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Read each discovered tool name.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Shared catalog</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GameService and AgentService use the same provider.</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board path can select a callback without making an LLM request.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Board interaction path</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Invoke a remote tool directly from Java</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15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 / CALL EXCERPT + INPUT SHAPE</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ToolCallback tool = mcpTools.get(name);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raw = tool.call(input);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extractText(raw);</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makeMove input: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"gameId": "the-active-game-id",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"position": 4,</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"player": "X"</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Code chooses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 board click already identifies the intended action.</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Remote invocation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ToolCallback sends the MCP request.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Parse the result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Unwrap TextContent to obtain the game JSON.</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MCP does not require an LLM to choose every tool call.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Request walkthrough</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A board click takes the direct MCP path</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16 / 24</a:t>
            </a:r>
            <a:endParaRPr lang="en-US" sz="1200" dirty="0"/>
          </a:p>
        </p:txBody>
      </p:sp>
      <p:sp>
        <p:nvSpPr>
          <p:cNvPr id="6" name="Shape 4"/>
          <p:cNvSpPr/>
          <p:nvPr/>
        </p:nvSpPr>
        <p:spPr>
          <a:xfrm>
            <a:off x="859536" y="2231136"/>
            <a:ext cx="0" cy="3355848"/>
          </a:xfrm>
          <a:prstGeom prst="line">
            <a:avLst/>
          </a:prstGeom>
          <a:noFill/>
          <a:ln w="10160">
            <a:solidFill>
              <a:srgbClr val="B5C1B6"/>
            </a:solidFill>
            <a:prstDash val="dash"/>
          </a:ln>
        </p:spPr>
        <p:txBody>
          <a:bodyPr/>
          <a:lstStyle/>
          <a:p>
            <a:endParaRPr lang="en-ZA"/>
          </a:p>
        </p:txBody>
      </p:sp>
      <p:pic>
        <p:nvPicPr>
          <p:cNvPr id="7" name="Image 0" descr="client server sequence"/>
          <p:cNvPicPr>
            <a:picLocks noChangeAspect="1"/>
          </p:cNvPicPr>
          <p:nvPr/>
        </p:nvPicPr>
        <p:blipFill>
          <a:blip r:embed="rId3"/>
          <a:stretch>
            <a:fillRect/>
          </a:stretch>
        </p:blipFill>
        <p:spPr>
          <a:xfrm>
            <a:off x="718022" y="1627632"/>
            <a:ext cx="283029" cy="594360"/>
          </a:xfrm>
          <a:prstGeom prst="rect">
            <a:avLst/>
          </a:prstGeom>
        </p:spPr>
      </p:pic>
      <p:sp>
        <p:nvSpPr>
          <p:cNvPr id="8" name="Shape 5"/>
          <p:cNvSpPr/>
          <p:nvPr/>
        </p:nvSpPr>
        <p:spPr>
          <a:xfrm>
            <a:off x="2788920" y="2231136"/>
            <a:ext cx="0" cy="3355848"/>
          </a:xfrm>
          <a:prstGeom prst="line">
            <a:avLst/>
          </a:prstGeom>
          <a:noFill/>
          <a:ln w="10160">
            <a:solidFill>
              <a:srgbClr val="B5C1B6"/>
            </a:solidFill>
            <a:prstDash val="dash"/>
          </a:ln>
        </p:spPr>
        <p:txBody>
          <a:bodyPr/>
          <a:lstStyle/>
          <a:p>
            <a:endParaRPr lang="en-ZA"/>
          </a:p>
        </p:txBody>
      </p:sp>
      <p:sp>
        <p:nvSpPr>
          <p:cNvPr id="9" name="Shape 6"/>
          <p:cNvSpPr/>
          <p:nvPr/>
        </p:nvSpPr>
        <p:spPr>
          <a:xfrm>
            <a:off x="200253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0" name="Text 7"/>
          <p:cNvSpPr/>
          <p:nvPr/>
        </p:nvSpPr>
        <p:spPr>
          <a:xfrm>
            <a:off x="206654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Browser :8082</a:t>
            </a:r>
            <a:endParaRPr lang="en-US" sz="1600" dirty="0"/>
          </a:p>
        </p:txBody>
      </p:sp>
      <p:sp>
        <p:nvSpPr>
          <p:cNvPr id="11" name="Shape 8"/>
          <p:cNvSpPr/>
          <p:nvPr/>
        </p:nvSpPr>
        <p:spPr>
          <a:xfrm>
            <a:off x="5413248" y="2231136"/>
            <a:ext cx="0" cy="3355848"/>
          </a:xfrm>
          <a:prstGeom prst="line">
            <a:avLst/>
          </a:prstGeom>
          <a:noFill/>
          <a:ln w="10160">
            <a:solidFill>
              <a:srgbClr val="B5C1B6"/>
            </a:solidFill>
            <a:prstDash val="dash"/>
          </a:ln>
        </p:spPr>
        <p:txBody>
          <a:bodyPr/>
          <a:lstStyle/>
          <a:p>
            <a:endParaRPr lang="en-ZA"/>
          </a:p>
        </p:txBody>
      </p:sp>
      <p:sp>
        <p:nvSpPr>
          <p:cNvPr id="12" name="Shape 9"/>
          <p:cNvSpPr/>
          <p:nvPr/>
        </p:nvSpPr>
        <p:spPr>
          <a:xfrm>
            <a:off x="4626864"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4690872"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MCP client</a:t>
            </a:r>
            <a:endParaRPr lang="en-US" sz="1600" dirty="0"/>
          </a:p>
        </p:txBody>
      </p:sp>
      <p:sp>
        <p:nvSpPr>
          <p:cNvPr id="14" name="Shape 11"/>
          <p:cNvSpPr/>
          <p:nvPr/>
        </p:nvSpPr>
        <p:spPr>
          <a:xfrm>
            <a:off x="8339328" y="2231136"/>
            <a:ext cx="0" cy="3355848"/>
          </a:xfrm>
          <a:prstGeom prst="line">
            <a:avLst/>
          </a:prstGeom>
          <a:noFill/>
          <a:ln w="10160">
            <a:solidFill>
              <a:srgbClr val="B5C1B6"/>
            </a:solidFill>
            <a:prstDash val="dash"/>
          </a:ln>
        </p:spPr>
        <p:txBody>
          <a:bodyPr/>
          <a:lstStyle/>
          <a:p>
            <a:endParaRPr lang="en-ZA"/>
          </a:p>
        </p:txBody>
      </p:sp>
      <p:sp>
        <p:nvSpPr>
          <p:cNvPr id="15" name="Shape 12"/>
          <p:cNvSpPr/>
          <p:nvPr/>
        </p:nvSpPr>
        <p:spPr>
          <a:xfrm>
            <a:off x="7552944"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7616952"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MCP server</a:t>
            </a:r>
            <a:endParaRPr lang="en-US" sz="1600" dirty="0"/>
          </a:p>
        </p:txBody>
      </p:sp>
      <p:sp>
        <p:nvSpPr>
          <p:cNvPr id="17" name="Shape 14"/>
          <p:cNvSpPr/>
          <p:nvPr/>
        </p:nvSpPr>
        <p:spPr>
          <a:xfrm>
            <a:off x="10972800" y="2231136"/>
            <a:ext cx="0" cy="3355848"/>
          </a:xfrm>
          <a:prstGeom prst="line">
            <a:avLst/>
          </a:prstGeom>
          <a:noFill/>
          <a:ln w="10160">
            <a:solidFill>
              <a:srgbClr val="B5C1B6"/>
            </a:solidFill>
            <a:prstDash val="dash"/>
          </a:ln>
        </p:spPr>
        <p:txBody>
          <a:bodyPr/>
          <a:lstStyle/>
          <a:p>
            <a:endParaRPr lang="en-ZA"/>
          </a:p>
        </p:txBody>
      </p:sp>
      <p:sp>
        <p:nvSpPr>
          <p:cNvPr id="18" name="Shape 15"/>
          <p:cNvSpPr/>
          <p:nvPr/>
        </p:nvSpPr>
        <p:spPr>
          <a:xfrm>
            <a:off x="1018641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9" name="Text 16"/>
          <p:cNvSpPr/>
          <p:nvPr/>
        </p:nvSpPr>
        <p:spPr>
          <a:xfrm>
            <a:off x="1025042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Foundry model</a:t>
            </a:r>
            <a:endParaRPr lang="en-US" sz="1600" dirty="0"/>
          </a:p>
        </p:txBody>
      </p:sp>
      <p:sp>
        <p:nvSpPr>
          <p:cNvPr id="20" name="Shape 17"/>
          <p:cNvSpPr/>
          <p:nvPr/>
        </p:nvSpPr>
        <p:spPr>
          <a:xfrm>
            <a:off x="859536" y="2624328"/>
            <a:ext cx="1929384" cy="0"/>
          </a:xfrm>
          <a:prstGeom prst="line">
            <a:avLst/>
          </a:prstGeom>
          <a:noFill/>
          <a:ln w="21590">
            <a:solidFill>
              <a:srgbClr val="397C25"/>
            </a:solidFill>
            <a:prstDash val="solid"/>
            <a:tailEnd type="triangle"/>
          </a:ln>
        </p:spPr>
        <p:txBody>
          <a:bodyPr/>
          <a:lstStyle/>
          <a:p>
            <a:endParaRPr lang="en-ZA"/>
          </a:p>
        </p:txBody>
      </p:sp>
      <p:sp>
        <p:nvSpPr>
          <p:cNvPr id="21" name="Text 18"/>
          <p:cNvSpPr/>
          <p:nvPr/>
        </p:nvSpPr>
        <p:spPr>
          <a:xfrm>
            <a:off x="896112" y="236098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Click empty cell</a:t>
            </a:r>
            <a:endParaRPr lang="en-US" sz="1600" dirty="0"/>
          </a:p>
        </p:txBody>
      </p:sp>
      <p:sp>
        <p:nvSpPr>
          <p:cNvPr id="22" name="Shape 19"/>
          <p:cNvSpPr/>
          <p:nvPr/>
        </p:nvSpPr>
        <p:spPr>
          <a:xfrm>
            <a:off x="2788920" y="2949452"/>
            <a:ext cx="2624328" cy="0"/>
          </a:xfrm>
          <a:prstGeom prst="line">
            <a:avLst/>
          </a:prstGeom>
          <a:noFill/>
          <a:ln w="21590">
            <a:solidFill>
              <a:srgbClr val="397C25"/>
            </a:solidFill>
            <a:prstDash val="solid"/>
            <a:tailEnd type="triangle"/>
          </a:ln>
        </p:spPr>
        <p:txBody>
          <a:bodyPr/>
          <a:lstStyle/>
          <a:p>
            <a:endParaRPr lang="en-ZA"/>
          </a:p>
        </p:txBody>
      </p:sp>
      <p:sp>
        <p:nvSpPr>
          <p:cNvPr id="23" name="Text 20"/>
          <p:cNvSpPr/>
          <p:nvPr/>
        </p:nvSpPr>
        <p:spPr>
          <a:xfrm>
            <a:off x="2825496" y="268610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POST /api/game/move</a:t>
            </a:r>
            <a:endParaRPr lang="en-US" sz="1600" dirty="0"/>
          </a:p>
        </p:txBody>
      </p:sp>
      <p:sp>
        <p:nvSpPr>
          <p:cNvPr id="24" name="Shape 21"/>
          <p:cNvSpPr/>
          <p:nvPr/>
        </p:nvSpPr>
        <p:spPr>
          <a:xfrm>
            <a:off x="5413248" y="3274567"/>
            <a:ext cx="2926080" cy="0"/>
          </a:xfrm>
          <a:prstGeom prst="line">
            <a:avLst/>
          </a:prstGeom>
          <a:noFill/>
          <a:ln w="21590">
            <a:solidFill>
              <a:srgbClr val="397C25"/>
            </a:solidFill>
            <a:prstDash val="solid"/>
            <a:tailEnd type="triangle"/>
          </a:ln>
        </p:spPr>
        <p:txBody>
          <a:bodyPr/>
          <a:lstStyle/>
          <a:p>
            <a:endParaRPr lang="en-ZA"/>
          </a:p>
        </p:txBody>
      </p:sp>
      <p:sp>
        <p:nvSpPr>
          <p:cNvPr id="25" name="Text 22"/>
          <p:cNvSpPr/>
          <p:nvPr/>
        </p:nvSpPr>
        <p:spPr>
          <a:xfrm>
            <a:off x="5449824" y="301122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makeMove(gameId, position, "X")</a:t>
            </a:r>
            <a:endParaRPr lang="en-US" sz="1600" dirty="0"/>
          </a:p>
        </p:txBody>
      </p:sp>
      <p:sp>
        <p:nvSpPr>
          <p:cNvPr id="26" name="Shape 23"/>
          <p:cNvSpPr/>
          <p:nvPr/>
        </p:nvSpPr>
        <p:spPr>
          <a:xfrm>
            <a:off x="5413248" y="3599691"/>
            <a:ext cx="2926080" cy="0"/>
          </a:xfrm>
          <a:prstGeom prst="line">
            <a:avLst/>
          </a:prstGeom>
          <a:noFill/>
          <a:ln w="21590">
            <a:solidFill>
              <a:srgbClr val="397C25"/>
            </a:solidFill>
            <a:prstDash val="dash"/>
            <a:headEnd type="triangle"/>
          </a:ln>
        </p:spPr>
        <p:txBody>
          <a:bodyPr/>
          <a:lstStyle/>
          <a:p>
            <a:endParaRPr lang="en-ZA"/>
          </a:p>
        </p:txBody>
      </p:sp>
      <p:sp>
        <p:nvSpPr>
          <p:cNvPr id="27" name="Text 24"/>
          <p:cNvSpPr/>
          <p:nvPr/>
        </p:nvSpPr>
        <p:spPr>
          <a:xfrm>
            <a:off x="5449824" y="333634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Board and status</a:t>
            </a:r>
            <a:endParaRPr lang="en-US" sz="1600" dirty="0"/>
          </a:p>
        </p:txBody>
      </p:sp>
      <p:sp>
        <p:nvSpPr>
          <p:cNvPr id="28" name="Shape 25"/>
          <p:cNvSpPr/>
          <p:nvPr/>
        </p:nvSpPr>
        <p:spPr>
          <a:xfrm>
            <a:off x="5413248" y="3924806"/>
            <a:ext cx="2926080" cy="0"/>
          </a:xfrm>
          <a:prstGeom prst="line">
            <a:avLst/>
          </a:prstGeom>
          <a:noFill/>
          <a:ln w="21590">
            <a:solidFill>
              <a:srgbClr val="397C25"/>
            </a:solidFill>
            <a:prstDash val="solid"/>
            <a:tailEnd type="triangle"/>
          </a:ln>
        </p:spPr>
        <p:txBody>
          <a:bodyPr/>
          <a:lstStyle/>
          <a:p>
            <a:endParaRPr lang="en-ZA"/>
          </a:p>
        </p:txBody>
      </p:sp>
      <p:sp>
        <p:nvSpPr>
          <p:cNvPr id="29" name="Text 26"/>
          <p:cNvSpPr/>
          <p:nvPr/>
        </p:nvSpPr>
        <p:spPr>
          <a:xfrm>
            <a:off x="5449824" y="366146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If IN_PROGRESS: aiMove(gameId)</a:t>
            </a:r>
            <a:endParaRPr lang="en-US" sz="1600" dirty="0"/>
          </a:p>
        </p:txBody>
      </p:sp>
      <p:sp>
        <p:nvSpPr>
          <p:cNvPr id="30" name="Shape 27"/>
          <p:cNvSpPr/>
          <p:nvPr/>
        </p:nvSpPr>
        <p:spPr>
          <a:xfrm>
            <a:off x="8339328" y="4249930"/>
            <a:ext cx="2633472" cy="0"/>
          </a:xfrm>
          <a:prstGeom prst="line">
            <a:avLst/>
          </a:prstGeom>
          <a:noFill/>
          <a:ln w="21590">
            <a:solidFill>
              <a:srgbClr val="397C25"/>
            </a:solidFill>
            <a:prstDash val="solid"/>
            <a:tailEnd type="triangle"/>
          </a:ln>
        </p:spPr>
        <p:txBody>
          <a:bodyPr/>
          <a:lstStyle/>
          <a:p>
            <a:endParaRPr lang="en-ZA"/>
          </a:p>
        </p:txBody>
      </p:sp>
      <p:sp>
        <p:nvSpPr>
          <p:cNvPr id="31" name="Text 28"/>
          <p:cNvSpPr/>
          <p:nvPr/>
        </p:nvSpPr>
        <p:spPr>
          <a:xfrm>
            <a:off x="8375904" y="398658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If invoked: choose legal O move</a:t>
            </a:r>
            <a:endParaRPr lang="en-US" sz="1600" dirty="0"/>
          </a:p>
        </p:txBody>
      </p:sp>
      <p:sp>
        <p:nvSpPr>
          <p:cNvPr id="32" name="Shape 29"/>
          <p:cNvSpPr/>
          <p:nvPr/>
        </p:nvSpPr>
        <p:spPr>
          <a:xfrm>
            <a:off x="8339328" y="4575045"/>
            <a:ext cx="2633472" cy="0"/>
          </a:xfrm>
          <a:prstGeom prst="line">
            <a:avLst/>
          </a:prstGeom>
          <a:noFill/>
          <a:ln w="21590">
            <a:solidFill>
              <a:srgbClr val="397C25"/>
            </a:solidFill>
            <a:prstDash val="dash"/>
            <a:headEnd type="triangle"/>
          </a:ln>
        </p:spPr>
        <p:txBody>
          <a:bodyPr/>
          <a:lstStyle/>
          <a:p>
            <a:endParaRPr lang="en-ZA"/>
          </a:p>
        </p:txBody>
      </p:sp>
      <p:sp>
        <p:nvSpPr>
          <p:cNvPr id="33" name="Text 30"/>
          <p:cNvSpPr/>
          <p:nvPr/>
        </p:nvSpPr>
        <p:spPr>
          <a:xfrm>
            <a:off x="8375904" y="431170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Index; validate + apply</a:t>
            </a:r>
            <a:endParaRPr lang="en-US" sz="1600" dirty="0"/>
          </a:p>
        </p:txBody>
      </p:sp>
      <p:sp>
        <p:nvSpPr>
          <p:cNvPr id="34" name="Shape 31"/>
          <p:cNvSpPr/>
          <p:nvPr/>
        </p:nvSpPr>
        <p:spPr>
          <a:xfrm>
            <a:off x="5413248" y="4900169"/>
            <a:ext cx="2926080" cy="0"/>
          </a:xfrm>
          <a:prstGeom prst="line">
            <a:avLst/>
          </a:prstGeom>
          <a:noFill/>
          <a:ln w="21590">
            <a:solidFill>
              <a:srgbClr val="397C25"/>
            </a:solidFill>
            <a:prstDash val="dash"/>
            <a:headEnd type="triangle"/>
          </a:ln>
        </p:spPr>
        <p:txBody>
          <a:bodyPr/>
          <a:lstStyle/>
          <a:p>
            <a:endParaRPr lang="en-ZA"/>
          </a:p>
        </p:txBody>
      </p:sp>
      <p:sp>
        <p:nvSpPr>
          <p:cNvPr id="35" name="Text 32"/>
          <p:cNvSpPr/>
          <p:nvPr/>
        </p:nvSpPr>
        <p:spPr>
          <a:xfrm>
            <a:off x="5449824" y="463682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Board after O (if invoked)</a:t>
            </a:r>
            <a:endParaRPr lang="en-US" sz="1600" dirty="0"/>
          </a:p>
        </p:txBody>
      </p:sp>
      <p:sp>
        <p:nvSpPr>
          <p:cNvPr id="36" name="Shape 33"/>
          <p:cNvSpPr/>
          <p:nvPr/>
        </p:nvSpPr>
        <p:spPr>
          <a:xfrm>
            <a:off x="2788920" y="5225284"/>
            <a:ext cx="2624328" cy="0"/>
          </a:xfrm>
          <a:prstGeom prst="line">
            <a:avLst/>
          </a:prstGeom>
          <a:noFill/>
          <a:ln w="21590">
            <a:solidFill>
              <a:srgbClr val="397C25"/>
            </a:solidFill>
            <a:prstDash val="dash"/>
            <a:headEnd type="triangle"/>
          </a:ln>
        </p:spPr>
        <p:txBody>
          <a:bodyPr/>
          <a:lstStyle/>
          <a:p>
            <a:endParaRPr lang="en-ZA"/>
          </a:p>
        </p:txBody>
      </p:sp>
      <p:sp>
        <p:nvSpPr>
          <p:cNvPr id="37" name="Text 34"/>
          <p:cNvSpPr/>
          <p:nvPr/>
        </p:nvSpPr>
        <p:spPr>
          <a:xfrm>
            <a:off x="2825496" y="496194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Current state: board, status, ...</a:t>
            </a:r>
            <a:endParaRPr lang="en-US" sz="1600" dirty="0"/>
          </a:p>
        </p:txBody>
      </p:sp>
      <p:sp>
        <p:nvSpPr>
          <p:cNvPr id="38" name="Shape 35"/>
          <p:cNvSpPr/>
          <p:nvPr/>
        </p:nvSpPr>
        <p:spPr>
          <a:xfrm>
            <a:off x="859536" y="5550408"/>
            <a:ext cx="1929384" cy="0"/>
          </a:xfrm>
          <a:prstGeom prst="line">
            <a:avLst/>
          </a:prstGeom>
          <a:noFill/>
          <a:ln w="21590">
            <a:solidFill>
              <a:srgbClr val="397C25"/>
            </a:solidFill>
            <a:prstDash val="dash"/>
            <a:headEnd type="triangle"/>
          </a:ln>
        </p:spPr>
        <p:txBody>
          <a:bodyPr/>
          <a:lstStyle/>
          <a:p>
            <a:endParaRPr lang="en-ZA"/>
          </a:p>
        </p:txBody>
      </p:sp>
      <p:sp>
        <p:nvSpPr>
          <p:cNvPr id="39" name="Text 36"/>
          <p:cNvSpPr/>
          <p:nvPr/>
        </p:nvSpPr>
        <p:spPr>
          <a:xfrm>
            <a:off x="896112" y="528706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Render board</a:t>
            </a:r>
            <a:endParaRPr lang="en-US" sz="1600" dirty="0"/>
          </a:p>
        </p:txBody>
      </p:sp>
      <p:sp>
        <p:nvSpPr>
          <p:cNvPr id="40" name="Text 37"/>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If X wins or draws, skip the AI exchange and return that terminal board immediately.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Agent interaction path</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Let ChatClient choose from the discovered callbacks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17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this.chatClient = chatClientBuilder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.defaultSystem(SYSTEM_PROMPT)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.defaultTools((Object[]) capturingCallbacks)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.defaultAdvisors(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MessageChatMemoryAdvisor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.builder(chatMemory).build())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Same capabilities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Pass the MCP callbacks into the client.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Model selection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model chooses tools from their descriptions.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Conversation memory</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advisor retains context by conversation ID.</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capturingCallbacks wrap the discovered tools; they do not replace the remote implementation.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Spring AI request context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Pass conversation identity to memory and tools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18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reply = chatClient.prompt()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.user(userMessage)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.toolContext(Map.of(</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"conversationId", conversationId))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.advisors(advisor -&gt; advisor.param(</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ChatMemory.CONVERSATION_ID,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conversationId))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.content();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Advisor parameter</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Selects the right conversation history.</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ToolContext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Lets the callback decorator attribute returned game IDs.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Structured capture</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Read gameId from tool JSON, not generated prose.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ChatMemory and ToolContext solve different parts of the state-handling problem.</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Cross-path state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Synchronize chat with the current visual board</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19 / 24</a:t>
            </a:r>
            <a:endParaRPr lang="en-US" sz="1200" dirty="0"/>
          </a:p>
        </p:txBody>
      </p:sp>
      <p:sp>
        <p:nvSpPr>
          <p:cNvPr id="6" name="Text 4"/>
          <p:cNvSpPr/>
          <p:nvPr/>
        </p:nvSpPr>
        <p:spPr>
          <a:xfrm>
            <a:off x="548640"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01</a:t>
            </a:r>
            <a:endParaRPr lang="en-US" sz="4200" dirty="0"/>
          </a:p>
        </p:txBody>
      </p:sp>
      <p:sp>
        <p:nvSpPr>
          <p:cNvPr id="7" name="Shape 5"/>
          <p:cNvSpPr/>
          <p:nvPr/>
        </p:nvSpPr>
        <p:spPr>
          <a:xfrm>
            <a:off x="548640"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8" name="Text 6"/>
          <p:cNvSpPr/>
          <p:nvPr/>
        </p:nvSpPr>
        <p:spPr>
          <a:xfrm>
            <a:off x="667512"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p:txBody>
      </p:sp>
      <p:sp>
        <p:nvSpPr>
          <p:cNvPr id="9" name="Text 7"/>
          <p:cNvSpPr/>
          <p:nvPr/>
        </p:nvSpPr>
        <p:spPr>
          <a:xfrm>
            <a:off x="548640"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Fetch getBoardState when the UI supplies a game ID.</a:t>
            </a:r>
            <a:endParaRPr lang="en-US" sz="2200" dirty="0"/>
          </a:p>
        </p:txBody>
      </p:sp>
      <p:sp>
        <p:nvSpPr>
          <p:cNvPr id="10" name="Text 8"/>
          <p:cNvSpPr/>
          <p:nvPr/>
        </p:nvSpPr>
        <p:spPr>
          <a:xfrm>
            <a:off x="3390138"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02</a:t>
            </a:r>
            <a:endParaRPr lang="en-US" sz="4200" dirty="0"/>
          </a:p>
        </p:txBody>
      </p:sp>
      <p:sp>
        <p:nvSpPr>
          <p:cNvPr id="11" name="Shape 9"/>
          <p:cNvSpPr/>
          <p:nvPr/>
        </p:nvSpPr>
        <p:spPr>
          <a:xfrm>
            <a:off x="3390138"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12" name="Text 10"/>
          <p:cNvSpPr/>
          <p:nvPr/>
        </p:nvSpPr>
        <p:spPr>
          <a:xfrm>
            <a:off x="3509010"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Snapshot</a:t>
            </a:r>
            <a:endParaRPr lang="en-US" sz="2000" dirty="0"/>
          </a:p>
        </p:txBody>
      </p:sp>
      <p:sp>
        <p:nvSpPr>
          <p:cNvPr id="13" name="Text 11"/>
          <p:cNvSpPr/>
          <p:nvPr/>
        </p:nvSpPr>
        <p:spPr>
          <a:xfrm>
            <a:off x="3390138"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Add fresh positions and status to chat memory.</a:t>
            </a:r>
            <a:endParaRPr lang="en-US" sz="2200" dirty="0"/>
          </a:p>
        </p:txBody>
      </p:sp>
      <p:sp>
        <p:nvSpPr>
          <p:cNvPr id="14" name="Text 12"/>
          <p:cNvSpPr/>
          <p:nvPr/>
        </p:nvSpPr>
        <p:spPr>
          <a:xfrm>
            <a:off x="6231636"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03</a:t>
            </a:r>
            <a:endParaRPr lang="en-US" sz="4200" dirty="0"/>
          </a:p>
        </p:txBody>
      </p:sp>
      <p:sp>
        <p:nvSpPr>
          <p:cNvPr id="15" name="Shape 13"/>
          <p:cNvSpPr/>
          <p:nvPr/>
        </p:nvSpPr>
        <p:spPr>
          <a:xfrm>
            <a:off x="6231636"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4"/>
          <p:cNvSpPr/>
          <p:nvPr/>
        </p:nvSpPr>
        <p:spPr>
          <a:xfrm>
            <a:off x="6350508"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Capture</a:t>
            </a:r>
            <a:endParaRPr lang="en-US" sz="2000" dirty="0"/>
          </a:p>
        </p:txBody>
      </p:sp>
      <p:sp>
        <p:nvSpPr>
          <p:cNvPr id="17" name="Text 15"/>
          <p:cNvSpPr/>
          <p:nvPr/>
        </p:nvSpPr>
        <p:spPr>
          <a:xfrm>
            <a:off x="6231636"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Read gameId from remote tool results using ToolContext.</a:t>
            </a:r>
            <a:endParaRPr lang="en-US" sz="2200" dirty="0"/>
          </a:p>
        </p:txBody>
      </p:sp>
      <p:sp>
        <p:nvSpPr>
          <p:cNvPr id="18" name="Text 16"/>
          <p:cNvSpPr/>
          <p:nvPr/>
        </p:nvSpPr>
        <p:spPr>
          <a:xfrm>
            <a:off x="9073134"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04</a:t>
            </a:r>
            <a:endParaRPr lang="en-US" sz="4200" dirty="0"/>
          </a:p>
        </p:txBody>
      </p:sp>
      <p:sp>
        <p:nvSpPr>
          <p:cNvPr id="19" name="Shape 17"/>
          <p:cNvSpPr/>
          <p:nvPr/>
        </p:nvSpPr>
        <p:spPr>
          <a:xfrm>
            <a:off x="9073134"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20" name="Text 18"/>
          <p:cNvSpPr/>
          <p:nvPr/>
        </p:nvSpPr>
        <p:spPr>
          <a:xfrm>
            <a:off x="9192006"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Refresh</a:t>
            </a:r>
            <a:endParaRPr lang="en-US" sz="2000" dirty="0"/>
          </a:p>
        </p:txBody>
      </p:sp>
      <p:sp>
        <p:nvSpPr>
          <p:cNvPr id="21" name="Text 19"/>
          <p:cNvSpPr/>
          <p:nvPr/>
        </p:nvSpPr>
        <p:spPr>
          <a:xfrm>
            <a:off x="9073134"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Return the active game so the board can update.</a:t>
            </a:r>
            <a:endParaRPr lang="en-US" sz="2200" dirty="0"/>
          </a:p>
        </p:txBody>
      </p:sp>
      <p:sp>
        <p:nvSpPr>
          <p:cNvPr id="22" name="Text 2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Live tool results are authoritative; an old conversation transcript can be stale.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Agent request walkthrough</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Chat sequence 1/2: request and human move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20 / 24</a:t>
            </a:r>
            <a:endParaRPr lang="en-US" sz="1200" dirty="0"/>
          </a:p>
        </p:txBody>
      </p:sp>
      <p:sp>
        <p:nvSpPr>
          <p:cNvPr id="6" name="Shape 4"/>
          <p:cNvSpPr/>
          <p:nvPr/>
        </p:nvSpPr>
        <p:spPr>
          <a:xfrm>
            <a:off x="859536" y="2231136"/>
            <a:ext cx="0" cy="3355848"/>
          </a:xfrm>
          <a:prstGeom prst="line">
            <a:avLst/>
          </a:prstGeom>
          <a:noFill/>
          <a:ln w="10160">
            <a:solidFill>
              <a:srgbClr val="B5C1B6"/>
            </a:solidFill>
            <a:prstDash val="dash"/>
          </a:ln>
        </p:spPr>
        <p:txBody>
          <a:bodyPr/>
          <a:lstStyle/>
          <a:p>
            <a:endParaRPr lang="en-ZA"/>
          </a:p>
        </p:txBody>
      </p:sp>
      <p:pic>
        <p:nvPicPr>
          <p:cNvPr id="7" name="Image 0" descr="client server sequence"/>
          <p:cNvPicPr>
            <a:picLocks noChangeAspect="1"/>
          </p:cNvPicPr>
          <p:nvPr/>
        </p:nvPicPr>
        <p:blipFill>
          <a:blip r:embed="rId3"/>
          <a:stretch>
            <a:fillRect/>
          </a:stretch>
        </p:blipFill>
        <p:spPr>
          <a:xfrm>
            <a:off x="718022" y="1627632"/>
            <a:ext cx="283029" cy="594360"/>
          </a:xfrm>
          <a:prstGeom prst="rect">
            <a:avLst/>
          </a:prstGeom>
        </p:spPr>
      </p:pic>
      <p:sp>
        <p:nvSpPr>
          <p:cNvPr id="8" name="Shape 5"/>
          <p:cNvSpPr/>
          <p:nvPr/>
        </p:nvSpPr>
        <p:spPr>
          <a:xfrm>
            <a:off x="2788920" y="2231136"/>
            <a:ext cx="0" cy="3355848"/>
          </a:xfrm>
          <a:prstGeom prst="line">
            <a:avLst/>
          </a:prstGeom>
          <a:noFill/>
          <a:ln w="10160">
            <a:solidFill>
              <a:srgbClr val="B5C1B6"/>
            </a:solidFill>
            <a:prstDash val="dash"/>
          </a:ln>
        </p:spPr>
        <p:txBody>
          <a:bodyPr/>
          <a:lstStyle/>
          <a:p>
            <a:endParaRPr lang="en-ZA"/>
          </a:p>
        </p:txBody>
      </p:sp>
      <p:sp>
        <p:nvSpPr>
          <p:cNvPr id="9" name="Shape 6"/>
          <p:cNvSpPr/>
          <p:nvPr/>
        </p:nvSpPr>
        <p:spPr>
          <a:xfrm>
            <a:off x="200253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0" name="Text 7"/>
          <p:cNvSpPr/>
          <p:nvPr/>
        </p:nvSpPr>
        <p:spPr>
          <a:xfrm>
            <a:off x="206654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Browser :8082</a:t>
            </a:r>
            <a:endParaRPr lang="en-US" sz="1600" dirty="0"/>
          </a:p>
        </p:txBody>
      </p:sp>
      <p:sp>
        <p:nvSpPr>
          <p:cNvPr id="11" name="Shape 8"/>
          <p:cNvSpPr/>
          <p:nvPr/>
        </p:nvSpPr>
        <p:spPr>
          <a:xfrm>
            <a:off x="5413248" y="2231136"/>
            <a:ext cx="0" cy="3355848"/>
          </a:xfrm>
          <a:prstGeom prst="line">
            <a:avLst/>
          </a:prstGeom>
          <a:noFill/>
          <a:ln w="10160">
            <a:solidFill>
              <a:srgbClr val="B5C1B6"/>
            </a:solidFill>
            <a:prstDash val="dash"/>
          </a:ln>
        </p:spPr>
        <p:txBody>
          <a:bodyPr/>
          <a:lstStyle/>
          <a:p>
            <a:endParaRPr lang="en-ZA"/>
          </a:p>
        </p:txBody>
      </p:sp>
      <p:sp>
        <p:nvSpPr>
          <p:cNvPr id="12" name="Shape 9"/>
          <p:cNvSpPr/>
          <p:nvPr/>
        </p:nvSpPr>
        <p:spPr>
          <a:xfrm>
            <a:off x="4626864"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4690872"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MCP client</a:t>
            </a:r>
            <a:endParaRPr lang="en-US" sz="1600" dirty="0"/>
          </a:p>
        </p:txBody>
      </p:sp>
      <p:sp>
        <p:nvSpPr>
          <p:cNvPr id="14" name="Shape 11"/>
          <p:cNvSpPr/>
          <p:nvPr/>
        </p:nvSpPr>
        <p:spPr>
          <a:xfrm>
            <a:off x="8339328" y="2231136"/>
            <a:ext cx="0" cy="3355848"/>
          </a:xfrm>
          <a:prstGeom prst="line">
            <a:avLst/>
          </a:prstGeom>
          <a:noFill/>
          <a:ln w="10160">
            <a:solidFill>
              <a:srgbClr val="B5C1B6"/>
            </a:solidFill>
            <a:prstDash val="dash"/>
          </a:ln>
        </p:spPr>
        <p:txBody>
          <a:bodyPr/>
          <a:lstStyle/>
          <a:p>
            <a:endParaRPr lang="en-ZA"/>
          </a:p>
        </p:txBody>
      </p:sp>
      <p:sp>
        <p:nvSpPr>
          <p:cNvPr id="15" name="Shape 12"/>
          <p:cNvSpPr/>
          <p:nvPr/>
        </p:nvSpPr>
        <p:spPr>
          <a:xfrm>
            <a:off x="7552944"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7616952"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MCP server</a:t>
            </a:r>
            <a:endParaRPr lang="en-US" sz="1600" dirty="0"/>
          </a:p>
        </p:txBody>
      </p:sp>
      <p:sp>
        <p:nvSpPr>
          <p:cNvPr id="17" name="Shape 14"/>
          <p:cNvSpPr/>
          <p:nvPr/>
        </p:nvSpPr>
        <p:spPr>
          <a:xfrm>
            <a:off x="10972800" y="2231136"/>
            <a:ext cx="0" cy="3355848"/>
          </a:xfrm>
          <a:prstGeom prst="line">
            <a:avLst/>
          </a:prstGeom>
          <a:noFill/>
          <a:ln w="10160">
            <a:solidFill>
              <a:srgbClr val="B5C1B6"/>
            </a:solidFill>
            <a:prstDash val="dash"/>
          </a:ln>
        </p:spPr>
        <p:txBody>
          <a:bodyPr/>
          <a:lstStyle/>
          <a:p>
            <a:endParaRPr lang="en-ZA"/>
          </a:p>
        </p:txBody>
      </p:sp>
      <p:sp>
        <p:nvSpPr>
          <p:cNvPr id="18" name="Shape 15"/>
          <p:cNvSpPr/>
          <p:nvPr/>
        </p:nvSpPr>
        <p:spPr>
          <a:xfrm>
            <a:off x="1018641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9" name="Text 16"/>
          <p:cNvSpPr/>
          <p:nvPr/>
        </p:nvSpPr>
        <p:spPr>
          <a:xfrm>
            <a:off x="1025042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Foundry model</a:t>
            </a:r>
            <a:endParaRPr lang="en-US" sz="1600" dirty="0"/>
          </a:p>
        </p:txBody>
      </p:sp>
      <p:sp>
        <p:nvSpPr>
          <p:cNvPr id="20" name="Shape 17"/>
          <p:cNvSpPr/>
          <p:nvPr/>
        </p:nvSpPr>
        <p:spPr>
          <a:xfrm>
            <a:off x="859536" y="2624328"/>
            <a:ext cx="1929384" cy="0"/>
          </a:xfrm>
          <a:prstGeom prst="line">
            <a:avLst/>
          </a:prstGeom>
          <a:noFill/>
          <a:ln w="21590">
            <a:solidFill>
              <a:srgbClr val="397C25"/>
            </a:solidFill>
            <a:prstDash val="solid"/>
            <a:tailEnd type="triangle"/>
          </a:ln>
        </p:spPr>
        <p:txBody>
          <a:bodyPr/>
          <a:lstStyle/>
          <a:p>
            <a:endParaRPr lang="en-ZA"/>
          </a:p>
        </p:txBody>
      </p:sp>
      <p:sp>
        <p:nvSpPr>
          <p:cNvPr id="21" name="Text 18"/>
          <p:cNvSpPr/>
          <p:nvPr/>
        </p:nvSpPr>
        <p:spPr>
          <a:xfrm>
            <a:off x="896112" y="236098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"Play X at position 4"</a:t>
            </a:r>
            <a:endParaRPr lang="en-US" sz="1600" dirty="0"/>
          </a:p>
        </p:txBody>
      </p:sp>
      <p:sp>
        <p:nvSpPr>
          <p:cNvPr id="22" name="Shape 19"/>
          <p:cNvSpPr/>
          <p:nvPr/>
        </p:nvSpPr>
        <p:spPr>
          <a:xfrm>
            <a:off x="2788920" y="2949452"/>
            <a:ext cx="2624328" cy="0"/>
          </a:xfrm>
          <a:prstGeom prst="line">
            <a:avLst/>
          </a:prstGeom>
          <a:noFill/>
          <a:ln w="21590">
            <a:solidFill>
              <a:srgbClr val="397C25"/>
            </a:solidFill>
            <a:prstDash val="solid"/>
            <a:tailEnd type="triangle"/>
          </a:ln>
        </p:spPr>
        <p:txBody>
          <a:bodyPr/>
          <a:lstStyle/>
          <a:p>
            <a:endParaRPr lang="en-ZA"/>
          </a:p>
        </p:txBody>
      </p:sp>
      <p:sp>
        <p:nvSpPr>
          <p:cNvPr id="23" name="Text 20"/>
          <p:cNvSpPr/>
          <p:nvPr/>
        </p:nvSpPr>
        <p:spPr>
          <a:xfrm>
            <a:off x="2825496" y="268610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POST /api/agent/chat</a:t>
            </a:r>
            <a:endParaRPr lang="en-US" sz="1600" dirty="0"/>
          </a:p>
        </p:txBody>
      </p:sp>
      <p:sp>
        <p:nvSpPr>
          <p:cNvPr id="24" name="Shape 21"/>
          <p:cNvSpPr/>
          <p:nvPr/>
        </p:nvSpPr>
        <p:spPr>
          <a:xfrm>
            <a:off x="5413248" y="3274567"/>
            <a:ext cx="2926080" cy="0"/>
          </a:xfrm>
          <a:prstGeom prst="line">
            <a:avLst/>
          </a:prstGeom>
          <a:noFill/>
          <a:ln w="21590">
            <a:solidFill>
              <a:srgbClr val="397C25"/>
            </a:solidFill>
            <a:prstDash val="solid"/>
            <a:tailEnd type="triangle"/>
          </a:ln>
        </p:spPr>
        <p:txBody>
          <a:bodyPr/>
          <a:lstStyle/>
          <a:p>
            <a:endParaRPr lang="en-ZA"/>
          </a:p>
        </p:txBody>
      </p:sp>
      <p:sp>
        <p:nvSpPr>
          <p:cNvPr id="25" name="Text 22"/>
          <p:cNvSpPr/>
          <p:nvPr/>
        </p:nvSpPr>
        <p:spPr>
          <a:xfrm>
            <a:off x="5449824" y="301122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getBoardState(gameId)</a:t>
            </a:r>
            <a:endParaRPr lang="en-US" sz="1600" dirty="0"/>
          </a:p>
        </p:txBody>
      </p:sp>
      <p:sp>
        <p:nvSpPr>
          <p:cNvPr id="26" name="Shape 23"/>
          <p:cNvSpPr/>
          <p:nvPr/>
        </p:nvSpPr>
        <p:spPr>
          <a:xfrm>
            <a:off x="5413248" y="3599691"/>
            <a:ext cx="2926080" cy="0"/>
          </a:xfrm>
          <a:prstGeom prst="line">
            <a:avLst/>
          </a:prstGeom>
          <a:noFill/>
          <a:ln w="21590">
            <a:solidFill>
              <a:srgbClr val="397C25"/>
            </a:solidFill>
            <a:prstDash val="dash"/>
            <a:headEnd type="triangle"/>
          </a:ln>
        </p:spPr>
        <p:txBody>
          <a:bodyPr/>
          <a:lstStyle/>
          <a:p>
            <a:endParaRPr lang="en-ZA"/>
          </a:p>
        </p:txBody>
      </p:sp>
      <p:sp>
        <p:nvSpPr>
          <p:cNvPr id="27" name="Text 24"/>
          <p:cNvSpPr/>
          <p:nvPr/>
        </p:nvSpPr>
        <p:spPr>
          <a:xfrm>
            <a:off x="5449824" y="333634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X next; position 4 empty</a:t>
            </a:r>
            <a:endParaRPr lang="en-US" sz="1600" dirty="0"/>
          </a:p>
        </p:txBody>
      </p:sp>
      <p:sp>
        <p:nvSpPr>
          <p:cNvPr id="28" name="Shape 25"/>
          <p:cNvSpPr/>
          <p:nvPr/>
        </p:nvSpPr>
        <p:spPr>
          <a:xfrm>
            <a:off x="5413248" y="3879086"/>
            <a:ext cx="347472" cy="0"/>
          </a:xfrm>
          <a:prstGeom prst="line">
            <a:avLst/>
          </a:prstGeom>
          <a:noFill/>
          <a:ln w="21590">
            <a:solidFill>
              <a:srgbClr val="397C25"/>
            </a:solidFill>
            <a:prstDash val="solid"/>
          </a:ln>
        </p:spPr>
        <p:txBody>
          <a:bodyPr/>
          <a:lstStyle/>
          <a:p>
            <a:endParaRPr lang="en-ZA"/>
          </a:p>
        </p:txBody>
      </p:sp>
      <p:sp>
        <p:nvSpPr>
          <p:cNvPr id="29" name="Shape 26"/>
          <p:cNvSpPr/>
          <p:nvPr/>
        </p:nvSpPr>
        <p:spPr>
          <a:xfrm>
            <a:off x="5760720" y="3879086"/>
            <a:ext cx="0" cy="91440"/>
          </a:xfrm>
          <a:prstGeom prst="line">
            <a:avLst/>
          </a:prstGeom>
          <a:noFill/>
          <a:ln w="21590">
            <a:solidFill>
              <a:srgbClr val="397C25"/>
            </a:solidFill>
            <a:prstDash val="solid"/>
          </a:ln>
        </p:spPr>
        <p:txBody>
          <a:bodyPr/>
          <a:lstStyle/>
          <a:p>
            <a:endParaRPr lang="en-ZA"/>
          </a:p>
        </p:txBody>
      </p:sp>
      <p:sp>
        <p:nvSpPr>
          <p:cNvPr id="30" name="Shape 27"/>
          <p:cNvSpPr/>
          <p:nvPr/>
        </p:nvSpPr>
        <p:spPr>
          <a:xfrm>
            <a:off x="5413248" y="3970526"/>
            <a:ext cx="347472" cy="0"/>
          </a:xfrm>
          <a:prstGeom prst="line">
            <a:avLst/>
          </a:prstGeom>
          <a:noFill/>
          <a:ln w="21590">
            <a:solidFill>
              <a:srgbClr val="397C25"/>
            </a:solidFill>
            <a:prstDash val="solid"/>
            <a:headEnd type="triangle"/>
          </a:ln>
        </p:spPr>
        <p:txBody>
          <a:bodyPr/>
          <a:lstStyle/>
          <a:p>
            <a:endParaRPr lang="en-ZA"/>
          </a:p>
        </p:txBody>
      </p:sp>
      <p:sp>
        <p:nvSpPr>
          <p:cNvPr id="31" name="Text 28"/>
          <p:cNvSpPr/>
          <p:nvPr/>
        </p:nvSpPr>
        <p:spPr>
          <a:xfrm>
            <a:off x="5449824" y="3624885"/>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ChatMemory: add snapshot</a:t>
            </a:r>
            <a:endParaRPr lang="en-US" sz="1600" dirty="0"/>
          </a:p>
        </p:txBody>
      </p:sp>
      <p:sp>
        <p:nvSpPr>
          <p:cNvPr id="32" name="Shape 29"/>
          <p:cNvSpPr/>
          <p:nvPr/>
        </p:nvSpPr>
        <p:spPr>
          <a:xfrm>
            <a:off x="5413248" y="4249930"/>
            <a:ext cx="5559552" cy="0"/>
          </a:xfrm>
          <a:prstGeom prst="line">
            <a:avLst/>
          </a:prstGeom>
          <a:noFill/>
          <a:ln w="21590">
            <a:solidFill>
              <a:srgbClr val="397C25"/>
            </a:solidFill>
            <a:prstDash val="solid"/>
            <a:tailEnd type="triangle"/>
          </a:ln>
        </p:spPr>
        <p:txBody>
          <a:bodyPr/>
          <a:lstStyle/>
          <a:p>
            <a:endParaRPr lang="en-ZA"/>
          </a:p>
        </p:txBody>
      </p:sp>
      <p:sp>
        <p:nvSpPr>
          <p:cNvPr id="33" name="Text 30"/>
          <p:cNvSpPr/>
          <p:nvPr/>
        </p:nvSpPr>
        <p:spPr>
          <a:xfrm>
            <a:off x="5449824" y="3986581"/>
            <a:ext cx="54864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Message + memory + tool schemas</a:t>
            </a:r>
            <a:endParaRPr lang="en-US" sz="1600" dirty="0"/>
          </a:p>
        </p:txBody>
      </p:sp>
      <p:sp>
        <p:nvSpPr>
          <p:cNvPr id="34" name="Shape 31"/>
          <p:cNvSpPr/>
          <p:nvPr/>
        </p:nvSpPr>
        <p:spPr>
          <a:xfrm>
            <a:off x="5413248" y="4575045"/>
            <a:ext cx="5559552" cy="0"/>
          </a:xfrm>
          <a:prstGeom prst="line">
            <a:avLst/>
          </a:prstGeom>
          <a:noFill/>
          <a:ln w="21590">
            <a:solidFill>
              <a:srgbClr val="397C25"/>
            </a:solidFill>
            <a:prstDash val="dash"/>
            <a:headEnd type="triangle"/>
          </a:ln>
        </p:spPr>
        <p:txBody>
          <a:bodyPr/>
          <a:lstStyle/>
          <a:p>
            <a:endParaRPr lang="en-ZA"/>
          </a:p>
        </p:txBody>
      </p:sp>
      <p:sp>
        <p:nvSpPr>
          <p:cNvPr id="35" name="Text 32"/>
          <p:cNvSpPr/>
          <p:nvPr/>
        </p:nvSpPr>
        <p:spPr>
          <a:xfrm>
            <a:off x="5449824" y="4311701"/>
            <a:ext cx="54864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Tool request: makeMove(gameId, 4, "X")</a:t>
            </a:r>
            <a:endParaRPr lang="en-US" sz="1600" dirty="0"/>
          </a:p>
        </p:txBody>
      </p:sp>
      <p:sp>
        <p:nvSpPr>
          <p:cNvPr id="36" name="Shape 33"/>
          <p:cNvSpPr/>
          <p:nvPr/>
        </p:nvSpPr>
        <p:spPr>
          <a:xfrm>
            <a:off x="5413248" y="4900169"/>
            <a:ext cx="2926080" cy="0"/>
          </a:xfrm>
          <a:prstGeom prst="line">
            <a:avLst/>
          </a:prstGeom>
          <a:noFill/>
          <a:ln w="21590">
            <a:solidFill>
              <a:srgbClr val="397C25"/>
            </a:solidFill>
            <a:prstDash val="solid"/>
            <a:tailEnd type="triangle"/>
          </a:ln>
        </p:spPr>
        <p:txBody>
          <a:bodyPr/>
          <a:lstStyle/>
          <a:p>
            <a:endParaRPr lang="en-ZA"/>
          </a:p>
        </p:txBody>
      </p:sp>
      <p:sp>
        <p:nvSpPr>
          <p:cNvPr id="37" name="Text 34"/>
          <p:cNvSpPr/>
          <p:nvPr/>
        </p:nvSpPr>
        <p:spPr>
          <a:xfrm>
            <a:off x="5449824" y="463682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makeMove(gameId, 4, "X")</a:t>
            </a:r>
            <a:endParaRPr lang="en-US" sz="1600" dirty="0"/>
          </a:p>
        </p:txBody>
      </p:sp>
      <p:sp>
        <p:nvSpPr>
          <p:cNvPr id="38" name="Shape 35"/>
          <p:cNvSpPr/>
          <p:nvPr/>
        </p:nvSpPr>
        <p:spPr>
          <a:xfrm>
            <a:off x="5413248" y="5225284"/>
            <a:ext cx="2926080" cy="0"/>
          </a:xfrm>
          <a:prstGeom prst="line">
            <a:avLst/>
          </a:prstGeom>
          <a:noFill/>
          <a:ln w="21590">
            <a:solidFill>
              <a:srgbClr val="397C25"/>
            </a:solidFill>
            <a:prstDash val="dash"/>
            <a:headEnd type="triangle"/>
          </a:ln>
        </p:spPr>
        <p:txBody>
          <a:bodyPr/>
          <a:lstStyle/>
          <a:p>
            <a:endParaRPr lang="en-ZA"/>
          </a:p>
        </p:txBody>
      </p:sp>
      <p:sp>
        <p:nvSpPr>
          <p:cNvPr id="39" name="Text 36"/>
          <p:cNvSpPr/>
          <p:nvPr/>
        </p:nvSpPr>
        <p:spPr>
          <a:xfrm>
            <a:off x="5449824" y="4961941"/>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Updated board; still IN_PROGRESS</a:t>
            </a:r>
            <a:endParaRPr lang="en-US" sz="1600" dirty="0"/>
          </a:p>
        </p:txBody>
      </p:sp>
      <p:sp>
        <p:nvSpPr>
          <p:cNvPr id="40" name="Shape 37"/>
          <p:cNvSpPr/>
          <p:nvPr/>
        </p:nvSpPr>
        <p:spPr>
          <a:xfrm>
            <a:off x="5413248" y="5550408"/>
            <a:ext cx="5559552" cy="0"/>
          </a:xfrm>
          <a:prstGeom prst="line">
            <a:avLst/>
          </a:prstGeom>
          <a:noFill/>
          <a:ln w="21590">
            <a:solidFill>
              <a:srgbClr val="397C25"/>
            </a:solidFill>
            <a:prstDash val="solid"/>
            <a:tailEnd type="triangle"/>
          </a:ln>
        </p:spPr>
        <p:txBody>
          <a:bodyPr/>
          <a:lstStyle/>
          <a:p>
            <a:endParaRPr lang="en-ZA"/>
          </a:p>
        </p:txBody>
      </p:sp>
      <p:sp>
        <p:nvSpPr>
          <p:cNvPr id="41" name="Text 38"/>
          <p:cNvSpPr/>
          <p:nvPr/>
        </p:nvSpPr>
        <p:spPr>
          <a:xfrm>
            <a:off x="5449824" y="5287061"/>
            <a:ext cx="54864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Tool result: updated board; O next</a:t>
            </a:r>
            <a:endParaRPr lang="en-US" sz="1600" dirty="0"/>
          </a:p>
        </p:txBody>
      </p:sp>
      <p:sp>
        <p:nvSpPr>
          <p:cNvPr id="42" name="Text 39"/>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HTTP request: {message, conversationId, gameId}. The model receives the actual move result.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Same request, continued</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Chat sequence 2/2: AI move and final reply</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21 / 24</a:t>
            </a:r>
            <a:endParaRPr lang="en-US" sz="1200" dirty="0"/>
          </a:p>
        </p:txBody>
      </p:sp>
      <p:sp>
        <p:nvSpPr>
          <p:cNvPr id="6" name="Shape 4"/>
          <p:cNvSpPr/>
          <p:nvPr/>
        </p:nvSpPr>
        <p:spPr>
          <a:xfrm>
            <a:off x="859536" y="2231136"/>
            <a:ext cx="0" cy="3355848"/>
          </a:xfrm>
          <a:prstGeom prst="line">
            <a:avLst/>
          </a:prstGeom>
          <a:noFill/>
          <a:ln w="10160">
            <a:solidFill>
              <a:srgbClr val="B5C1B6"/>
            </a:solidFill>
            <a:prstDash val="dash"/>
          </a:ln>
        </p:spPr>
        <p:txBody>
          <a:bodyPr/>
          <a:lstStyle/>
          <a:p>
            <a:endParaRPr lang="en-ZA"/>
          </a:p>
        </p:txBody>
      </p:sp>
      <p:pic>
        <p:nvPicPr>
          <p:cNvPr id="7" name="Image 0" descr="client server sequence"/>
          <p:cNvPicPr>
            <a:picLocks noChangeAspect="1"/>
          </p:cNvPicPr>
          <p:nvPr/>
        </p:nvPicPr>
        <p:blipFill>
          <a:blip r:embed="rId3"/>
          <a:stretch>
            <a:fillRect/>
          </a:stretch>
        </p:blipFill>
        <p:spPr>
          <a:xfrm>
            <a:off x="718022" y="1627632"/>
            <a:ext cx="283029" cy="594360"/>
          </a:xfrm>
          <a:prstGeom prst="rect">
            <a:avLst/>
          </a:prstGeom>
        </p:spPr>
      </p:pic>
      <p:sp>
        <p:nvSpPr>
          <p:cNvPr id="8" name="Shape 5"/>
          <p:cNvSpPr/>
          <p:nvPr/>
        </p:nvSpPr>
        <p:spPr>
          <a:xfrm>
            <a:off x="2788920" y="2231136"/>
            <a:ext cx="0" cy="3355848"/>
          </a:xfrm>
          <a:prstGeom prst="line">
            <a:avLst/>
          </a:prstGeom>
          <a:noFill/>
          <a:ln w="10160">
            <a:solidFill>
              <a:srgbClr val="B5C1B6"/>
            </a:solidFill>
            <a:prstDash val="dash"/>
          </a:ln>
        </p:spPr>
        <p:txBody>
          <a:bodyPr/>
          <a:lstStyle/>
          <a:p>
            <a:endParaRPr lang="en-ZA"/>
          </a:p>
        </p:txBody>
      </p:sp>
      <p:sp>
        <p:nvSpPr>
          <p:cNvPr id="9" name="Shape 6"/>
          <p:cNvSpPr/>
          <p:nvPr/>
        </p:nvSpPr>
        <p:spPr>
          <a:xfrm>
            <a:off x="200253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0" name="Text 7"/>
          <p:cNvSpPr/>
          <p:nvPr/>
        </p:nvSpPr>
        <p:spPr>
          <a:xfrm>
            <a:off x="206654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Browser :8082</a:t>
            </a:r>
            <a:endParaRPr lang="en-US" sz="1600" dirty="0"/>
          </a:p>
        </p:txBody>
      </p:sp>
      <p:sp>
        <p:nvSpPr>
          <p:cNvPr id="11" name="Shape 8"/>
          <p:cNvSpPr/>
          <p:nvPr/>
        </p:nvSpPr>
        <p:spPr>
          <a:xfrm>
            <a:off x="5413248" y="2231136"/>
            <a:ext cx="0" cy="3355848"/>
          </a:xfrm>
          <a:prstGeom prst="line">
            <a:avLst/>
          </a:prstGeom>
          <a:noFill/>
          <a:ln w="10160">
            <a:solidFill>
              <a:srgbClr val="B5C1B6"/>
            </a:solidFill>
            <a:prstDash val="dash"/>
          </a:ln>
        </p:spPr>
        <p:txBody>
          <a:bodyPr/>
          <a:lstStyle/>
          <a:p>
            <a:endParaRPr lang="en-ZA"/>
          </a:p>
        </p:txBody>
      </p:sp>
      <p:sp>
        <p:nvSpPr>
          <p:cNvPr id="12" name="Shape 9"/>
          <p:cNvSpPr/>
          <p:nvPr/>
        </p:nvSpPr>
        <p:spPr>
          <a:xfrm>
            <a:off x="4626864"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3" name="Text 10"/>
          <p:cNvSpPr/>
          <p:nvPr/>
        </p:nvSpPr>
        <p:spPr>
          <a:xfrm>
            <a:off x="4690872"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MCP client</a:t>
            </a:r>
            <a:endParaRPr lang="en-US" sz="1600" dirty="0"/>
          </a:p>
        </p:txBody>
      </p:sp>
      <p:sp>
        <p:nvSpPr>
          <p:cNvPr id="14" name="Shape 11"/>
          <p:cNvSpPr/>
          <p:nvPr/>
        </p:nvSpPr>
        <p:spPr>
          <a:xfrm>
            <a:off x="8339328" y="2231136"/>
            <a:ext cx="0" cy="3355848"/>
          </a:xfrm>
          <a:prstGeom prst="line">
            <a:avLst/>
          </a:prstGeom>
          <a:noFill/>
          <a:ln w="10160">
            <a:solidFill>
              <a:srgbClr val="B5C1B6"/>
            </a:solidFill>
            <a:prstDash val="dash"/>
          </a:ln>
        </p:spPr>
        <p:txBody>
          <a:bodyPr/>
          <a:lstStyle/>
          <a:p>
            <a:endParaRPr lang="en-ZA"/>
          </a:p>
        </p:txBody>
      </p:sp>
      <p:sp>
        <p:nvSpPr>
          <p:cNvPr id="15" name="Shape 12"/>
          <p:cNvSpPr/>
          <p:nvPr/>
        </p:nvSpPr>
        <p:spPr>
          <a:xfrm>
            <a:off x="7552944"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3"/>
          <p:cNvSpPr/>
          <p:nvPr/>
        </p:nvSpPr>
        <p:spPr>
          <a:xfrm>
            <a:off x="7616952"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MCP server</a:t>
            </a:r>
            <a:endParaRPr lang="en-US" sz="1600" dirty="0"/>
          </a:p>
        </p:txBody>
      </p:sp>
      <p:sp>
        <p:nvSpPr>
          <p:cNvPr id="17" name="Shape 14"/>
          <p:cNvSpPr/>
          <p:nvPr/>
        </p:nvSpPr>
        <p:spPr>
          <a:xfrm>
            <a:off x="10972800" y="2231136"/>
            <a:ext cx="0" cy="3355848"/>
          </a:xfrm>
          <a:prstGeom prst="line">
            <a:avLst/>
          </a:prstGeom>
          <a:noFill/>
          <a:ln w="10160">
            <a:solidFill>
              <a:srgbClr val="B5C1B6"/>
            </a:solidFill>
            <a:prstDash val="dash"/>
          </a:ln>
        </p:spPr>
        <p:txBody>
          <a:bodyPr/>
          <a:lstStyle/>
          <a:p>
            <a:endParaRPr lang="en-ZA"/>
          </a:p>
        </p:txBody>
      </p:sp>
      <p:sp>
        <p:nvSpPr>
          <p:cNvPr id="18" name="Shape 15"/>
          <p:cNvSpPr/>
          <p:nvPr/>
        </p:nvSpPr>
        <p:spPr>
          <a:xfrm>
            <a:off x="10186416" y="1691640"/>
            <a:ext cx="1572768" cy="557784"/>
          </a:xfrm>
          <a:prstGeom prst="rect">
            <a:avLst/>
          </a:prstGeom>
          <a:solidFill>
            <a:srgbClr val="202A25"/>
          </a:solidFill>
          <a:ln w="12700">
            <a:solidFill>
              <a:srgbClr val="202A25">
                <a:alpha val="0"/>
              </a:srgbClr>
            </a:solidFill>
            <a:prstDash val="solid"/>
          </a:ln>
        </p:spPr>
        <p:txBody>
          <a:bodyPr/>
          <a:lstStyle/>
          <a:p>
            <a:endParaRPr lang="en-ZA"/>
          </a:p>
        </p:txBody>
      </p:sp>
      <p:sp>
        <p:nvSpPr>
          <p:cNvPr id="19" name="Text 16"/>
          <p:cNvSpPr/>
          <p:nvPr/>
        </p:nvSpPr>
        <p:spPr>
          <a:xfrm>
            <a:off x="10250424" y="1773936"/>
            <a:ext cx="1444752" cy="402336"/>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Foundry model</a:t>
            </a:r>
            <a:endParaRPr lang="en-US" sz="1600" dirty="0"/>
          </a:p>
        </p:txBody>
      </p:sp>
      <p:sp>
        <p:nvSpPr>
          <p:cNvPr id="20" name="Shape 17"/>
          <p:cNvSpPr/>
          <p:nvPr/>
        </p:nvSpPr>
        <p:spPr>
          <a:xfrm>
            <a:off x="5413248" y="2624328"/>
            <a:ext cx="5559552" cy="0"/>
          </a:xfrm>
          <a:prstGeom prst="line">
            <a:avLst/>
          </a:prstGeom>
          <a:noFill/>
          <a:ln w="21590">
            <a:solidFill>
              <a:srgbClr val="397C25"/>
            </a:solidFill>
            <a:prstDash val="dash"/>
            <a:headEnd type="triangle"/>
          </a:ln>
        </p:spPr>
        <p:txBody>
          <a:bodyPr/>
          <a:lstStyle/>
          <a:p>
            <a:endParaRPr lang="en-ZA"/>
          </a:p>
        </p:txBody>
      </p:sp>
      <p:sp>
        <p:nvSpPr>
          <p:cNvPr id="21" name="Text 18"/>
          <p:cNvSpPr/>
          <p:nvPr/>
        </p:nvSpPr>
        <p:spPr>
          <a:xfrm>
            <a:off x="5449824" y="2360981"/>
            <a:ext cx="54864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Next tool request: aiMove(gameId)</a:t>
            </a:r>
            <a:endParaRPr lang="en-US" sz="1600" dirty="0"/>
          </a:p>
        </p:txBody>
      </p:sp>
      <p:sp>
        <p:nvSpPr>
          <p:cNvPr id="22" name="Shape 19"/>
          <p:cNvSpPr/>
          <p:nvPr/>
        </p:nvSpPr>
        <p:spPr>
          <a:xfrm>
            <a:off x="5413248" y="2916936"/>
            <a:ext cx="2926080" cy="0"/>
          </a:xfrm>
          <a:prstGeom prst="line">
            <a:avLst/>
          </a:prstGeom>
          <a:noFill/>
          <a:ln w="21590">
            <a:solidFill>
              <a:srgbClr val="397C25"/>
            </a:solidFill>
            <a:prstDash val="solid"/>
            <a:tailEnd type="triangle"/>
          </a:ln>
        </p:spPr>
        <p:txBody>
          <a:bodyPr/>
          <a:lstStyle/>
          <a:p>
            <a:endParaRPr lang="en-ZA"/>
          </a:p>
        </p:txBody>
      </p:sp>
      <p:sp>
        <p:nvSpPr>
          <p:cNvPr id="23" name="Text 20"/>
          <p:cNvSpPr/>
          <p:nvPr/>
        </p:nvSpPr>
        <p:spPr>
          <a:xfrm>
            <a:off x="5449824" y="2653589"/>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aiMove(gameId)</a:t>
            </a:r>
            <a:endParaRPr lang="en-US" sz="1600" dirty="0"/>
          </a:p>
        </p:txBody>
      </p:sp>
      <p:sp>
        <p:nvSpPr>
          <p:cNvPr id="24" name="Shape 21"/>
          <p:cNvSpPr/>
          <p:nvPr/>
        </p:nvSpPr>
        <p:spPr>
          <a:xfrm>
            <a:off x="8339328" y="3209544"/>
            <a:ext cx="2633472" cy="0"/>
          </a:xfrm>
          <a:prstGeom prst="line">
            <a:avLst/>
          </a:prstGeom>
          <a:noFill/>
          <a:ln w="21590">
            <a:solidFill>
              <a:srgbClr val="397C25"/>
            </a:solidFill>
            <a:prstDash val="solid"/>
            <a:tailEnd type="triangle"/>
          </a:ln>
        </p:spPr>
        <p:txBody>
          <a:bodyPr/>
          <a:lstStyle/>
          <a:p>
            <a:endParaRPr lang="en-ZA"/>
          </a:p>
        </p:txBody>
      </p:sp>
      <p:sp>
        <p:nvSpPr>
          <p:cNvPr id="25" name="Text 22"/>
          <p:cNvSpPr/>
          <p:nvPr/>
        </p:nvSpPr>
        <p:spPr>
          <a:xfrm>
            <a:off x="8375904" y="2946197"/>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Server model call: O move</a:t>
            </a:r>
            <a:endParaRPr lang="en-US" sz="1600" dirty="0"/>
          </a:p>
        </p:txBody>
      </p:sp>
      <p:sp>
        <p:nvSpPr>
          <p:cNvPr id="26" name="Shape 23"/>
          <p:cNvSpPr/>
          <p:nvPr/>
        </p:nvSpPr>
        <p:spPr>
          <a:xfrm>
            <a:off x="8339328" y="3502152"/>
            <a:ext cx="2633472" cy="0"/>
          </a:xfrm>
          <a:prstGeom prst="line">
            <a:avLst/>
          </a:prstGeom>
          <a:noFill/>
          <a:ln w="21590">
            <a:solidFill>
              <a:srgbClr val="397C25"/>
            </a:solidFill>
            <a:prstDash val="dash"/>
            <a:headEnd type="triangle"/>
          </a:ln>
        </p:spPr>
        <p:txBody>
          <a:bodyPr/>
          <a:lstStyle/>
          <a:p>
            <a:endParaRPr lang="en-ZA"/>
          </a:p>
        </p:txBody>
      </p:sp>
      <p:sp>
        <p:nvSpPr>
          <p:cNvPr id="27" name="Text 24"/>
          <p:cNvSpPr/>
          <p:nvPr/>
        </p:nvSpPr>
        <p:spPr>
          <a:xfrm>
            <a:off x="8375904" y="3238805"/>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Index; validate and apply O</a:t>
            </a:r>
            <a:endParaRPr lang="en-US" sz="1600" dirty="0"/>
          </a:p>
        </p:txBody>
      </p:sp>
      <p:sp>
        <p:nvSpPr>
          <p:cNvPr id="28" name="Shape 25"/>
          <p:cNvSpPr/>
          <p:nvPr/>
        </p:nvSpPr>
        <p:spPr>
          <a:xfrm>
            <a:off x="5413248" y="3794760"/>
            <a:ext cx="2926080" cy="0"/>
          </a:xfrm>
          <a:prstGeom prst="line">
            <a:avLst/>
          </a:prstGeom>
          <a:noFill/>
          <a:ln w="21590">
            <a:solidFill>
              <a:srgbClr val="397C25"/>
            </a:solidFill>
            <a:prstDash val="dash"/>
            <a:headEnd type="triangle"/>
          </a:ln>
        </p:spPr>
        <p:txBody>
          <a:bodyPr/>
          <a:lstStyle/>
          <a:p>
            <a:endParaRPr lang="en-ZA"/>
          </a:p>
        </p:txBody>
      </p:sp>
      <p:sp>
        <p:nvSpPr>
          <p:cNvPr id="29" name="Text 26"/>
          <p:cNvSpPr/>
          <p:nvPr/>
        </p:nvSpPr>
        <p:spPr>
          <a:xfrm>
            <a:off x="5449824" y="3531413"/>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Tool result: board after O</a:t>
            </a:r>
            <a:endParaRPr lang="en-US" sz="1600" dirty="0"/>
          </a:p>
        </p:txBody>
      </p:sp>
      <p:sp>
        <p:nvSpPr>
          <p:cNvPr id="30" name="Shape 27"/>
          <p:cNvSpPr/>
          <p:nvPr/>
        </p:nvSpPr>
        <p:spPr>
          <a:xfrm>
            <a:off x="5413248" y="4087368"/>
            <a:ext cx="5559552" cy="0"/>
          </a:xfrm>
          <a:prstGeom prst="line">
            <a:avLst/>
          </a:prstGeom>
          <a:noFill/>
          <a:ln w="21590">
            <a:solidFill>
              <a:srgbClr val="397C25"/>
            </a:solidFill>
            <a:prstDash val="solid"/>
            <a:tailEnd type="triangle"/>
          </a:ln>
        </p:spPr>
        <p:txBody>
          <a:bodyPr/>
          <a:lstStyle/>
          <a:p>
            <a:endParaRPr lang="en-ZA"/>
          </a:p>
        </p:txBody>
      </p:sp>
      <p:sp>
        <p:nvSpPr>
          <p:cNvPr id="31" name="Text 28"/>
          <p:cNvSpPr/>
          <p:nvPr/>
        </p:nvSpPr>
        <p:spPr>
          <a:xfrm>
            <a:off x="5449824" y="3824021"/>
            <a:ext cx="54864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Return aiMove result to client model</a:t>
            </a:r>
            <a:endParaRPr lang="en-US" sz="1600" dirty="0"/>
          </a:p>
        </p:txBody>
      </p:sp>
      <p:sp>
        <p:nvSpPr>
          <p:cNvPr id="32" name="Shape 29"/>
          <p:cNvSpPr/>
          <p:nvPr/>
        </p:nvSpPr>
        <p:spPr>
          <a:xfrm>
            <a:off x="5413248" y="4379976"/>
            <a:ext cx="5559552" cy="0"/>
          </a:xfrm>
          <a:prstGeom prst="line">
            <a:avLst/>
          </a:prstGeom>
          <a:noFill/>
          <a:ln w="21590">
            <a:solidFill>
              <a:srgbClr val="397C25"/>
            </a:solidFill>
            <a:prstDash val="dash"/>
            <a:headEnd type="triangle"/>
          </a:ln>
        </p:spPr>
        <p:txBody>
          <a:bodyPr/>
          <a:lstStyle/>
          <a:p>
            <a:endParaRPr lang="en-ZA"/>
          </a:p>
        </p:txBody>
      </p:sp>
      <p:sp>
        <p:nvSpPr>
          <p:cNvPr id="33" name="Text 30"/>
          <p:cNvSpPr/>
          <p:nvPr/>
        </p:nvSpPr>
        <p:spPr>
          <a:xfrm>
            <a:off x="5449824" y="4116629"/>
            <a:ext cx="54864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Final natural-language reply</a:t>
            </a:r>
            <a:endParaRPr lang="en-US" sz="1600" dirty="0"/>
          </a:p>
        </p:txBody>
      </p:sp>
      <p:sp>
        <p:nvSpPr>
          <p:cNvPr id="34" name="Shape 31"/>
          <p:cNvSpPr/>
          <p:nvPr/>
        </p:nvSpPr>
        <p:spPr>
          <a:xfrm>
            <a:off x="5413248" y="4672584"/>
            <a:ext cx="2926080" cy="0"/>
          </a:xfrm>
          <a:prstGeom prst="line">
            <a:avLst/>
          </a:prstGeom>
          <a:noFill/>
          <a:ln w="21590">
            <a:solidFill>
              <a:srgbClr val="397C25"/>
            </a:solidFill>
            <a:prstDash val="solid"/>
            <a:tailEnd type="triangle"/>
          </a:ln>
        </p:spPr>
        <p:txBody>
          <a:bodyPr/>
          <a:lstStyle/>
          <a:p>
            <a:endParaRPr lang="en-ZA"/>
          </a:p>
        </p:txBody>
      </p:sp>
      <p:sp>
        <p:nvSpPr>
          <p:cNvPr id="35" name="Text 32"/>
          <p:cNvSpPr/>
          <p:nvPr/>
        </p:nvSpPr>
        <p:spPr>
          <a:xfrm>
            <a:off x="5449824" y="4409237"/>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getBoardState(gameId)</a:t>
            </a:r>
            <a:endParaRPr lang="en-US" sz="1600" dirty="0"/>
          </a:p>
        </p:txBody>
      </p:sp>
      <p:sp>
        <p:nvSpPr>
          <p:cNvPr id="36" name="Shape 33"/>
          <p:cNvSpPr/>
          <p:nvPr/>
        </p:nvSpPr>
        <p:spPr>
          <a:xfrm>
            <a:off x="5413248" y="4965192"/>
            <a:ext cx="2926080" cy="0"/>
          </a:xfrm>
          <a:prstGeom prst="line">
            <a:avLst/>
          </a:prstGeom>
          <a:noFill/>
          <a:ln w="21590">
            <a:solidFill>
              <a:srgbClr val="397C25"/>
            </a:solidFill>
            <a:prstDash val="dash"/>
            <a:headEnd type="triangle"/>
          </a:ln>
        </p:spPr>
        <p:txBody>
          <a:bodyPr/>
          <a:lstStyle/>
          <a:p>
            <a:endParaRPr lang="en-ZA"/>
          </a:p>
        </p:txBody>
      </p:sp>
      <p:sp>
        <p:nvSpPr>
          <p:cNvPr id="37" name="Text 34"/>
          <p:cNvSpPr/>
          <p:nvPr/>
        </p:nvSpPr>
        <p:spPr>
          <a:xfrm>
            <a:off x="5449824" y="4701845"/>
            <a:ext cx="2852928"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Fresh gameState for browser</a:t>
            </a:r>
            <a:endParaRPr lang="en-US" sz="1600" dirty="0"/>
          </a:p>
        </p:txBody>
      </p:sp>
      <p:sp>
        <p:nvSpPr>
          <p:cNvPr id="38" name="Shape 35"/>
          <p:cNvSpPr/>
          <p:nvPr/>
        </p:nvSpPr>
        <p:spPr>
          <a:xfrm>
            <a:off x="2788920" y="5257800"/>
            <a:ext cx="2624328" cy="0"/>
          </a:xfrm>
          <a:prstGeom prst="line">
            <a:avLst/>
          </a:prstGeom>
          <a:noFill/>
          <a:ln w="21590">
            <a:solidFill>
              <a:srgbClr val="397C25"/>
            </a:solidFill>
            <a:prstDash val="dash"/>
            <a:headEnd type="triangle"/>
          </a:ln>
        </p:spPr>
        <p:txBody>
          <a:bodyPr/>
          <a:lstStyle/>
          <a:p>
            <a:endParaRPr lang="en-ZA"/>
          </a:p>
        </p:txBody>
      </p:sp>
      <p:sp>
        <p:nvSpPr>
          <p:cNvPr id="39" name="Text 36"/>
          <p:cNvSpPr/>
          <p:nvPr/>
        </p:nvSpPr>
        <p:spPr>
          <a:xfrm>
            <a:off x="2825496" y="4994453"/>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{reply, gameId, gameState}</a:t>
            </a:r>
            <a:endParaRPr lang="en-US" sz="1600" dirty="0"/>
          </a:p>
        </p:txBody>
      </p:sp>
      <p:sp>
        <p:nvSpPr>
          <p:cNvPr id="40" name="Shape 37"/>
          <p:cNvSpPr/>
          <p:nvPr/>
        </p:nvSpPr>
        <p:spPr>
          <a:xfrm>
            <a:off x="859536" y="5550408"/>
            <a:ext cx="1929384" cy="0"/>
          </a:xfrm>
          <a:prstGeom prst="line">
            <a:avLst/>
          </a:prstGeom>
          <a:noFill/>
          <a:ln w="21590">
            <a:solidFill>
              <a:srgbClr val="397C25"/>
            </a:solidFill>
            <a:prstDash val="dash"/>
            <a:headEnd type="triangle"/>
          </a:ln>
        </p:spPr>
        <p:txBody>
          <a:bodyPr/>
          <a:lstStyle/>
          <a:p>
            <a:endParaRPr lang="en-ZA"/>
          </a:p>
        </p:txBody>
      </p:sp>
      <p:sp>
        <p:nvSpPr>
          <p:cNvPr id="41" name="Text 38"/>
          <p:cNvSpPr/>
          <p:nvPr/>
        </p:nvSpPr>
        <p:spPr>
          <a:xfrm>
            <a:off x="896112" y="5287061"/>
            <a:ext cx="2743200" cy="250546"/>
          </a:xfrm>
          <a:prstGeom prst="rect">
            <a:avLst/>
          </a:prstGeom>
          <a:noFill/>
          <a:ln/>
        </p:spPr>
        <p:txBody>
          <a:bodyPr wrap="square" lIns="0" tIns="0" rIns="0" bIns="0" rtlCol="0" anchor="t"/>
          <a:lstStyle/>
          <a:p>
            <a:pPr marL="0" indent="0">
              <a:buNone/>
            </a:pPr>
            <a:r>
              <a:rPr lang="en-US" sz="1600" dirty="0">
                <a:solidFill>
                  <a:srgbClr val="202A25"/>
                </a:solidFill>
                <a:latin typeface="Calibri" pitchFamily="34" charset="0"/>
                <a:ea typeface="Calibri" pitchFamily="34" charset="-122"/>
                <a:cs typeface="Calibri" pitchFamily="34" charset="-120"/>
              </a:rPr>
              <a:t>Reply + updated board</a:t>
            </a:r>
            <a:endParaRPr lang="en-US" sz="1600" dirty="0"/>
          </a:p>
        </p:txBody>
      </p:sp>
      <p:sp>
        <p:nvSpPr>
          <p:cNvPr id="42" name="Text 39"/>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Server strategy and client orchestration are separate model calls. The final reply comes from the model.</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Other protocol primitives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MCP supports more than callable tools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22 / 24</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SPRING AI MCP ANNOTATIONS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Server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@McpTool         callable operations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@McpResource     read-only data by URI</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@McpPrompt       named prompt templates</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Client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@McpSampling     server requests model output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@McpElicitation  structured user input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@McpProgress     progress notifications</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@McpLogging      structured log events</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This module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Implements tools, not every listed primitive.</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Callback features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Require client support and suitable session handling.</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Trust boundary</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Treat server requests as capabilities to authorize.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server's aiMove ChatClient call is not MCP sampling.</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05  /  Workshop demonstration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Run both processes and exercise both paths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05 MCP</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23 / 24</a:t>
            </a:r>
            <a:endParaRPr lang="en-US" sz="1200" dirty="0"/>
          </a:p>
        </p:txBody>
      </p:sp>
      <p:sp>
        <p:nvSpPr>
          <p:cNvPr id="6" name="Shape 4"/>
          <p:cNvSpPr/>
          <p:nvPr/>
        </p:nvSpPr>
        <p:spPr>
          <a:xfrm>
            <a:off x="548640" y="1773936"/>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7" name="Text 5"/>
          <p:cNvSpPr/>
          <p:nvPr/>
        </p:nvSpPr>
        <p:spPr>
          <a:xfrm>
            <a:off x="548640" y="1828800"/>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98448" y="1746504"/>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Start the server from 05-mcp</a:t>
            </a:r>
            <a:endParaRPr lang="en-US" sz="2400" dirty="0"/>
          </a:p>
        </p:txBody>
      </p:sp>
      <p:sp>
        <p:nvSpPr>
          <p:cNvPr id="9" name="Text 7"/>
          <p:cNvSpPr/>
          <p:nvPr/>
        </p:nvSpPr>
        <p:spPr>
          <a:xfrm>
            <a:off x="1298448" y="2231136"/>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PowerShell: .\start-server.ps1    |    Bash: ./start-server.sh    |    port 8085</a:t>
            </a:r>
            <a:endParaRPr lang="en-US" sz="2000" dirty="0"/>
          </a:p>
        </p:txBody>
      </p:sp>
      <p:sp>
        <p:nvSpPr>
          <p:cNvPr id="10" name="Shape 8"/>
          <p:cNvSpPr/>
          <p:nvPr/>
        </p:nvSpPr>
        <p:spPr>
          <a:xfrm>
            <a:off x="548640" y="3060192"/>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1" name="Text 9"/>
          <p:cNvSpPr/>
          <p:nvPr/>
        </p:nvSpPr>
        <p:spPr>
          <a:xfrm>
            <a:off x="548640" y="3115056"/>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98448" y="3032760"/>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Start the client from 05-mcp</a:t>
            </a:r>
            <a:endParaRPr lang="en-US" sz="2400" dirty="0"/>
          </a:p>
        </p:txBody>
      </p:sp>
      <p:sp>
        <p:nvSpPr>
          <p:cNvPr id="13" name="Text 11"/>
          <p:cNvSpPr/>
          <p:nvPr/>
        </p:nvSpPr>
        <p:spPr>
          <a:xfrm>
            <a:off x="1298448" y="3517392"/>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PowerShell: .\start-client.ps1    |    Bash: ./start-client.sh    |    localhost:8082</a:t>
            </a:r>
            <a:endParaRPr lang="en-US" sz="2000" dirty="0"/>
          </a:p>
        </p:txBody>
      </p:sp>
      <p:sp>
        <p:nvSpPr>
          <p:cNvPr id="14" name="Shape 12"/>
          <p:cNvSpPr/>
          <p:nvPr/>
        </p:nvSpPr>
        <p:spPr>
          <a:xfrm>
            <a:off x="548640" y="4346448"/>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5" name="Text 13"/>
          <p:cNvSpPr/>
          <p:nvPr/>
        </p:nvSpPr>
        <p:spPr>
          <a:xfrm>
            <a:off x="548640" y="4401312"/>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98448" y="4319016"/>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Compare board and chat actions</a:t>
            </a:r>
            <a:endParaRPr lang="en-US" sz="2400" dirty="0"/>
          </a:p>
        </p:txBody>
      </p:sp>
      <p:sp>
        <p:nvSpPr>
          <p:cNvPr id="17" name="Text 15"/>
          <p:cNvSpPr/>
          <p:nvPr/>
        </p:nvSpPr>
        <p:spPr>
          <a:xfrm>
            <a:off x="1298448" y="4803648"/>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Click New Game and a cell; ask chat to place X in an empty cell. Verify the board, then continue by clicking.</a:t>
            </a:r>
            <a:endParaRPr lang="en-US" sz="20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Server first, client second. Use the same game when moving between board and chat.</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05</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Publish one capability and reuse it two ways</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Add a small read-only @McpTool to the server.</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Discover and call it directly through ToolCallback.</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Make it available to chat and inspect the same server result.</a:t>
            </a:r>
            <a:endParaRPr lang="en-US" sz="2100" dirty="0"/>
          </a:p>
        </p:txBody>
      </p:sp>
      <p:pic>
        <p:nvPicPr>
          <p:cNvPr id="7" name="Image 0" descr="mcp architecture"/>
          <p:cNvPicPr>
            <a:picLocks noChangeAspect="1"/>
          </p:cNvPicPr>
          <p:nvPr/>
        </p:nvPicPr>
        <p:blipFill>
          <a:blip r:embed="rId3"/>
          <a:stretch>
            <a:fillRect/>
          </a:stretch>
        </p:blipFill>
        <p:spPr>
          <a:xfrm>
            <a:off x="6217920" y="2395728"/>
            <a:ext cx="4690872" cy="3127248"/>
          </a:xfrm>
          <a:prstGeom prst="rect">
            <a:avLst/>
          </a:prstGeom>
        </p:spPr>
      </p:pic>
      <p:sp>
        <p:nvSpPr>
          <p:cNvPr id="8" name="Text 5"/>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86CF54"/>
                </a:solidFill>
                <a:latin typeface="Calibri" pitchFamily="34" charset="0"/>
                <a:ea typeface="Calibri" pitchFamily="34" charset="-122"/>
                <a:cs typeface="Calibri" pitchFamily="34" charset="-120"/>
              </a:rPr>
              <a:t>Next: compose Spring AI calls into explicit agentic workflows.</a:t>
            </a:r>
            <a:endParaRPr lang="en-US" sz="18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05 MCP</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24 / 24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5324</Words>
  <Application>Microsoft Office PowerPoint</Application>
  <PresentationFormat>Widescreen</PresentationFormat>
  <Paragraphs>437</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Spring AI for Beginners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with Spring AI</dc:title>
  <dc:subject>Spring AI module teaching presentation</dc:subject>
  <dc:creator>Spring AI for Beginners</dc:creator>
  <cp:lastModifiedBy>Rory Preddy</cp:lastModifiedBy>
  <cp:revision>2</cp:revision>
  <dcterms:created xsi:type="dcterms:W3CDTF">2026-09-07T13:29:54Z</dcterms:created>
  <dcterms:modified xsi:type="dcterms:W3CDTF">2026-09-08T06:17:22Z</dcterms:modified>
</cp:coreProperties>
</file>