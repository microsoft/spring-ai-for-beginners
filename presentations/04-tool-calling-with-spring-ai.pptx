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196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3046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module around connecting an LLM to application capabilities. The workshop uses weather and temperature conversion tools with Spring AI ChatClient. Weather data is synthetic; conversion math runs in Java. The term agent here means a tool-enabled assistant. Module 06 explores explicit multi-stage orchestration patterns, which are a different control layer.
Repository sources:
04-tools/README.md
04-tools/src/main/java/com/example/springai/tools/service/AgentService.java
04-tools/src/main/java/com/example/springai/tools/tools/WeatherTool.java
04-tools/src/main/java/com/example/springai/tools/tools/TemperatureTool.java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reuses the existing LLM artwork but reconnects request, execution, result, and generated answer. The model chooses getCurrentWeather; Spring AI invokes it in the application. The tool result returns to the model, which then produces the user-facing text. The 22 C example is illustrative; the workshop tool randomizes weather and does not query a real weather API. Exposed tool capabilities remain application-controlled, not arbitrary model execution.
Repository sources:
04-tools/README.md
04-tools/src/main/java/com/example/springai/tools/tools/WeatherTool.java
04-tools/src/main/java/com/example/springai/tools/tools/TemperatureTool.java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excerpt is a request to convert 100 Fahrenheit. The right excerpt follows a separate Seattle weather response of 27 Celsius and the user request Now convert that temperature to Fahrenheit. This antecedent explains celsius=27.0; it does not come from the earlier 100-Fahrenheit conversion. ToolExecutionInfo records actual method names and arguments, not raw return values. Generated prose is not invocation evidence, and the randomized weather changes between runs.
Repository sources:
04-tools/README.md
04-tools/src/main/java/com/example/springai/tools/model/dto/ToolExecutionInfo.java
04-tools/src/main/java/com/example/springai/tools/service/AgentService.java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complete tool cycle and the decision to continue or answer. The model chooses a capability, Spring AI dispatches it, and the real output returns to the model before its next decision. If another tool is needed, repeat the four tool-request/execution/result messages rather than inventing a result. The final natural-language answer originates from the model after observations. This illustrates externally visible tool behavior, not private model reasoning.
Repository sources:
04-tools/README.md
04-tools/src/main/java/com/example/springai/tools/service/AgentService.java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scenario uses the actual TemperatureTool method and parameter names, avoiding the incorrect temp parameter in the old generated flow illustration. The tool calculates (100 minus 32) times five-ninths and displays one decimal, 37.8 Celsius. Spring AI returns the formatted method result to the model before the final answer. Tool metadata is supplied separately by the application recorder. The user artwork comes from an existing repository diagram; all arrows now have explicit source and destination.
Repository sources:
04-tools/README.md
04-tools/src/main/java/com/example/springai/tools/service/AgentService.java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root POM provides spring-ai-starter-model-openai and spring-ai-client-chat; Module 04 adds Thymeleaf, not another Spring AI tool artifact. Spring Boot injects ChatClient.Builder. AgentService constructs the tool objects and recorder itself. Do not claim the tools are automatically component-scanned and globally available just because their methods have annotations.
Repository sources:
04-tools/src/main/java/com/example/springai/tools/service/AgentService.java
04-tools/pom.xml
pom.xml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annotation and signature from TemperatureTool, with the body omitted. The correct Spring AI annotation syntax uses description attributes. Spring AI inspects registered annotated instances to construct tool definitions and parameter schemas. Descriptions are guidance to the model, not runtime validation or authorization. Validate arguments inside the tool when correctness or safety requires it.
Repository sources:
04-tools/src/main/java/com/example/springai/tools/tools/TemperatureTool.java
04-tools/src/main/java/com/example/springai/tools/tools/WeatherTool.java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illustrates matching a user need to a capability. Do not claim the application computes an explicit relevance score for every tool or guarantees the most specific tool will always be selected. The model sees tool names, descriptions, and parameter definitions and generates a call. Test ambiguous phrasing, wrong units, and requests that should not trigger any tool.
Repository sources:
04-tools/README.md
04-tools/src/main/java/com/example/springai/tools/tools/WeatherTool.java
04-tools/src/main/java/com/example/springai/tools/tools/TemperatureTool.java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core of executeTask. It loads messages from ChatMemory and supplies the two tool instances with .tools. Spring AI handles the model request, argument conversion, tool invocation, and subsequent model response. Restricting available tools is an application responsibility. This flow does not implement authorization checks or human approval for side-effecting actions.
Repository sources:
04-tools/src/main/java/com/example/springai/tools/service/AgentService.java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actual available-tool list from AgentService. The two weather methods return mock data, and the six temperature methods implement conversions in Java. Splitting conversion directions into separate tools gives each method clear units. The generic ecosystem image in the README shows possibilities beyond this set; this module does not implement email, payment, or database tools.
Repository sources:
04-tools/src/main/java/com/example/springai/tools/service/AgentService.java
04-tools/src/main/java/com/example/springai/tools/tools/WeatherTool.java
04-tools/src/main/java/com/example/springai/tools/tools/TemperatureTool.java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uses Random, not a fixed city database or remote weather provider. nextInt(20) returns zero through nineteen, making the temperature range 15 through 34 despite a broader source comment. An unknown-city example will not trigger a lookup failure in this implementation. A real provider integration would require credentials, timeouts, rate handling, validation, and tests.
Repository sources:
04-tools/src/main/java/com/example/springai/tools/tools/WeatherTool.java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independent calculation excerpts from different conversion methods, not one method with duplicate local variables. The formulas are deterministic and can be unit-tested without any model calls. Tool selection can still be wrong, so both the math and orchestration need checks. Kelvin-input methods reject negative Kelvin; validation is not uniform across every conversion direction in the current code.
Repository sources:
04-tools/src/main/java/com/example/springai/tools/tools/TemperatureTool.java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a specific two-tool sequence: getCurrentWeather, its real return to the model, celsiusToFahrenheit with that Celsius value, then the conversion return and final answer. The example 22 Celsius produces 71.6 Fahrenheit; live weather is randomized, so the values vary. Spring AI executes each selected method. To verify result reuse, compare a captured raw weather output with the subsequent conversion argument; the invocation recorder alone does not store the weather return.
Repository sources:
04-tools/README.md
04-tools/src/main/java/com/example/springai/tools/service/AgentService.java
04-tools/src/main/java/com/example/springai/tools/tools/WeatherTool.java
04-tools/src/main/java/com/example/springai/tools/tools/TemperatureTool.java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recorder uses a ThreadLocal list scoped to the current synchronous agent request. It records completion or failure around a Supplier invocation and removes the list on stop. It does not currently provide a duration, result payload, or distributed trace in its primary record, despite a legacy constructor with older metadata. For asynchronous execution, recorder context propagation would need explicit design.
Repository sources:
04-tools/src/main/java/com/example/springai/tools/model/dto/ToolExecutionInfo.java
04-tools/src/main/java/com/example/springai/tools/service/AgentService.java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AgentService creates a UUID when no session ID is supplied. It adds a UserMessage, calls ChatClient with the retained history, and adds the final AssistantMessage. Intermediate tool exchanges are managed inside the call; this code does not separately archive them into the long-term ChatMemory window. Twenty messages is not twenty turns or a token cap. Session IDs are not access-control checks, and memory is not durable.
Repository sources:
04-tools/src/main/java/com/example/springai/tools/service/AgentService.java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separate validation excerpts from WeatherTool and TemperatureTool, wrapped for legibility. A returned domain message is still a completed Java invocation. A RuntimeException causes the recorder to mark failure and rethrow. Spring AI exception policy determines what can be sent back to the model; AgentService also has a catch block that returns a failed AgentResponse. Error handling, bounded retries, and user-safe messages need deliberate production design.
Repository sources:
04-tools/src/main/java/com/example/springai/tools/tools/WeatherTool.java
04-tools/src/main/java/com/example/springai/tools/tools/TemperatureTool.java
04-tools/src/main/java/com/example/springai/tools/model/dto/ToolExecutionInfo.java
04-tools/src/main/java/com/example/springai/tools/service/AgentService.java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initiating questions are now explicitly connected. RAG retrieves passages and assembles context before generation. Tool calling first asks the model to select a capability, executes it in application code, and feeds the result back before the model returns a final answer. The existing model artwork is reused with corrected connectors. The distinction is not strictly static versus dynamic or read-only versus write: corpora can be refreshed and tools can be read-only. Applications often combine both patterns.
Repository sources:
04-tools/README.md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ecosystem graphic illustrates potential integrations, not tools implemented here. Weather lookups, calculations, database access, email, and payments have different risk profiles. The model should receive only the capabilities appropriate for the request. The current demo does not implement approval workflows, payment operations, or production authorization. General text generation does not need tools merely because tools are available.
Repository sources:
04-tools/README.md
04-tools/src/main/java/com/example/springai/tools/service/AgentService.java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shared Module 01 environment. A single Fahrenheit conversion should display the fahrenheitToCelsius invocation. The weather-plus-conversion request can demonstrate multiple tool calls; inspect the actual generated sequence rather than requiring a fixed count for every model run. Continue within the same session to use prior context. For limits, test a forecast beyond seven days or a negative Kelvin input; an unknown city is not a failure case for this mock.
Repository sources:
04-tools/README.md
04-tools/src/main/java/com/example/springai/tools/service/AgentService.java
04-tools/src/main/java/com/example/springai/tools/tools/WeatherTool.java
04-tools/src/main/java/com/example/springai/tools/tools/TemperatureTool.java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should extend the existing pattern without broad new infrastructure. A small unit conversion or a controlled application lookup is sufficient. Write direct Java tests for the operation and validation, then test model selection with clear, ambiguous, and irrelevant prompts. Inspect the recorder to distinguish tool use from generated claims. The next module moves tool contracts out of process while retaining application control over execution.
Repository sources:
04-tools/src/main/java/com/example/springai/tools/service/AgentService.java
04-tools/src/main/java/com/example/springai/tools/tools/TemperatureTool.java
04-tools/src/main/java/com/example/springai/tools/model/dto/ToolExecutionInfo.java
04-tools/README.md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A25"/>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t"/>
          <a:lstStyle/>
          <a:p>
            <a:pPr marL="0" indent="0">
              <a:buNone/>
            </a:pPr>
            <a:r>
              <a:rPr lang="en-US" sz="1400" b="1" dirty="0">
                <a:solidFill>
                  <a:srgbClr val="86CF54"/>
                </a:solidFill>
                <a:latin typeface="Calibri" pitchFamily="34" charset="0"/>
                <a:ea typeface="Calibri" pitchFamily="34" charset="-122"/>
                <a:cs typeface="Calibri" pitchFamily="34" charset="-120"/>
              </a:rPr>
              <a:t>SPRING AI  /  MODULE 04</a:t>
            </a:r>
            <a:endParaRPr lang="en-US" sz="1400" dirty="0"/>
          </a:p>
        </p:txBody>
      </p:sp>
      <p:sp>
        <p:nvSpPr>
          <p:cNvPr id="3" name="Text 1"/>
          <p:cNvSpPr/>
          <p:nvPr/>
        </p:nvSpPr>
        <p:spPr>
          <a:xfrm>
            <a:off x="548640" y="950976"/>
            <a:ext cx="10972800" cy="1197864"/>
          </a:xfrm>
          <a:prstGeom prst="rect">
            <a:avLst/>
          </a:prstGeom>
          <a:noFill/>
          <a:ln/>
        </p:spPr>
        <p:txBody>
          <a:bodyPr wrap="square" lIns="0" tIns="0" rIns="0" bIns="0" rtlCol="0" anchor="t"/>
          <a:lstStyle/>
          <a:p>
            <a:pPr marL="0" indent="0">
              <a:buNone/>
            </a:pPr>
            <a:r>
              <a:rPr lang="en-US" sz="4000" b="1" dirty="0">
                <a:solidFill>
                  <a:srgbClr val="FFFFFF"/>
                </a:solidFill>
                <a:latin typeface="Trebuchet MS" pitchFamily="34" charset="0"/>
                <a:ea typeface="Trebuchet MS" pitchFamily="34" charset="-122"/>
                <a:cs typeface="Trebuchet MS" pitchFamily="34" charset="-120"/>
              </a:rPr>
              <a:t>Tool calling with Spring AI</a:t>
            </a:r>
            <a:endParaRPr lang="en-US" sz="4000" dirty="0"/>
          </a:p>
        </p:txBody>
      </p:sp>
      <p:sp>
        <p:nvSpPr>
          <p:cNvPr id="4" name="Text 2"/>
          <p:cNvSpPr/>
          <p:nvPr/>
        </p:nvSpPr>
        <p:spPr>
          <a:xfrm>
            <a:off x="548640" y="2423160"/>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Expose Java capabilities with @Tool.</a:t>
            </a:r>
            <a:endParaRPr lang="en-US" sz="2100" dirty="0"/>
          </a:p>
        </p:txBody>
      </p:sp>
      <p:sp>
        <p:nvSpPr>
          <p:cNvPr id="5" name="Text 3"/>
          <p:cNvSpPr/>
          <p:nvPr/>
        </p:nvSpPr>
        <p:spPr>
          <a:xfrm>
            <a:off x="548640" y="3410712"/>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Let ChatClient manage the tool-call loop.</a:t>
            </a:r>
            <a:endParaRPr lang="en-US" sz="2100" dirty="0"/>
          </a:p>
        </p:txBody>
      </p:sp>
      <p:sp>
        <p:nvSpPr>
          <p:cNvPr id="6" name="Text 4"/>
          <p:cNvSpPr/>
          <p:nvPr/>
        </p:nvSpPr>
        <p:spPr>
          <a:xfrm>
            <a:off x="548640" y="4398264"/>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Inspect real calls, chained results, and session context.</a:t>
            </a:r>
            <a:endParaRPr lang="en-US" sz="2100" dirty="0"/>
          </a:p>
        </p:txBody>
      </p:sp>
      <p:sp>
        <p:nvSpPr>
          <p:cNvPr id="9" name="Text 6"/>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B9CBB9"/>
                </a:solidFill>
                <a:latin typeface="Calibri" pitchFamily="34" charset="0"/>
                <a:ea typeface="Calibri" pitchFamily="34" charset="-122"/>
                <a:cs typeface="Calibri" pitchFamily="34" charset="-120"/>
              </a:rPr>
              <a:t>SPRING AI FOR BEGINNERS  /  04 Tool Calling</a:t>
            </a:r>
            <a:endParaRPr lang="en-US" sz="1050" dirty="0"/>
          </a:p>
        </p:txBody>
      </p:sp>
      <p:sp>
        <p:nvSpPr>
          <p:cNvPr id="10" name="Text 7"/>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B9CBB9"/>
                </a:solidFill>
                <a:latin typeface="Calibri" pitchFamily="34" charset="0"/>
                <a:ea typeface="Calibri" pitchFamily="34" charset="-122"/>
                <a:cs typeface="Calibri" pitchFamily="34" charset="-120"/>
              </a:rPr>
              <a:t>01 / 20</a:t>
            </a:r>
            <a:endParaRPr lang="en-US" sz="1200" dirty="0"/>
          </a:p>
        </p:txBody>
      </p:sp>
      <p:pic>
        <p:nvPicPr>
          <p:cNvPr id="12" name="Picture 11">
            <a:extLst>
              <a:ext uri="{FF2B5EF4-FFF2-40B4-BE49-F238E27FC236}">
                <a16:creationId xmlns:a16="http://schemas.microsoft.com/office/drawing/2014/main" id="{96148F32-5791-ECF1-2834-BC0AB4F5008D}"/>
              </a:ext>
            </a:extLst>
          </p:cNvPr>
          <p:cNvPicPr>
            <a:picLocks noChangeAspect="1"/>
          </p:cNvPicPr>
          <p:nvPr/>
        </p:nvPicPr>
        <p:blipFill>
          <a:blip r:embed="rId3"/>
          <a:stretch>
            <a:fillRect/>
          </a:stretch>
        </p:blipFill>
        <p:spPr>
          <a:xfrm>
            <a:off x="5969358" y="1764728"/>
            <a:ext cx="6082643" cy="36931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Why tools matter</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Text generation is not the same as taking action</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02 / 20</a:t>
            </a:r>
            <a:endParaRPr lang="en-US" sz="1200" dirty="0"/>
          </a:p>
        </p:txBody>
      </p:sp>
      <p:pic>
        <p:nvPicPr>
          <p:cNvPr id="6" name="Image 0" descr="what are tools"/>
          <p:cNvPicPr>
            <a:picLocks noChangeAspect="1"/>
          </p:cNvPicPr>
          <p:nvPr/>
        </p:nvPicPr>
        <p:blipFill>
          <a:blip r:embed="rId3"/>
          <a:stretch>
            <a:fillRect/>
          </a:stretch>
        </p:blipFill>
        <p:spPr>
          <a:xfrm>
            <a:off x="4380349" y="2377440"/>
            <a:ext cx="1334278" cy="1188720"/>
          </a:xfrm>
          <a:prstGeom prst="rect">
            <a:avLst/>
          </a:prstGeom>
        </p:spPr>
      </p:pic>
      <p:pic>
        <p:nvPicPr>
          <p:cNvPr id="7" name="Image 1" descr="what are tools"/>
          <p:cNvPicPr>
            <a:picLocks noChangeAspect="1"/>
          </p:cNvPicPr>
          <p:nvPr/>
        </p:nvPicPr>
        <p:blipFill>
          <a:blip r:embed="rId3"/>
          <a:stretch>
            <a:fillRect/>
          </a:stretch>
        </p:blipFill>
        <p:spPr>
          <a:xfrm>
            <a:off x="8116700" y="4416552"/>
            <a:ext cx="1231641" cy="1097280"/>
          </a:xfrm>
          <a:prstGeom prst="rect">
            <a:avLst/>
          </a:prstGeom>
        </p:spPr>
      </p:pic>
      <p:sp>
        <p:nvSpPr>
          <p:cNvPr id="8" name="Shape 4"/>
          <p:cNvSpPr/>
          <p:nvPr/>
        </p:nvSpPr>
        <p:spPr>
          <a:xfrm>
            <a:off x="3291840" y="2971800"/>
            <a:ext cx="1088511" cy="0"/>
          </a:xfrm>
          <a:prstGeom prst="line">
            <a:avLst/>
          </a:prstGeom>
          <a:noFill/>
          <a:ln w="21590">
            <a:solidFill>
              <a:srgbClr val="397C25"/>
            </a:solidFill>
            <a:prstDash val="solid"/>
            <a:tailEnd type="triangle"/>
          </a:ln>
        </p:spPr>
        <p:txBody>
          <a:bodyPr/>
          <a:lstStyle/>
          <a:p>
            <a:endParaRPr lang="en-ZA"/>
          </a:p>
        </p:txBody>
      </p:sp>
      <p:sp>
        <p:nvSpPr>
          <p:cNvPr id="9" name="Shape 5"/>
          <p:cNvSpPr/>
          <p:nvPr/>
        </p:nvSpPr>
        <p:spPr>
          <a:xfrm>
            <a:off x="5714625" y="2971800"/>
            <a:ext cx="1262247" cy="0"/>
          </a:xfrm>
          <a:prstGeom prst="line">
            <a:avLst/>
          </a:prstGeom>
          <a:noFill/>
          <a:ln w="21590">
            <a:solidFill>
              <a:srgbClr val="397C25"/>
            </a:solidFill>
            <a:prstDash val="solid"/>
            <a:tailEnd type="triangle"/>
          </a:ln>
        </p:spPr>
        <p:txBody>
          <a:bodyPr/>
          <a:lstStyle/>
          <a:p>
            <a:endParaRPr lang="en-ZA"/>
          </a:p>
        </p:txBody>
      </p:sp>
      <p:sp>
        <p:nvSpPr>
          <p:cNvPr id="10" name="Shape 6"/>
          <p:cNvSpPr/>
          <p:nvPr/>
        </p:nvSpPr>
        <p:spPr>
          <a:xfrm>
            <a:off x="9308592" y="3566160"/>
            <a:ext cx="0" cy="484632"/>
          </a:xfrm>
          <a:prstGeom prst="line">
            <a:avLst/>
          </a:prstGeom>
          <a:noFill/>
          <a:ln w="21590">
            <a:solidFill>
              <a:srgbClr val="397C25"/>
            </a:solidFill>
            <a:prstDash val="solid"/>
          </a:ln>
        </p:spPr>
        <p:txBody>
          <a:bodyPr/>
          <a:lstStyle/>
          <a:p>
            <a:endParaRPr lang="en-ZA"/>
          </a:p>
        </p:txBody>
      </p:sp>
      <p:sp>
        <p:nvSpPr>
          <p:cNvPr id="11" name="Shape 7"/>
          <p:cNvSpPr/>
          <p:nvPr/>
        </p:nvSpPr>
        <p:spPr>
          <a:xfrm>
            <a:off x="8732520" y="4050792"/>
            <a:ext cx="576072" cy="0"/>
          </a:xfrm>
          <a:prstGeom prst="line">
            <a:avLst/>
          </a:prstGeom>
          <a:noFill/>
          <a:ln w="21590">
            <a:solidFill>
              <a:srgbClr val="397C25"/>
            </a:solidFill>
            <a:prstDash val="solid"/>
          </a:ln>
        </p:spPr>
        <p:txBody>
          <a:bodyPr/>
          <a:lstStyle/>
          <a:p>
            <a:endParaRPr lang="en-ZA"/>
          </a:p>
        </p:txBody>
      </p:sp>
      <p:sp>
        <p:nvSpPr>
          <p:cNvPr id="12" name="Shape 8"/>
          <p:cNvSpPr/>
          <p:nvPr/>
        </p:nvSpPr>
        <p:spPr>
          <a:xfrm>
            <a:off x="8732520" y="4050792"/>
            <a:ext cx="0" cy="365760"/>
          </a:xfrm>
          <a:prstGeom prst="line">
            <a:avLst/>
          </a:prstGeom>
          <a:noFill/>
          <a:ln w="21590">
            <a:solidFill>
              <a:srgbClr val="397C25"/>
            </a:solidFill>
            <a:prstDash val="solid"/>
            <a:tailEnd type="triangle"/>
          </a:ln>
        </p:spPr>
        <p:txBody>
          <a:bodyPr/>
          <a:lstStyle/>
          <a:p>
            <a:endParaRPr lang="en-ZA"/>
          </a:p>
        </p:txBody>
      </p:sp>
      <p:sp>
        <p:nvSpPr>
          <p:cNvPr id="13" name="Shape 9"/>
          <p:cNvSpPr/>
          <p:nvPr/>
        </p:nvSpPr>
        <p:spPr>
          <a:xfrm>
            <a:off x="5788152" y="4965192"/>
            <a:ext cx="2328547" cy="0"/>
          </a:xfrm>
          <a:prstGeom prst="line">
            <a:avLst/>
          </a:prstGeom>
          <a:noFill/>
          <a:ln w="21590">
            <a:solidFill>
              <a:srgbClr val="397C25"/>
            </a:solidFill>
            <a:prstDash val="solid"/>
            <a:headEnd type="triangle"/>
          </a:ln>
        </p:spPr>
        <p:txBody>
          <a:bodyPr/>
          <a:lstStyle/>
          <a:p>
            <a:endParaRPr lang="en-ZA"/>
          </a:p>
        </p:txBody>
      </p:sp>
      <p:sp>
        <p:nvSpPr>
          <p:cNvPr id="14" name="Shape 10"/>
          <p:cNvSpPr/>
          <p:nvPr/>
        </p:nvSpPr>
        <p:spPr>
          <a:xfrm>
            <a:off x="548640" y="2377440"/>
            <a:ext cx="2743200" cy="1188720"/>
          </a:xfrm>
          <a:prstGeom prst="rect">
            <a:avLst/>
          </a:prstGeom>
          <a:solidFill>
            <a:srgbClr val="202A25"/>
          </a:solidFill>
          <a:ln w="12700">
            <a:solidFill>
              <a:srgbClr val="202A25">
                <a:alpha val="0"/>
              </a:srgbClr>
            </a:solidFill>
            <a:prstDash val="solid"/>
          </a:ln>
        </p:spPr>
        <p:txBody>
          <a:bodyPr/>
          <a:lstStyle/>
          <a:p>
            <a:endParaRPr lang="en-ZA"/>
          </a:p>
        </p:txBody>
      </p:sp>
      <p:sp>
        <p:nvSpPr>
          <p:cNvPr id="15" name="Text 11"/>
          <p:cNvSpPr/>
          <p:nvPr/>
        </p:nvSpPr>
        <p:spPr>
          <a:xfrm>
            <a:off x="676656" y="2496312"/>
            <a:ext cx="248716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User asks</a:t>
            </a:r>
            <a:endParaRPr lang="en-US" sz="2100" dirty="0"/>
          </a:p>
        </p:txBody>
      </p:sp>
      <p:sp>
        <p:nvSpPr>
          <p:cNvPr id="16" name="Text 12"/>
          <p:cNvSpPr/>
          <p:nvPr/>
        </p:nvSpPr>
        <p:spPr>
          <a:xfrm>
            <a:off x="676656" y="2999232"/>
            <a:ext cx="2487168" cy="46634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Weather in Seattle?</a:t>
            </a:r>
            <a:endParaRPr lang="en-US" sz="1900" dirty="0"/>
          </a:p>
        </p:txBody>
      </p:sp>
      <p:sp>
        <p:nvSpPr>
          <p:cNvPr id="17" name="Shape 13"/>
          <p:cNvSpPr/>
          <p:nvPr/>
        </p:nvSpPr>
        <p:spPr>
          <a:xfrm>
            <a:off x="6976872" y="2377440"/>
            <a:ext cx="4663440" cy="1188720"/>
          </a:xfrm>
          <a:prstGeom prst="rect">
            <a:avLst/>
          </a:prstGeom>
          <a:solidFill>
            <a:srgbClr val="202A25"/>
          </a:solidFill>
          <a:ln w="12700">
            <a:solidFill>
              <a:srgbClr val="202A25">
                <a:alpha val="0"/>
              </a:srgbClr>
            </a:solidFill>
            <a:prstDash val="solid"/>
          </a:ln>
        </p:spPr>
        <p:txBody>
          <a:bodyPr/>
          <a:lstStyle/>
          <a:p>
            <a:endParaRPr lang="en-ZA"/>
          </a:p>
        </p:txBody>
      </p:sp>
      <p:sp>
        <p:nvSpPr>
          <p:cNvPr id="18" name="Text 14"/>
          <p:cNvSpPr/>
          <p:nvPr/>
        </p:nvSpPr>
        <p:spPr>
          <a:xfrm>
            <a:off x="7104888" y="2496312"/>
            <a:ext cx="440740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Application executes WeatherTool</a:t>
            </a:r>
            <a:endParaRPr lang="en-US" sz="2100" dirty="0"/>
          </a:p>
        </p:txBody>
      </p:sp>
      <p:sp>
        <p:nvSpPr>
          <p:cNvPr id="19" name="Text 15"/>
          <p:cNvSpPr/>
          <p:nvPr/>
        </p:nvSpPr>
        <p:spPr>
          <a:xfrm>
            <a:off x="7104888" y="2999232"/>
            <a:ext cx="4407408" cy="46634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getCurrentWeather("Seattle")</a:t>
            </a:r>
            <a:endParaRPr lang="en-US" sz="1900" dirty="0"/>
          </a:p>
        </p:txBody>
      </p:sp>
      <p:sp>
        <p:nvSpPr>
          <p:cNvPr id="20" name="Shape 16"/>
          <p:cNvSpPr/>
          <p:nvPr/>
        </p:nvSpPr>
        <p:spPr>
          <a:xfrm>
            <a:off x="548640" y="4416552"/>
            <a:ext cx="5239512" cy="1097280"/>
          </a:xfrm>
          <a:prstGeom prst="rect">
            <a:avLst/>
          </a:prstGeom>
          <a:solidFill>
            <a:srgbClr val="202A25"/>
          </a:solidFill>
          <a:ln w="12700">
            <a:solidFill>
              <a:srgbClr val="202A25">
                <a:alpha val="0"/>
              </a:srgbClr>
            </a:solidFill>
            <a:prstDash val="solid"/>
          </a:ln>
        </p:spPr>
        <p:txBody>
          <a:bodyPr/>
          <a:lstStyle/>
          <a:p>
            <a:endParaRPr lang="en-ZA"/>
          </a:p>
        </p:txBody>
      </p:sp>
      <p:sp>
        <p:nvSpPr>
          <p:cNvPr id="21" name="Text 17"/>
          <p:cNvSpPr/>
          <p:nvPr/>
        </p:nvSpPr>
        <p:spPr>
          <a:xfrm>
            <a:off x="676656" y="4535424"/>
            <a:ext cx="4983480"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Generated reply to the user</a:t>
            </a:r>
            <a:endParaRPr lang="en-US" sz="2100" dirty="0"/>
          </a:p>
        </p:txBody>
      </p:sp>
      <p:sp>
        <p:nvSpPr>
          <p:cNvPr id="22" name="Text 18"/>
          <p:cNvSpPr/>
          <p:nvPr/>
        </p:nvSpPr>
        <p:spPr>
          <a:xfrm>
            <a:off x="676656" y="5038344"/>
            <a:ext cx="4983480" cy="37490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The tool reports 22 C and cloudy.</a:t>
            </a:r>
            <a:endParaRPr lang="en-US" sz="1900" dirty="0"/>
          </a:p>
        </p:txBody>
      </p:sp>
      <p:sp>
        <p:nvSpPr>
          <p:cNvPr id="23" name="Text 19"/>
          <p:cNvSpPr/>
          <p:nvPr/>
        </p:nvSpPr>
        <p:spPr>
          <a:xfrm>
            <a:off x="3538728" y="1837944"/>
            <a:ext cx="3273552" cy="365760"/>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Model chooses a tool</a:t>
            </a:r>
            <a:endParaRPr lang="en-US" sz="1800" dirty="0"/>
          </a:p>
        </p:txBody>
      </p:sp>
      <p:sp>
        <p:nvSpPr>
          <p:cNvPr id="24" name="Text 20"/>
          <p:cNvSpPr/>
          <p:nvPr/>
        </p:nvSpPr>
        <p:spPr>
          <a:xfrm>
            <a:off x="548640" y="3831336"/>
            <a:ext cx="7132320" cy="35661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Tool result goes back to the model: 22 C, cloudy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The working example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The demo shows which Java methods actually ran</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03 / 20</a:t>
            </a:r>
            <a:endParaRPr lang="en-US" sz="1200" dirty="0"/>
          </a:p>
        </p:txBody>
      </p:sp>
      <p:sp>
        <p:nvSpPr>
          <p:cNvPr id="6" name="Shape 4"/>
          <p:cNvSpPr/>
          <p:nvPr/>
        </p:nvSpPr>
        <p:spPr>
          <a:xfrm>
            <a:off x="548640" y="1792224"/>
            <a:ext cx="5330952" cy="530352"/>
          </a:xfrm>
          <a:prstGeom prst="rect">
            <a:avLst/>
          </a:prstGeom>
          <a:solidFill>
            <a:srgbClr val="202A25"/>
          </a:solidFill>
          <a:ln w="12700">
            <a:solidFill>
              <a:srgbClr val="202A25">
                <a:alpha val="0"/>
              </a:srgbClr>
            </a:solidFill>
            <a:prstDash val="solid"/>
          </a:ln>
        </p:spPr>
        <p:txBody>
          <a:bodyPr/>
          <a:lstStyle/>
          <a:p>
            <a:endParaRPr lang="en-ZA"/>
          </a:p>
        </p:txBody>
      </p:sp>
      <p:sp>
        <p:nvSpPr>
          <p:cNvPr id="7" name="Text 5"/>
          <p:cNvSpPr/>
          <p:nvPr/>
        </p:nvSpPr>
        <p:spPr>
          <a:xfrm>
            <a:off x="74980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Direct conversion request</a:t>
            </a:r>
            <a:endParaRPr lang="en-US" sz="2200" dirty="0"/>
          </a:p>
        </p:txBody>
      </p:sp>
      <p:pic>
        <p:nvPicPr>
          <p:cNvPr id="8" name="Image 0" descr="tools conversation demo"/>
          <p:cNvPicPr>
            <a:picLocks noChangeAspect="1"/>
          </p:cNvPicPr>
          <p:nvPr/>
        </p:nvPicPr>
        <p:blipFill>
          <a:blip r:embed="rId3"/>
          <a:stretch>
            <a:fillRect/>
          </a:stretch>
        </p:blipFill>
        <p:spPr>
          <a:xfrm>
            <a:off x="548640" y="2785524"/>
            <a:ext cx="5330952" cy="1808159"/>
          </a:xfrm>
          <a:prstGeom prst="rect">
            <a:avLst/>
          </a:prstGeom>
        </p:spPr>
      </p:pic>
      <p:sp>
        <p:nvSpPr>
          <p:cNvPr id="9" name="Text 6"/>
          <p:cNvSpPr/>
          <p:nvPr/>
        </p:nvSpPr>
        <p:spPr>
          <a:xfrm>
            <a:off x="548640" y="5029200"/>
            <a:ext cx="5330952" cy="557784"/>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Recorded input: fahrenheit=100.0</a:t>
            </a:r>
            <a:endParaRPr lang="en-US" sz="2000" dirty="0"/>
          </a:p>
        </p:txBody>
      </p:sp>
      <p:sp>
        <p:nvSpPr>
          <p:cNvPr id="10" name="Shape 7"/>
          <p:cNvSpPr/>
          <p:nvPr/>
        </p:nvSpPr>
        <p:spPr>
          <a:xfrm>
            <a:off x="6309360" y="1792224"/>
            <a:ext cx="5330952" cy="530352"/>
          </a:xfrm>
          <a:prstGeom prst="rect">
            <a:avLst/>
          </a:prstGeom>
          <a:solidFill>
            <a:srgbClr val="397C25"/>
          </a:solidFill>
          <a:ln w="12700">
            <a:solidFill>
              <a:srgbClr val="397C25">
                <a:alpha val="0"/>
              </a:srgbClr>
            </a:solidFill>
            <a:prstDash val="solid"/>
          </a:ln>
        </p:spPr>
        <p:txBody>
          <a:bodyPr/>
          <a:lstStyle/>
          <a:p>
            <a:endParaRPr lang="en-ZA"/>
          </a:p>
        </p:txBody>
      </p:sp>
      <p:sp>
        <p:nvSpPr>
          <p:cNvPr id="11" name="Text 8"/>
          <p:cNvSpPr/>
          <p:nvPr/>
        </p:nvSpPr>
        <p:spPr>
          <a:xfrm>
            <a:off x="651052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Follow-up after Seattle was 27 C</a:t>
            </a:r>
            <a:endParaRPr lang="en-US" sz="2200" dirty="0"/>
          </a:p>
        </p:txBody>
      </p:sp>
      <p:pic>
        <p:nvPicPr>
          <p:cNvPr id="12" name="Image 1" descr="tools conversation demo"/>
          <p:cNvPicPr>
            <a:picLocks noChangeAspect="1"/>
          </p:cNvPicPr>
          <p:nvPr/>
        </p:nvPicPr>
        <p:blipFill>
          <a:blip r:embed="rId4"/>
          <a:stretch>
            <a:fillRect/>
          </a:stretch>
        </p:blipFill>
        <p:spPr>
          <a:xfrm>
            <a:off x="6309360" y="2708032"/>
            <a:ext cx="5330952" cy="1963144"/>
          </a:xfrm>
          <a:prstGeom prst="rect">
            <a:avLst/>
          </a:prstGeom>
        </p:spPr>
      </p:pic>
      <p:sp>
        <p:nvSpPr>
          <p:cNvPr id="13" name="Text 9"/>
          <p:cNvSpPr/>
          <p:nvPr/>
        </p:nvSpPr>
        <p:spPr>
          <a:xfrm>
            <a:off x="6309360" y="5029200"/>
            <a:ext cx="5330952" cy="557784"/>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Follow-up: convert that value to Fahrenheit.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ReAct pattern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The loop alternates decisions and tool results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04 / 20</a:t>
            </a:r>
            <a:endParaRPr lang="en-US" sz="1200" dirty="0"/>
          </a:p>
        </p:txBody>
      </p:sp>
      <p:sp>
        <p:nvSpPr>
          <p:cNvPr id="6" name="Shape 4"/>
          <p:cNvSpPr/>
          <p:nvPr/>
        </p:nvSpPr>
        <p:spPr>
          <a:xfrm>
            <a:off x="859536" y="2231136"/>
            <a:ext cx="0" cy="3355848"/>
          </a:xfrm>
          <a:prstGeom prst="line">
            <a:avLst/>
          </a:prstGeom>
          <a:noFill/>
          <a:ln w="10160">
            <a:solidFill>
              <a:srgbClr val="B5C1B6"/>
            </a:solidFill>
            <a:prstDash val="dash"/>
          </a:ln>
        </p:spPr>
        <p:txBody>
          <a:bodyPr/>
          <a:lstStyle/>
          <a:p>
            <a:endParaRPr lang="en-ZA"/>
          </a:p>
        </p:txBody>
      </p:sp>
      <p:pic>
        <p:nvPicPr>
          <p:cNvPr id="7" name="Image 0" descr="client server sequence"/>
          <p:cNvPicPr>
            <a:picLocks noChangeAspect="1"/>
          </p:cNvPicPr>
          <p:nvPr/>
        </p:nvPicPr>
        <p:blipFill>
          <a:blip r:embed="rId3"/>
          <a:stretch>
            <a:fillRect/>
          </a:stretch>
        </p:blipFill>
        <p:spPr>
          <a:xfrm>
            <a:off x="718022" y="1627632"/>
            <a:ext cx="283029" cy="594360"/>
          </a:xfrm>
          <a:prstGeom prst="rect">
            <a:avLst/>
          </a:prstGeom>
        </p:spPr>
      </p:pic>
      <p:sp>
        <p:nvSpPr>
          <p:cNvPr id="8" name="Shape 5"/>
          <p:cNvSpPr/>
          <p:nvPr/>
        </p:nvSpPr>
        <p:spPr>
          <a:xfrm>
            <a:off x="3840480" y="2231136"/>
            <a:ext cx="0" cy="3355848"/>
          </a:xfrm>
          <a:prstGeom prst="line">
            <a:avLst/>
          </a:prstGeom>
          <a:noFill/>
          <a:ln w="10160">
            <a:solidFill>
              <a:srgbClr val="B5C1B6"/>
            </a:solidFill>
            <a:prstDash val="dash"/>
          </a:ln>
        </p:spPr>
        <p:txBody>
          <a:bodyPr/>
          <a:lstStyle/>
          <a:p>
            <a:endParaRPr lang="en-ZA"/>
          </a:p>
        </p:txBody>
      </p:sp>
      <p:sp>
        <p:nvSpPr>
          <p:cNvPr id="9" name="Shape 6"/>
          <p:cNvSpPr/>
          <p:nvPr/>
        </p:nvSpPr>
        <p:spPr>
          <a:xfrm>
            <a:off x="3054096"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0" name="Text 7"/>
          <p:cNvSpPr/>
          <p:nvPr/>
        </p:nvSpPr>
        <p:spPr>
          <a:xfrm>
            <a:off x="3118104"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Spring AI client</a:t>
            </a:r>
            <a:endParaRPr lang="en-US" sz="1600" dirty="0"/>
          </a:p>
        </p:txBody>
      </p:sp>
      <p:sp>
        <p:nvSpPr>
          <p:cNvPr id="11" name="Shape 8"/>
          <p:cNvSpPr/>
          <p:nvPr/>
        </p:nvSpPr>
        <p:spPr>
          <a:xfrm>
            <a:off x="7406640" y="2231136"/>
            <a:ext cx="0" cy="3355848"/>
          </a:xfrm>
          <a:prstGeom prst="line">
            <a:avLst/>
          </a:prstGeom>
          <a:noFill/>
          <a:ln w="10160">
            <a:solidFill>
              <a:srgbClr val="B5C1B6"/>
            </a:solidFill>
            <a:prstDash val="dash"/>
          </a:ln>
        </p:spPr>
        <p:txBody>
          <a:bodyPr/>
          <a:lstStyle/>
          <a:p>
            <a:endParaRPr lang="en-ZA"/>
          </a:p>
        </p:txBody>
      </p:sp>
      <p:sp>
        <p:nvSpPr>
          <p:cNvPr id="12" name="Shape 9"/>
          <p:cNvSpPr/>
          <p:nvPr/>
        </p:nvSpPr>
        <p:spPr>
          <a:xfrm>
            <a:off x="6620256"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3" name="Text 10"/>
          <p:cNvSpPr/>
          <p:nvPr/>
        </p:nvSpPr>
        <p:spPr>
          <a:xfrm>
            <a:off x="6684264"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Foundry model</a:t>
            </a:r>
            <a:endParaRPr lang="en-US" sz="1600" dirty="0"/>
          </a:p>
        </p:txBody>
      </p:sp>
      <p:sp>
        <p:nvSpPr>
          <p:cNvPr id="14" name="Shape 11"/>
          <p:cNvSpPr/>
          <p:nvPr/>
        </p:nvSpPr>
        <p:spPr>
          <a:xfrm>
            <a:off x="10789920" y="2231136"/>
            <a:ext cx="0" cy="3355848"/>
          </a:xfrm>
          <a:prstGeom prst="line">
            <a:avLst/>
          </a:prstGeom>
          <a:noFill/>
          <a:ln w="10160">
            <a:solidFill>
              <a:srgbClr val="B5C1B6"/>
            </a:solidFill>
            <a:prstDash val="dash"/>
          </a:ln>
        </p:spPr>
        <p:txBody>
          <a:bodyPr/>
          <a:lstStyle/>
          <a:p>
            <a:endParaRPr lang="en-ZA"/>
          </a:p>
        </p:txBody>
      </p:sp>
      <p:sp>
        <p:nvSpPr>
          <p:cNvPr id="15" name="Shape 12"/>
          <p:cNvSpPr/>
          <p:nvPr/>
        </p:nvSpPr>
        <p:spPr>
          <a:xfrm>
            <a:off x="10003536"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6" name="Text 13"/>
          <p:cNvSpPr/>
          <p:nvPr/>
        </p:nvSpPr>
        <p:spPr>
          <a:xfrm>
            <a:off x="10067544"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Java tool</a:t>
            </a:r>
            <a:endParaRPr lang="en-US" sz="1600" dirty="0"/>
          </a:p>
        </p:txBody>
      </p:sp>
      <p:sp>
        <p:nvSpPr>
          <p:cNvPr id="17" name="Shape 14"/>
          <p:cNvSpPr/>
          <p:nvPr/>
        </p:nvSpPr>
        <p:spPr>
          <a:xfrm>
            <a:off x="859536" y="2624328"/>
            <a:ext cx="2980944" cy="0"/>
          </a:xfrm>
          <a:prstGeom prst="line">
            <a:avLst/>
          </a:prstGeom>
          <a:noFill/>
          <a:ln w="21590">
            <a:solidFill>
              <a:srgbClr val="397C25"/>
            </a:solidFill>
            <a:prstDash val="solid"/>
            <a:tailEnd type="triangle"/>
          </a:ln>
        </p:spPr>
        <p:txBody>
          <a:bodyPr/>
          <a:lstStyle/>
          <a:p>
            <a:endParaRPr lang="en-ZA"/>
          </a:p>
        </p:txBody>
      </p:sp>
      <p:sp>
        <p:nvSpPr>
          <p:cNvPr id="18" name="Text 15"/>
          <p:cNvSpPr/>
          <p:nvPr/>
        </p:nvSpPr>
        <p:spPr>
          <a:xfrm>
            <a:off x="896112" y="2360981"/>
            <a:ext cx="2907792"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Question needing a capability</a:t>
            </a:r>
            <a:endParaRPr lang="en-US" sz="1600" dirty="0"/>
          </a:p>
        </p:txBody>
      </p:sp>
      <p:sp>
        <p:nvSpPr>
          <p:cNvPr id="19" name="Shape 16"/>
          <p:cNvSpPr/>
          <p:nvPr/>
        </p:nvSpPr>
        <p:spPr>
          <a:xfrm>
            <a:off x="3840480" y="2990088"/>
            <a:ext cx="3566160" cy="0"/>
          </a:xfrm>
          <a:prstGeom prst="line">
            <a:avLst/>
          </a:prstGeom>
          <a:noFill/>
          <a:ln w="21590">
            <a:solidFill>
              <a:srgbClr val="397C25"/>
            </a:solidFill>
            <a:prstDash val="solid"/>
            <a:tailEnd type="triangle"/>
          </a:ln>
        </p:spPr>
        <p:txBody>
          <a:bodyPr/>
          <a:lstStyle/>
          <a:p>
            <a:endParaRPr lang="en-ZA"/>
          </a:p>
        </p:txBody>
      </p:sp>
      <p:sp>
        <p:nvSpPr>
          <p:cNvPr id="20" name="Text 17"/>
          <p:cNvSpPr/>
          <p:nvPr/>
        </p:nvSpPr>
        <p:spPr>
          <a:xfrm>
            <a:off x="3877056" y="2726741"/>
            <a:ext cx="349300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Messages + available tool schemas</a:t>
            </a:r>
            <a:endParaRPr lang="en-US" sz="1600" dirty="0"/>
          </a:p>
        </p:txBody>
      </p:sp>
      <p:sp>
        <p:nvSpPr>
          <p:cNvPr id="21" name="Shape 18"/>
          <p:cNvSpPr/>
          <p:nvPr/>
        </p:nvSpPr>
        <p:spPr>
          <a:xfrm>
            <a:off x="3840480" y="3355848"/>
            <a:ext cx="3566160" cy="0"/>
          </a:xfrm>
          <a:prstGeom prst="line">
            <a:avLst/>
          </a:prstGeom>
          <a:noFill/>
          <a:ln w="21590">
            <a:solidFill>
              <a:srgbClr val="397C25"/>
            </a:solidFill>
            <a:prstDash val="dash"/>
            <a:headEnd type="triangle"/>
          </a:ln>
        </p:spPr>
        <p:txBody>
          <a:bodyPr/>
          <a:lstStyle/>
          <a:p>
            <a:endParaRPr lang="en-ZA"/>
          </a:p>
        </p:txBody>
      </p:sp>
      <p:sp>
        <p:nvSpPr>
          <p:cNvPr id="22" name="Text 19"/>
          <p:cNvSpPr/>
          <p:nvPr/>
        </p:nvSpPr>
        <p:spPr>
          <a:xfrm>
            <a:off x="3877056" y="3092501"/>
            <a:ext cx="349300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Chosen tool name and arguments</a:t>
            </a:r>
            <a:endParaRPr lang="en-US" sz="1600" dirty="0"/>
          </a:p>
        </p:txBody>
      </p:sp>
      <p:sp>
        <p:nvSpPr>
          <p:cNvPr id="23" name="Shape 20"/>
          <p:cNvSpPr/>
          <p:nvPr/>
        </p:nvSpPr>
        <p:spPr>
          <a:xfrm>
            <a:off x="3840480" y="3721608"/>
            <a:ext cx="6949440" cy="0"/>
          </a:xfrm>
          <a:prstGeom prst="line">
            <a:avLst/>
          </a:prstGeom>
          <a:noFill/>
          <a:ln w="21590">
            <a:solidFill>
              <a:srgbClr val="397C25"/>
            </a:solidFill>
            <a:prstDash val="solid"/>
            <a:tailEnd type="triangle"/>
          </a:ln>
        </p:spPr>
        <p:txBody>
          <a:bodyPr/>
          <a:lstStyle/>
          <a:p>
            <a:endParaRPr lang="en-ZA"/>
          </a:p>
        </p:txBody>
      </p:sp>
      <p:sp>
        <p:nvSpPr>
          <p:cNvPr id="24" name="Text 21"/>
          <p:cNvSpPr/>
          <p:nvPr/>
        </p:nvSpPr>
        <p:spPr>
          <a:xfrm>
            <a:off x="3877056" y="3458261"/>
            <a:ext cx="687628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Invoke the registered Java method</a:t>
            </a:r>
            <a:endParaRPr lang="en-US" sz="1600" dirty="0"/>
          </a:p>
        </p:txBody>
      </p:sp>
      <p:sp>
        <p:nvSpPr>
          <p:cNvPr id="25" name="Shape 22"/>
          <p:cNvSpPr/>
          <p:nvPr/>
        </p:nvSpPr>
        <p:spPr>
          <a:xfrm>
            <a:off x="3840480" y="4087368"/>
            <a:ext cx="6949440" cy="0"/>
          </a:xfrm>
          <a:prstGeom prst="line">
            <a:avLst/>
          </a:prstGeom>
          <a:noFill/>
          <a:ln w="21590">
            <a:solidFill>
              <a:srgbClr val="397C25"/>
            </a:solidFill>
            <a:prstDash val="dash"/>
            <a:headEnd type="triangle"/>
          </a:ln>
        </p:spPr>
        <p:txBody>
          <a:bodyPr/>
          <a:lstStyle/>
          <a:p>
            <a:endParaRPr lang="en-ZA"/>
          </a:p>
        </p:txBody>
      </p:sp>
      <p:sp>
        <p:nvSpPr>
          <p:cNvPr id="26" name="Text 23"/>
          <p:cNvSpPr/>
          <p:nvPr/>
        </p:nvSpPr>
        <p:spPr>
          <a:xfrm>
            <a:off x="3877056" y="3824021"/>
            <a:ext cx="687628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Actual tool result</a:t>
            </a:r>
            <a:endParaRPr lang="en-US" sz="1600" dirty="0"/>
          </a:p>
        </p:txBody>
      </p:sp>
      <p:sp>
        <p:nvSpPr>
          <p:cNvPr id="27" name="Shape 24"/>
          <p:cNvSpPr/>
          <p:nvPr/>
        </p:nvSpPr>
        <p:spPr>
          <a:xfrm>
            <a:off x="3840480" y="4453128"/>
            <a:ext cx="3566160" cy="0"/>
          </a:xfrm>
          <a:prstGeom prst="line">
            <a:avLst/>
          </a:prstGeom>
          <a:noFill/>
          <a:ln w="21590">
            <a:solidFill>
              <a:srgbClr val="397C25"/>
            </a:solidFill>
            <a:prstDash val="solid"/>
            <a:tailEnd type="triangle"/>
          </a:ln>
        </p:spPr>
        <p:txBody>
          <a:bodyPr/>
          <a:lstStyle/>
          <a:p>
            <a:endParaRPr lang="en-ZA"/>
          </a:p>
        </p:txBody>
      </p:sp>
      <p:sp>
        <p:nvSpPr>
          <p:cNvPr id="28" name="Text 25"/>
          <p:cNvSpPr/>
          <p:nvPr/>
        </p:nvSpPr>
        <p:spPr>
          <a:xfrm>
            <a:off x="3877056" y="4189781"/>
            <a:ext cx="349300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Supply the tool result in the next request</a:t>
            </a:r>
            <a:endParaRPr lang="en-US" sz="1600" dirty="0"/>
          </a:p>
        </p:txBody>
      </p:sp>
      <p:sp>
        <p:nvSpPr>
          <p:cNvPr id="29" name="Shape 26"/>
          <p:cNvSpPr/>
          <p:nvPr/>
        </p:nvSpPr>
        <p:spPr>
          <a:xfrm>
            <a:off x="7406640" y="4773168"/>
            <a:ext cx="347472" cy="0"/>
          </a:xfrm>
          <a:prstGeom prst="line">
            <a:avLst/>
          </a:prstGeom>
          <a:noFill/>
          <a:ln w="21590">
            <a:solidFill>
              <a:srgbClr val="397C25"/>
            </a:solidFill>
            <a:prstDash val="solid"/>
          </a:ln>
        </p:spPr>
        <p:txBody>
          <a:bodyPr/>
          <a:lstStyle/>
          <a:p>
            <a:endParaRPr lang="en-ZA"/>
          </a:p>
        </p:txBody>
      </p:sp>
      <p:sp>
        <p:nvSpPr>
          <p:cNvPr id="30" name="Shape 27"/>
          <p:cNvSpPr/>
          <p:nvPr/>
        </p:nvSpPr>
        <p:spPr>
          <a:xfrm>
            <a:off x="7754112" y="4773168"/>
            <a:ext cx="0" cy="91440"/>
          </a:xfrm>
          <a:prstGeom prst="line">
            <a:avLst/>
          </a:prstGeom>
          <a:noFill/>
          <a:ln w="21590">
            <a:solidFill>
              <a:srgbClr val="397C25"/>
            </a:solidFill>
            <a:prstDash val="solid"/>
          </a:ln>
        </p:spPr>
        <p:txBody>
          <a:bodyPr/>
          <a:lstStyle/>
          <a:p>
            <a:endParaRPr lang="en-ZA"/>
          </a:p>
        </p:txBody>
      </p:sp>
      <p:sp>
        <p:nvSpPr>
          <p:cNvPr id="31" name="Shape 28"/>
          <p:cNvSpPr/>
          <p:nvPr/>
        </p:nvSpPr>
        <p:spPr>
          <a:xfrm>
            <a:off x="7406640" y="4864608"/>
            <a:ext cx="347472" cy="0"/>
          </a:xfrm>
          <a:prstGeom prst="line">
            <a:avLst/>
          </a:prstGeom>
          <a:noFill/>
          <a:ln w="21590">
            <a:solidFill>
              <a:srgbClr val="397C25"/>
            </a:solidFill>
            <a:prstDash val="solid"/>
            <a:headEnd type="triangle"/>
          </a:ln>
        </p:spPr>
        <p:txBody>
          <a:bodyPr/>
          <a:lstStyle/>
          <a:p>
            <a:endParaRPr lang="en-ZA"/>
          </a:p>
        </p:txBody>
      </p:sp>
      <p:sp>
        <p:nvSpPr>
          <p:cNvPr id="32" name="Text 29"/>
          <p:cNvSpPr/>
          <p:nvPr/>
        </p:nvSpPr>
        <p:spPr>
          <a:xfrm>
            <a:off x="7443216" y="4518965"/>
            <a:ext cx="36576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Choose another tool or answer</a:t>
            </a:r>
            <a:endParaRPr lang="en-US" sz="1600" dirty="0"/>
          </a:p>
        </p:txBody>
      </p:sp>
      <p:sp>
        <p:nvSpPr>
          <p:cNvPr id="33" name="Shape 30"/>
          <p:cNvSpPr/>
          <p:nvPr/>
        </p:nvSpPr>
        <p:spPr>
          <a:xfrm>
            <a:off x="3840480" y="5184648"/>
            <a:ext cx="3566160" cy="0"/>
          </a:xfrm>
          <a:prstGeom prst="line">
            <a:avLst/>
          </a:prstGeom>
          <a:noFill/>
          <a:ln w="21590">
            <a:solidFill>
              <a:srgbClr val="397C25"/>
            </a:solidFill>
            <a:prstDash val="dash"/>
            <a:headEnd type="triangle"/>
          </a:ln>
        </p:spPr>
        <p:txBody>
          <a:bodyPr/>
          <a:lstStyle/>
          <a:p>
            <a:endParaRPr lang="en-ZA"/>
          </a:p>
        </p:txBody>
      </p:sp>
      <p:sp>
        <p:nvSpPr>
          <p:cNvPr id="34" name="Text 31"/>
          <p:cNvSpPr/>
          <p:nvPr/>
        </p:nvSpPr>
        <p:spPr>
          <a:xfrm>
            <a:off x="3877056" y="4921301"/>
            <a:ext cx="349300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Final answer when ready</a:t>
            </a:r>
            <a:endParaRPr lang="en-US" sz="1600" dirty="0"/>
          </a:p>
        </p:txBody>
      </p:sp>
      <p:sp>
        <p:nvSpPr>
          <p:cNvPr id="35" name="Shape 32"/>
          <p:cNvSpPr/>
          <p:nvPr/>
        </p:nvSpPr>
        <p:spPr>
          <a:xfrm>
            <a:off x="859536" y="5550408"/>
            <a:ext cx="2980944" cy="0"/>
          </a:xfrm>
          <a:prstGeom prst="line">
            <a:avLst/>
          </a:prstGeom>
          <a:noFill/>
          <a:ln w="21590">
            <a:solidFill>
              <a:srgbClr val="397C25"/>
            </a:solidFill>
            <a:prstDash val="dash"/>
            <a:headEnd type="triangle"/>
          </a:ln>
        </p:spPr>
        <p:txBody>
          <a:bodyPr/>
          <a:lstStyle/>
          <a:p>
            <a:endParaRPr lang="en-ZA"/>
          </a:p>
        </p:txBody>
      </p:sp>
      <p:sp>
        <p:nvSpPr>
          <p:cNvPr id="36" name="Text 33"/>
          <p:cNvSpPr/>
          <p:nvPr/>
        </p:nvSpPr>
        <p:spPr>
          <a:xfrm>
            <a:off x="896112" y="5287061"/>
            <a:ext cx="2907792"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Return the answer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Execution flow</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Follow a complete temperature-conversion request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05 / 20</a:t>
            </a:r>
            <a:endParaRPr lang="en-US" sz="1200" dirty="0"/>
          </a:p>
        </p:txBody>
      </p:sp>
      <p:sp>
        <p:nvSpPr>
          <p:cNvPr id="6" name="Shape 4"/>
          <p:cNvSpPr/>
          <p:nvPr/>
        </p:nvSpPr>
        <p:spPr>
          <a:xfrm>
            <a:off x="859536" y="2231136"/>
            <a:ext cx="0" cy="3355848"/>
          </a:xfrm>
          <a:prstGeom prst="line">
            <a:avLst/>
          </a:prstGeom>
          <a:noFill/>
          <a:ln w="10160">
            <a:solidFill>
              <a:srgbClr val="B5C1B6"/>
            </a:solidFill>
            <a:prstDash val="dash"/>
          </a:ln>
        </p:spPr>
        <p:txBody>
          <a:bodyPr/>
          <a:lstStyle/>
          <a:p>
            <a:endParaRPr lang="en-ZA"/>
          </a:p>
        </p:txBody>
      </p:sp>
      <p:pic>
        <p:nvPicPr>
          <p:cNvPr id="7" name="Image 0" descr="client server sequence"/>
          <p:cNvPicPr>
            <a:picLocks noChangeAspect="1"/>
          </p:cNvPicPr>
          <p:nvPr/>
        </p:nvPicPr>
        <p:blipFill>
          <a:blip r:embed="rId3"/>
          <a:stretch>
            <a:fillRect/>
          </a:stretch>
        </p:blipFill>
        <p:spPr>
          <a:xfrm>
            <a:off x="718022" y="1627632"/>
            <a:ext cx="283029" cy="594360"/>
          </a:xfrm>
          <a:prstGeom prst="rect">
            <a:avLst/>
          </a:prstGeom>
        </p:spPr>
      </p:pic>
      <p:sp>
        <p:nvSpPr>
          <p:cNvPr id="8" name="Shape 5"/>
          <p:cNvSpPr/>
          <p:nvPr/>
        </p:nvSpPr>
        <p:spPr>
          <a:xfrm>
            <a:off x="3840480" y="2231136"/>
            <a:ext cx="0" cy="3355848"/>
          </a:xfrm>
          <a:prstGeom prst="line">
            <a:avLst/>
          </a:prstGeom>
          <a:noFill/>
          <a:ln w="10160">
            <a:solidFill>
              <a:srgbClr val="B5C1B6"/>
            </a:solidFill>
            <a:prstDash val="dash"/>
          </a:ln>
        </p:spPr>
        <p:txBody>
          <a:bodyPr/>
          <a:lstStyle/>
          <a:p>
            <a:endParaRPr lang="en-ZA"/>
          </a:p>
        </p:txBody>
      </p:sp>
      <p:sp>
        <p:nvSpPr>
          <p:cNvPr id="9" name="Shape 6"/>
          <p:cNvSpPr/>
          <p:nvPr/>
        </p:nvSpPr>
        <p:spPr>
          <a:xfrm>
            <a:off x="3054096"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0" name="Text 7"/>
          <p:cNvSpPr/>
          <p:nvPr/>
        </p:nvSpPr>
        <p:spPr>
          <a:xfrm>
            <a:off x="3118104"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Spring AI client</a:t>
            </a:r>
            <a:endParaRPr lang="en-US" sz="1600" dirty="0"/>
          </a:p>
        </p:txBody>
      </p:sp>
      <p:sp>
        <p:nvSpPr>
          <p:cNvPr id="11" name="Shape 8"/>
          <p:cNvSpPr/>
          <p:nvPr/>
        </p:nvSpPr>
        <p:spPr>
          <a:xfrm>
            <a:off x="7406640" y="2231136"/>
            <a:ext cx="0" cy="3355848"/>
          </a:xfrm>
          <a:prstGeom prst="line">
            <a:avLst/>
          </a:prstGeom>
          <a:noFill/>
          <a:ln w="10160">
            <a:solidFill>
              <a:srgbClr val="B5C1B6"/>
            </a:solidFill>
            <a:prstDash val="dash"/>
          </a:ln>
        </p:spPr>
        <p:txBody>
          <a:bodyPr/>
          <a:lstStyle/>
          <a:p>
            <a:endParaRPr lang="en-ZA"/>
          </a:p>
        </p:txBody>
      </p:sp>
      <p:sp>
        <p:nvSpPr>
          <p:cNvPr id="12" name="Shape 9"/>
          <p:cNvSpPr/>
          <p:nvPr/>
        </p:nvSpPr>
        <p:spPr>
          <a:xfrm>
            <a:off x="6620256"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3" name="Text 10"/>
          <p:cNvSpPr/>
          <p:nvPr/>
        </p:nvSpPr>
        <p:spPr>
          <a:xfrm>
            <a:off x="6684264"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Foundry model</a:t>
            </a:r>
            <a:endParaRPr lang="en-US" sz="1600" dirty="0"/>
          </a:p>
        </p:txBody>
      </p:sp>
      <p:sp>
        <p:nvSpPr>
          <p:cNvPr id="14" name="Shape 11"/>
          <p:cNvSpPr/>
          <p:nvPr/>
        </p:nvSpPr>
        <p:spPr>
          <a:xfrm>
            <a:off x="10789920" y="2231136"/>
            <a:ext cx="0" cy="3355848"/>
          </a:xfrm>
          <a:prstGeom prst="line">
            <a:avLst/>
          </a:prstGeom>
          <a:noFill/>
          <a:ln w="10160">
            <a:solidFill>
              <a:srgbClr val="B5C1B6"/>
            </a:solidFill>
            <a:prstDash val="dash"/>
          </a:ln>
        </p:spPr>
        <p:txBody>
          <a:bodyPr/>
          <a:lstStyle/>
          <a:p>
            <a:endParaRPr lang="en-ZA"/>
          </a:p>
        </p:txBody>
      </p:sp>
      <p:sp>
        <p:nvSpPr>
          <p:cNvPr id="15" name="Shape 12"/>
          <p:cNvSpPr/>
          <p:nvPr/>
        </p:nvSpPr>
        <p:spPr>
          <a:xfrm>
            <a:off x="10003536"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6" name="Text 13"/>
          <p:cNvSpPr/>
          <p:nvPr/>
        </p:nvSpPr>
        <p:spPr>
          <a:xfrm>
            <a:off x="10067544"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Java tool</a:t>
            </a:r>
            <a:endParaRPr lang="en-US" sz="1600" dirty="0"/>
          </a:p>
        </p:txBody>
      </p:sp>
      <p:sp>
        <p:nvSpPr>
          <p:cNvPr id="17" name="Shape 14"/>
          <p:cNvSpPr/>
          <p:nvPr/>
        </p:nvSpPr>
        <p:spPr>
          <a:xfrm>
            <a:off x="859536" y="2624328"/>
            <a:ext cx="2980944" cy="0"/>
          </a:xfrm>
          <a:prstGeom prst="line">
            <a:avLst/>
          </a:prstGeom>
          <a:noFill/>
          <a:ln w="21590">
            <a:solidFill>
              <a:srgbClr val="397C25"/>
            </a:solidFill>
            <a:prstDash val="solid"/>
            <a:tailEnd type="triangle"/>
          </a:ln>
        </p:spPr>
        <p:txBody>
          <a:bodyPr/>
          <a:lstStyle/>
          <a:p>
            <a:endParaRPr lang="en-ZA"/>
          </a:p>
        </p:txBody>
      </p:sp>
      <p:sp>
        <p:nvSpPr>
          <p:cNvPr id="18" name="Text 15"/>
          <p:cNvSpPr/>
          <p:nvPr/>
        </p:nvSpPr>
        <p:spPr>
          <a:xfrm>
            <a:off x="896112" y="2360981"/>
            <a:ext cx="2907792"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"Convert 100 F to Celsius"</a:t>
            </a:r>
            <a:endParaRPr lang="en-US" sz="1600" dirty="0"/>
          </a:p>
        </p:txBody>
      </p:sp>
      <p:sp>
        <p:nvSpPr>
          <p:cNvPr id="19" name="Shape 16"/>
          <p:cNvSpPr/>
          <p:nvPr/>
        </p:nvSpPr>
        <p:spPr>
          <a:xfrm>
            <a:off x="3840480" y="3042337"/>
            <a:ext cx="3566160" cy="0"/>
          </a:xfrm>
          <a:prstGeom prst="line">
            <a:avLst/>
          </a:prstGeom>
          <a:noFill/>
          <a:ln w="21590">
            <a:solidFill>
              <a:srgbClr val="397C25"/>
            </a:solidFill>
            <a:prstDash val="solid"/>
            <a:tailEnd type="triangle"/>
          </a:ln>
        </p:spPr>
        <p:txBody>
          <a:bodyPr/>
          <a:lstStyle/>
          <a:p>
            <a:endParaRPr lang="en-ZA"/>
          </a:p>
        </p:txBody>
      </p:sp>
      <p:sp>
        <p:nvSpPr>
          <p:cNvPr id="20" name="Text 17"/>
          <p:cNvSpPr/>
          <p:nvPr/>
        </p:nvSpPr>
        <p:spPr>
          <a:xfrm>
            <a:off x="3877056" y="2778992"/>
            <a:ext cx="349300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Message + TemperatureTool schemas</a:t>
            </a:r>
            <a:endParaRPr lang="en-US" sz="1600" dirty="0"/>
          </a:p>
        </p:txBody>
      </p:sp>
      <p:sp>
        <p:nvSpPr>
          <p:cNvPr id="21" name="Shape 18"/>
          <p:cNvSpPr/>
          <p:nvPr/>
        </p:nvSpPr>
        <p:spPr>
          <a:xfrm>
            <a:off x="3840480" y="3460355"/>
            <a:ext cx="3566160" cy="0"/>
          </a:xfrm>
          <a:prstGeom prst="line">
            <a:avLst/>
          </a:prstGeom>
          <a:noFill/>
          <a:ln w="21590">
            <a:solidFill>
              <a:srgbClr val="397C25"/>
            </a:solidFill>
            <a:prstDash val="dash"/>
            <a:headEnd type="triangle"/>
          </a:ln>
        </p:spPr>
        <p:txBody>
          <a:bodyPr/>
          <a:lstStyle/>
          <a:p>
            <a:endParaRPr lang="en-ZA"/>
          </a:p>
        </p:txBody>
      </p:sp>
      <p:sp>
        <p:nvSpPr>
          <p:cNvPr id="22" name="Text 19"/>
          <p:cNvSpPr/>
          <p:nvPr/>
        </p:nvSpPr>
        <p:spPr>
          <a:xfrm>
            <a:off x="3877056" y="3197004"/>
            <a:ext cx="349300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fahrenheitToCelsius(fahrenheit=100)</a:t>
            </a:r>
            <a:endParaRPr lang="en-US" sz="1600" dirty="0"/>
          </a:p>
        </p:txBody>
      </p:sp>
      <p:sp>
        <p:nvSpPr>
          <p:cNvPr id="23" name="Shape 20"/>
          <p:cNvSpPr/>
          <p:nvPr/>
        </p:nvSpPr>
        <p:spPr>
          <a:xfrm>
            <a:off x="3840480" y="3878364"/>
            <a:ext cx="6949440" cy="0"/>
          </a:xfrm>
          <a:prstGeom prst="line">
            <a:avLst/>
          </a:prstGeom>
          <a:noFill/>
          <a:ln w="21590">
            <a:solidFill>
              <a:srgbClr val="397C25"/>
            </a:solidFill>
            <a:prstDash val="solid"/>
            <a:tailEnd type="triangle"/>
          </a:ln>
        </p:spPr>
        <p:txBody>
          <a:bodyPr/>
          <a:lstStyle/>
          <a:p>
            <a:endParaRPr lang="en-ZA"/>
          </a:p>
        </p:txBody>
      </p:sp>
      <p:sp>
        <p:nvSpPr>
          <p:cNvPr id="24" name="Text 21"/>
          <p:cNvSpPr/>
          <p:nvPr/>
        </p:nvSpPr>
        <p:spPr>
          <a:xfrm>
            <a:off x="3877056" y="3615015"/>
            <a:ext cx="687628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Call fahrenheitToCelsius(100.0)</a:t>
            </a:r>
            <a:endParaRPr lang="en-US" sz="1600" dirty="0"/>
          </a:p>
        </p:txBody>
      </p:sp>
      <p:sp>
        <p:nvSpPr>
          <p:cNvPr id="25" name="Shape 22"/>
          <p:cNvSpPr/>
          <p:nvPr/>
        </p:nvSpPr>
        <p:spPr>
          <a:xfrm>
            <a:off x="3840480" y="4296372"/>
            <a:ext cx="6949440" cy="0"/>
          </a:xfrm>
          <a:prstGeom prst="line">
            <a:avLst/>
          </a:prstGeom>
          <a:noFill/>
          <a:ln w="21590">
            <a:solidFill>
              <a:srgbClr val="397C25"/>
            </a:solidFill>
            <a:prstDash val="dash"/>
            <a:headEnd type="triangle"/>
          </a:ln>
        </p:spPr>
        <p:txBody>
          <a:bodyPr/>
          <a:lstStyle/>
          <a:p>
            <a:endParaRPr lang="en-ZA"/>
          </a:p>
        </p:txBody>
      </p:sp>
      <p:sp>
        <p:nvSpPr>
          <p:cNvPr id="26" name="Text 23"/>
          <p:cNvSpPr/>
          <p:nvPr/>
        </p:nvSpPr>
        <p:spPr>
          <a:xfrm>
            <a:off x="3877056" y="4033027"/>
            <a:ext cx="687628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Formatted conversion: 100.0 F = 37.8 C</a:t>
            </a:r>
            <a:endParaRPr lang="en-US" sz="1600" dirty="0"/>
          </a:p>
        </p:txBody>
      </p:sp>
      <p:sp>
        <p:nvSpPr>
          <p:cNvPr id="27" name="Shape 24"/>
          <p:cNvSpPr/>
          <p:nvPr/>
        </p:nvSpPr>
        <p:spPr>
          <a:xfrm>
            <a:off x="3840480" y="4714381"/>
            <a:ext cx="3566160" cy="0"/>
          </a:xfrm>
          <a:prstGeom prst="line">
            <a:avLst/>
          </a:prstGeom>
          <a:noFill/>
          <a:ln w="21590">
            <a:solidFill>
              <a:srgbClr val="397C25"/>
            </a:solidFill>
            <a:prstDash val="solid"/>
            <a:tailEnd type="triangle"/>
          </a:ln>
        </p:spPr>
        <p:txBody>
          <a:bodyPr/>
          <a:lstStyle/>
          <a:p>
            <a:endParaRPr lang="en-ZA"/>
          </a:p>
        </p:txBody>
      </p:sp>
      <p:sp>
        <p:nvSpPr>
          <p:cNvPr id="28" name="Text 25"/>
          <p:cNvSpPr/>
          <p:nvPr/>
        </p:nvSpPr>
        <p:spPr>
          <a:xfrm>
            <a:off x="3877056" y="4451038"/>
            <a:ext cx="349300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Return that tool output</a:t>
            </a:r>
            <a:endParaRPr lang="en-US" sz="1600" dirty="0"/>
          </a:p>
        </p:txBody>
      </p:sp>
      <p:sp>
        <p:nvSpPr>
          <p:cNvPr id="29" name="Shape 26"/>
          <p:cNvSpPr/>
          <p:nvPr/>
        </p:nvSpPr>
        <p:spPr>
          <a:xfrm>
            <a:off x="3840480" y="5132399"/>
            <a:ext cx="3566160" cy="0"/>
          </a:xfrm>
          <a:prstGeom prst="line">
            <a:avLst/>
          </a:prstGeom>
          <a:noFill/>
          <a:ln w="21590">
            <a:solidFill>
              <a:srgbClr val="397C25"/>
            </a:solidFill>
            <a:prstDash val="dash"/>
            <a:headEnd type="triangle"/>
          </a:ln>
        </p:spPr>
        <p:txBody>
          <a:bodyPr/>
          <a:lstStyle/>
          <a:p>
            <a:endParaRPr lang="en-ZA"/>
          </a:p>
        </p:txBody>
      </p:sp>
      <p:sp>
        <p:nvSpPr>
          <p:cNvPr id="30" name="Text 27"/>
          <p:cNvSpPr/>
          <p:nvPr/>
        </p:nvSpPr>
        <p:spPr>
          <a:xfrm>
            <a:off x="3877056" y="4869049"/>
            <a:ext cx="349300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Final answer using the conversion</a:t>
            </a:r>
            <a:endParaRPr lang="en-US" sz="1600" dirty="0"/>
          </a:p>
        </p:txBody>
      </p:sp>
      <p:sp>
        <p:nvSpPr>
          <p:cNvPr id="31" name="Shape 28"/>
          <p:cNvSpPr/>
          <p:nvPr/>
        </p:nvSpPr>
        <p:spPr>
          <a:xfrm>
            <a:off x="859536" y="5550408"/>
            <a:ext cx="2980944" cy="0"/>
          </a:xfrm>
          <a:prstGeom prst="line">
            <a:avLst/>
          </a:prstGeom>
          <a:noFill/>
          <a:ln w="21590">
            <a:solidFill>
              <a:srgbClr val="397C25"/>
            </a:solidFill>
            <a:prstDash val="dash"/>
            <a:headEnd type="triangle"/>
          </a:ln>
        </p:spPr>
        <p:txBody>
          <a:bodyPr/>
          <a:lstStyle/>
          <a:p>
            <a:endParaRPr lang="en-ZA"/>
          </a:p>
        </p:txBody>
      </p:sp>
      <p:sp>
        <p:nvSpPr>
          <p:cNvPr id="32" name="Text 29"/>
          <p:cNvSpPr/>
          <p:nvPr/>
        </p:nvSpPr>
        <p:spPr>
          <a:xfrm>
            <a:off x="896112" y="5287061"/>
            <a:ext cx="2907792"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37.8 C; invocation metadata</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Spring AI integration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Spring Boot wires the client; the service adds tools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06 / 20</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this.chatClient = chatClientBuilder.build();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this.toolExecutionRecorder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new ToolExecutionInfo.Recorder();</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this.weatherTool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new WeatherTool(toolExecutionRecorder);</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this.temperatureTool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new TemperatureTool(toolExecutionRecorder);</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Inherited starter</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root POM provides the OpenAI starter and client.</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No extra AI library</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Tool calling is already available through ChatClient.</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Actual construction</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AgentService creates these two tool instances.</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Tool definitions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Define tools with @Tool and @ToolParam</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07 / 20</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 / METHOD SIGNATURE, BODY OMITTED</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@Tool(description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"Convert temperature from Celsius to Fahrenheit")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public String celsiusToFahrenheit(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@ToolParam(description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"Temperature in Celsius")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double celsius)</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@Tool</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Names the capability and when it is useful.</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@ToolParam</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Explains the argument, including its unit.</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Java types</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Describe the callable method contract.</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Model decisions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Tool descriptions guide selection and arguments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08 / 20</a:t>
            </a:r>
            <a:endParaRPr lang="en-US" sz="1200" dirty="0"/>
          </a:p>
        </p:txBody>
      </p:sp>
      <p:pic>
        <p:nvPicPr>
          <p:cNvPr id="6" name="Image 0" descr="decision making"/>
          <p:cNvPicPr>
            <a:picLocks noChangeAspect="1"/>
          </p:cNvPicPr>
          <p:nvPr/>
        </p:nvPicPr>
        <p:blipFill>
          <a:blip r:embed="rId3"/>
          <a:stretch>
            <a:fillRect/>
          </a:stretch>
        </p:blipFill>
        <p:spPr>
          <a:xfrm>
            <a:off x="3418512" y="1682496"/>
            <a:ext cx="5351927" cy="38679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Spring AI API</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Register tools on the ChatClient request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09 / 20</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answer = chatClient.prompt()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.messages(messages)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.tools(weatherTool, temperatureTool)</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.call()</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.content();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Conversation input</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messages(...) supplies the current session history.</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Allowed capabilities</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tools(...) exposes these instances for this call.</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Automatic loop</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Spring AI dispatches calls and returns results.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Workshop capabilities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Eight methods form the available tool set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10 / 20</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TOOL METHODS</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WeatherTool</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getCurrentWeather(location)</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getWeatherForecast(location, days)</a:t>
            </a:r>
            <a:endParaRPr lang="en-US" sz="1600" dirty="0"/>
          </a:p>
          <a:p>
            <a:pPr marL="0" indent="0">
              <a:lnSpc>
                <a:spcPts val="1750"/>
              </a:lnSpc>
              <a:buNone/>
            </a:pP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TemperatureTool</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celsiusToFahrenheit(celsius)</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fahrenheitToCelsius(fahrenheit)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celsiusToKelvin(celsius)</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kelvinToCelsius(kelvin)</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fahrenheitToKelvin(fahrenheit)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kelvinToFahrenheit(kelvin)</a:t>
            </a:r>
            <a:endParaRPr lang="en-US" sz="16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Two weather calls</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Current conditions and a 1-7 day forecast.</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Six conversions</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Both directions between Celsius, Fahrenheit, and Kelvin.</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Small contracts</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Each tool has one clear responsibility.</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Implementation boundaries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WeatherTool is a mock, not a live weather API</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11 / 20</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 / MOCK DATA EXCERPT</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int temperature = 15 + random.nextInt(20);</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conditions =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"sunny", "cloudy", "partly cloudy", "rainy"</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condition = conditions[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random.nextInt(conditions.length)];</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Synthetic readings</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Generated values range from 15 to 34 Celsius.</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No city lookup</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Any location string can receive mock conditions.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Forecast limit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days parameter is checked against 1-7.</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Deterministic tools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Run temperature calculations in ordinary Java</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12 / 20</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 / CALCULATION EXCERPTS</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double fahrenheit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(celsius * 9.0 / 5.0) + 32.0;</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double celsius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(fahrenheit - 32.0) * 5.0 / 9.0;</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double kelvin = celsius + 273.15;</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Known formulas</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tool computes instead of asking the model to guess.</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Simple test cases</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0 Celsius = 32 Fahrenheit = 273.15 Kelvin.</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Display precision</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Celsius/Fahrenheit use one decimal; Kelvin uses two.</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Multiple tool calls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Chain a lookup into a conversion</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13 / 20</a:t>
            </a:r>
            <a:endParaRPr lang="en-US" sz="1200" dirty="0"/>
          </a:p>
        </p:txBody>
      </p:sp>
      <p:sp>
        <p:nvSpPr>
          <p:cNvPr id="6" name="Shape 4"/>
          <p:cNvSpPr/>
          <p:nvPr/>
        </p:nvSpPr>
        <p:spPr>
          <a:xfrm>
            <a:off x="859536" y="2231136"/>
            <a:ext cx="0" cy="3355848"/>
          </a:xfrm>
          <a:prstGeom prst="line">
            <a:avLst/>
          </a:prstGeom>
          <a:noFill/>
          <a:ln w="10160">
            <a:solidFill>
              <a:srgbClr val="B5C1B6"/>
            </a:solidFill>
            <a:prstDash val="dash"/>
          </a:ln>
        </p:spPr>
        <p:txBody>
          <a:bodyPr/>
          <a:lstStyle/>
          <a:p>
            <a:endParaRPr lang="en-ZA"/>
          </a:p>
        </p:txBody>
      </p:sp>
      <p:pic>
        <p:nvPicPr>
          <p:cNvPr id="7" name="Image 0" descr="client server sequence"/>
          <p:cNvPicPr>
            <a:picLocks noChangeAspect="1"/>
          </p:cNvPicPr>
          <p:nvPr/>
        </p:nvPicPr>
        <p:blipFill>
          <a:blip r:embed="rId3"/>
          <a:stretch>
            <a:fillRect/>
          </a:stretch>
        </p:blipFill>
        <p:spPr>
          <a:xfrm>
            <a:off x="718022" y="1627632"/>
            <a:ext cx="283029" cy="594360"/>
          </a:xfrm>
          <a:prstGeom prst="rect">
            <a:avLst/>
          </a:prstGeom>
        </p:spPr>
      </p:pic>
      <p:sp>
        <p:nvSpPr>
          <p:cNvPr id="8" name="Shape 5"/>
          <p:cNvSpPr/>
          <p:nvPr/>
        </p:nvSpPr>
        <p:spPr>
          <a:xfrm>
            <a:off x="3840480" y="2231136"/>
            <a:ext cx="0" cy="3355848"/>
          </a:xfrm>
          <a:prstGeom prst="line">
            <a:avLst/>
          </a:prstGeom>
          <a:noFill/>
          <a:ln w="10160">
            <a:solidFill>
              <a:srgbClr val="B5C1B6"/>
            </a:solidFill>
            <a:prstDash val="dash"/>
          </a:ln>
        </p:spPr>
        <p:txBody>
          <a:bodyPr/>
          <a:lstStyle/>
          <a:p>
            <a:endParaRPr lang="en-ZA"/>
          </a:p>
        </p:txBody>
      </p:sp>
      <p:sp>
        <p:nvSpPr>
          <p:cNvPr id="9" name="Shape 6"/>
          <p:cNvSpPr/>
          <p:nvPr/>
        </p:nvSpPr>
        <p:spPr>
          <a:xfrm>
            <a:off x="3054096"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0" name="Text 7"/>
          <p:cNvSpPr/>
          <p:nvPr/>
        </p:nvSpPr>
        <p:spPr>
          <a:xfrm>
            <a:off x="3118104"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Spring AI client</a:t>
            </a:r>
            <a:endParaRPr lang="en-US" sz="1600" dirty="0"/>
          </a:p>
        </p:txBody>
      </p:sp>
      <p:sp>
        <p:nvSpPr>
          <p:cNvPr id="11" name="Shape 8"/>
          <p:cNvSpPr/>
          <p:nvPr/>
        </p:nvSpPr>
        <p:spPr>
          <a:xfrm>
            <a:off x="7406640" y="2231136"/>
            <a:ext cx="0" cy="3355848"/>
          </a:xfrm>
          <a:prstGeom prst="line">
            <a:avLst/>
          </a:prstGeom>
          <a:noFill/>
          <a:ln w="10160">
            <a:solidFill>
              <a:srgbClr val="B5C1B6"/>
            </a:solidFill>
            <a:prstDash val="dash"/>
          </a:ln>
        </p:spPr>
        <p:txBody>
          <a:bodyPr/>
          <a:lstStyle/>
          <a:p>
            <a:endParaRPr lang="en-ZA"/>
          </a:p>
        </p:txBody>
      </p:sp>
      <p:sp>
        <p:nvSpPr>
          <p:cNvPr id="12" name="Shape 9"/>
          <p:cNvSpPr/>
          <p:nvPr/>
        </p:nvSpPr>
        <p:spPr>
          <a:xfrm>
            <a:off x="6620256"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3" name="Text 10"/>
          <p:cNvSpPr/>
          <p:nvPr/>
        </p:nvSpPr>
        <p:spPr>
          <a:xfrm>
            <a:off x="6684264"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Foundry model</a:t>
            </a:r>
            <a:endParaRPr lang="en-US" sz="1600" dirty="0"/>
          </a:p>
        </p:txBody>
      </p:sp>
      <p:sp>
        <p:nvSpPr>
          <p:cNvPr id="14" name="Shape 11"/>
          <p:cNvSpPr/>
          <p:nvPr/>
        </p:nvSpPr>
        <p:spPr>
          <a:xfrm>
            <a:off x="10789920" y="2231136"/>
            <a:ext cx="0" cy="3355848"/>
          </a:xfrm>
          <a:prstGeom prst="line">
            <a:avLst/>
          </a:prstGeom>
          <a:noFill/>
          <a:ln w="10160">
            <a:solidFill>
              <a:srgbClr val="B5C1B6"/>
            </a:solidFill>
            <a:prstDash val="dash"/>
          </a:ln>
        </p:spPr>
        <p:txBody>
          <a:bodyPr/>
          <a:lstStyle/>
          <a:p>
            <a:endParaRPr lang="en-ZA"/>
          </a:p>
        </p:txBody>
      </p:sp>
      <p:sp>
        <p:nvSpPr>
          <p:cNvPr id="15" name="Shape 12"/>
          <p:cNvSpPr/>
          <p:nvPr/>
        </p:nvSpPr>
        <p:spPr>
          <a:xfrm>
            <a:off x="10003536"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6" name="Text 13"/>
          <p:cNvSpPr/>
          <p:nvPr/>
        </p:nvSpPr>
        <p:spPr>
          <a:xfrm>
            <a:off x="10067544"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Java tool</a:t>
            </a:r>
            <a:endParaRPr lang="en-US" sz="1600" dirty="0"/>
          </a:p>
        </p:txBody>
      </p:sp>
      <p:sp>
        <p:nvSpPr>
          <p:cNvPr id="17" name="Shape 14"/>
          <p:cNvSpPr/>
          <p:nvPr/>
        </p:nvSpPr>
        <p:spPr>
          <a:xfrm>
            <a:off x="859536" y="2624328"/>
            <a:ext cx="2980944" cy="0"/>
          </a:xfrm>
          <a:prstGeom prst="line">
            <a:avLst/>
          </a:prstGeom>
          <a:noFill/>
          <a:ln w="21590">
            <a:solidFill>
              <a:srgbClr val="397C25"/>
            </a:solidFill>
            <a:prstDash val="solid"/>
            <a:tailEnd type="triangle"/>
          </a:ln>
        </p:spPr>
        <p:txBody>
          <a:bodyPr/>
          <a:lstStyle/>
          <a:p>
            <a:endParaRPr lang="en-ZA"/>
          </a:p>
        </p:txBody>
      </p:sp>
      <p:sp>
        <p:nvSpPr>
          <p:cNvPr id="18" name="Text 15"/>
          <p:cNvSpPr/>
          <p:nvPr/>
        </p:nvSpPr>
        <p:spPr>
          <a:xfrm>
            <a:off x="896112" y="2360981"/>
            <a:ext cx="2907792"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"Seattle weather in Fahrenheit?"</a:t>
            </a:r>
            <a:endParaRPr lang="en-US" sz="1600" dirty="0"/>
          </a:p>
        </p:txBody>
      </p:sp>
      <p:sp>
        <p:nvSpPr>
          <p:cNvPr id="19" name="Shape 16"/>
          <p:cNvSpPr/>
          <p:nvPr/>
        </p:nvSpPr>
        <p:spPr>
          <a:xfrm>
            <a:off x="3840480" y="2890336"/>
            <a:ext cx="3566160" cy="0"/>
          </a:xfrm>
          <a:prstGeom prst="line">
            <a:avLst/>
          </a:prstGeom>
          <a:noFill/>
          <a:ln w="21590">
            <a:solidFill>
              <a:srgbClr val="397C25"/>
            </a:solidFill>
            <a:prstDash val="solid"/>
            <a:tailEnd type="triangle"/>
          </a:ln>
        </p:spPr>
        <p:txBody>
          <a:bodyPr/>
          <a:lstStyle/>
          <a:p>
            <a:endParaRPr lang="en-ZA"/>
          </a:p>
        </p:txBody>
      </p:sp>
      <p:sp>
        <p:nvSpPr>
          <p:cNvPr id="20" name="Text 17"/>
          <p:cNvSpPr/>
          <p:nvPr/>
        </p:nvSpPr>
        <p:spPr>
          <a:xfrm>
            <a:off x="3877056" y="2626988"/>
            <a:ext cx="349300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Question + weather/conversion schemas</a:t>
            </a:r>
            <a:endParaRPr lang="en-US" sz="1600" dirty="0"/>
          </a:p>
        </p:txBody>
      </p:sp>
      <p:sp>
        <p:nvSpPr>
          <p:cNvPr id="21" name="Shape 18"/>
          <p:cNvSpPr/>
          <p:nvPr/>
        </p:nvSpPr>
        <p:spPr>
          <a:xfrm>
            <a:off x="3840480" y="3156344"/>
            <a:ext cx="3566160" cy="0"/>
          </a:xfrm>
          <a:prstGeom prst="line">
            <a:avLst/>
          </a:prstGeom>
          <a:noFill/>
          <a:ln w="21590">
            <a:solidFill>
              <a:srgbClr val="397C25"/>
            </a:solidFill>
            <a:prstDash val="dash"/>
            <a:headEnd type="triangle"/>
          </a:ln>
        </p:spPr>
        <p:txBody>
          <a:bodyPr/>
          <a:lstStyle/>
          <a:p>
            <a:endParaRPr lang="en-ZA"/>
          </a:p>
        </p:txBody>
      </p:sp>
      <p:sp>
        <p:nvSpPr>
          <p:cNvPr id="22" name="Text 19"/>
          <p:cNvSpPr/>
          <p:nvPr/>
        </p:nvSpPr>
        <p:spPr>
          <a:xfrm>
            <a:off x="3877056" y="2892995"/>
            <a:ext cx="349300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getCurrentWeather(location="Seattle")</a:t>
            </a:r>
            <a:endParaRPr lang="en-US" sz="1600" dirty="0"/>
          </a:p>
        </p:txBody>
      </p:sp>
      <p:sp>
        <p:nvSpPr>
          <p:cNvPr id="23" name="Shape 20"/>
          <p:cNvSpPr/>
          <p:nvPr/>
        </p:nvSpPr>
        <p:spPr>
          <a:xfrm>
            <a:off x="3840480" y="3422352"/>
            <a:ext cx="6949440" cy="0"/>
          </a:xfrm>
          <a:prstGeom prst="line">
            <a:avLst/>
          </a:prstGeom>
          <a:noFill/>
          <a:ln w="21590">
            <a:solidFill>
              <a:srgbClr val="397C25"/>
            </a:solidFill>
            <a:prstDash val="solid"/>
            <a:tailEnd type="triangle"/>
          </a:ln>
        </p:spPr>
        <p:txBody>
          <a:bodyPr/>
          <a:lstStyle/>
          <a:p>
            <a:endParaRPr lang="en-ZA"/>
          </a:p>
        </p:txBody>
      </p:sp>
      <p:sp>
        <p:nvSpPr>
          <p:cNvPr id="24" name="Text 21"/>
          <p:cNvSpPr/>
          <p:nvPr/>
        </p:nvSpPr>
        <p:spPr>
          <a:xfrm>
            <a:off x="3877056" y="3159003"/>
            <a:ext cx="687628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getCurrentWeather("Seattle")</a:t>
            </a:r>
            <a:endParaRPr lang="en-US" sz="1600" dirty="0"/>
          </a:p>
        </p:txBody>
      </p:sp>
      <p:sp>
        <p:nvSpPr>
          <p:cNvPr id="25" name="Shape 22"/>
          <p:cNvSpPr/>
          <p:nvPr/>
        </p:nvSpPr>
        <p:spPr>
          <a:xfrm>
            <a:off x="3840480" y="3688360"/>
            <a:ext cx="6949440" cy="0"/>
          </a:xfrm>
          <a:prstGeom prst="line">
            <a:avLst/>
          </a:prstGeom>
          <a:noFill/>
          <a:ln w="21590">
            <a:solidFill>
              <a:srgbClr val="23587A"/>
            </a:solidFill>
            <a:prstDash val="dash"/>
            <a:headEnd type="triangle"/>
          </a:ln>
        </p:spPr>
        <p:txBody>
          <a:bodyPr/>
          <a:lstStyle/>
          <a:p>
            <a:endParaRPr lang="en-ZA"/>
          </a:p>
        </p:txBody>
      </p:sp>
      <p:sp>
        <p:nvSpPr>
          <p:cNvPr id="26" name="Text 23"/>
          <p:cNvSpPr/>
          <p:nvPr/>
        </p:nvSpPr>
        <p:spPr>
          <a:xfrm>
            <a:off x="3877056" y="3425010"/>
            <a:ext cx="6876288" cy="250546"/>
          </a:xfrm>
          <a:prstGeom prst="rect">
            <a:avLst/>
          </a:prstGeom>
          <a:noFill/>
          <a:ln/>
        </p:spPr>
        <p:txBody>
          <a:bodyPr wrap="square" lIns="0" tIns="0" rIns="0" bIns="0" rtlCol="0" anchor="t"/>
          <a:lstStyle/>
          <a:p>
            <a:pPr marL="0" indent="0">
              <a:buNone/>
            </a:pPr>
            <a:r>
              <a:rPr lang="en-US" sz="1600" b="1" dirty="0">
                <a:solidFill>
                  <a:srgbClr val="23587A"/>
                </a:solidFill>
                <a:latin typeface="Calibri" pitchFamily="34" charset="0"/>
                <a:ea typeface="Calibri" pitchFamily="34" charset="-122"/>
                <a:cs typeface="Calibri" pitchFamily="34" charset="-120"/>
              </a:rPr>
              <a:t>Example mock result: 22 C, cloudy</a:t>
            </a:r>
            <a:endParaRPr lang="en-US" sz="1600" dirty="0"/>
          </a:p>
        </p:txBody>
      </p:sp>
      <p:sp>
        <p:nvSpPr>
          <p:cNvPr id="27" name="Shape 24"/>
          <p:cNvSpPr/>
          <p:nvPr/>
        </p:nvSpPr>
        <p:spPr>
          <a:xfrm>
            <a:off x="3840480" y="3954369"/>
            <a:ext cx="3566160" cy="0"/>
          </a:xfrm>
          <a:prstGeom prst="line">
            <a:avLst/>
          </a:prstGeom>
          <a:noFill/>
          <a:ln w="21590">
            <a:solidFill>
              <a:srgbClr val="397C25"/>
            </a:solidFill>
            <a:prstDash val="solid"/>
            <a:tailEnd type="triangle"/>
          </a:ln>
        </p:spPr>
        <p:txBody>
          <a:bodyPr/>
          <a:lstStyle/>
          <a:p>
            <a:endParaRPr lang="en-ZA"/>
          </a:p>
        </p:txBody>
      </p:sp>
      <p:sp>
        <p:nvSpPr>
          <p:cNvPr id="28" name="Text 25"/>
          <p:cNvSpPr/>
          <p:nvPr/>
        </p:nvSpPr>
        <p:spPr>
          <a:xfrm>
            <a:off x="3877056" y="3691017"/>
            <a:ext cx="349300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Return actual weather result</a:t>
            </a:r>
            <a:endParaRPr lang="en-US" sz="1600" dirty="0"/>
          </a:p>
        </p:txBody>
      </p:sp>
      <p:sp>
        <p:nvSpPr>
          <p:cNvPr id="29" name="Shape 26"/>
          <p:cNvSpPr/>
          <p:nvPr/>
        </p:nvSpPr>
        <p:spPr>
          <a:xfrm>
            <a:off x="3840480" y="4220367"/>
            <a:ext cx="3566160" cy="0"/>
          </a:xfrm>
          <a:prstGeom prst="line">
            <a:avLst/>
          </a:prstGeom>
          <a:noFill/>
          <a:ln w="21590">
            <a:solidFill>
              <a:srgbClr val="23587A"/>
            </a:solidFill>
            <a:prstDash val="dash"/>
            <a:headEnd type="triangle"/>
          </a:ln>
        </p:spPr>
        <p:txBody>
          <a:bodyPr/>
          <a:lstStyle/>
          <a:p>
            <a:endParaRPr lang="en-ZA"/>
          </a:p>
        </p:txBody>
      </p:sp>
      <p:sp>
        <p:nvSpPr>
          <p:cNvPr id="30" name="Text 27"/>
          <p:cNvSpPr/>
          <p:nvPr/>
        </p:nvSpPr>
        <p:spPr>
          <a:xfrm>
            <a:off x="3877056" y="3957024"/>
            <a:ext cx="3493008" cy="250546"/>
          </a:xfrm>
          <a:prstGeom prst="rect">
            <a:avLst/>
          </a:prstGeom>
          <a:noFill/>
          <a:ln/>
        </p:spPr>
        <p:txBody>
          <a:bodyPr wrap="square" lIns="0" tIns="0" rIns="0" bIns="0" rtlCol="0" anchor="t"/>
          <a:lstStyle/>
          <a:p>
            <a:pPr marL="0" indent="0">
              <a:buNone/>
            </a:pPr>
            <a:r>
              <a:rPr lang="en-US" sz="1600" b="1" dirty="0">
                <a:solidFill>
                  <a:srgbClr val="23587A"/>
                </a:solidFill>
                <a:latin typeface="Calibri" pitchFamily="34" charset="0"/>
                <a:ea typeface="Calibri" pitchFamily="34" charset="-122"/>
                <a:cs typeface="Calibri" pitchFamily="34" charset="-120"/>
              </a:rPr>
              <a:t>celsiusToFahrenheit(celsius=22)</a:t>
            </a:r>
            <a:endParaRPr lang="en-US" sz="1600" dirty="0"/>
          </a:p>
        </p:txBody>
      </p:sp>
      <p:sp>
        <p:nvSpPr>
          <p:cNvPr id="31" name="Shape 28"/>
          <p:cNvSpPr/>
          <p:nvPr/>
        </p:nvSpPr>
        <p:spPr>
          <a:xfrm>
            <a:off x="3840480" y="4486376"/>
            <a:ext cx="6949440" cy="0"/>
          </a:xfrm>
          <a:prstGeom prst="line">
            <a:avLst/>
          </a:prstGeom>
          <a:noFill/>
          <a:ln w="21590">
            <a:solidFill>
              <a:srgbClr val="397C25"/>
            </a:solidFill>
            <a:prstDash val="solid"/>
            <a:tailEnd type="triangle"/>
          </a:ln>
        </p:spPr>
        <p:txBody>
          <a:bodyPr/>
          <a:lstStyle/>
          <a:p>
            <a:endParaRPr lang="en-ZA"/>
          </a:p>
        </p:txBody>
      </p:sp>
      <p:sp>
        <p:nvSpPr>
          <p:cNvPr id="32" name="Text 29"/>
          <p:cNvSpPr/>
          <p:nvPr/>
        </p:nvSpPr>
        <p:spPr>
          <a:xfrm>
            <a:off x="3877056" y="4223032"/>
            <a:ext cx="687628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celsiusToFahrenheit(22.0)</a:t>
            </a:r>
            <a:endParaRPr lang="en-US" sz="1600" dirty="0"/>
          </a:p>
        </p:txBody>
      </p:sp>
      <p:sp>
        <p:nvSpPr>
          <p:cNvPr id="33" name="Shape 30"/>
          <p:cNvSpPr/>
          <p:nvPr/>
        </p:nvSpPr>
        <p:spPr>
          <a:xfrm>
            <a:off x="3840480" y="4752384"/>
            <a:ext cx="6949440" cy="0"/>
          </a:xfrm>
          <a:prstGeom prst="line">
            <a:avLst/>
          </a:prstGeom>
          <a:noFill/>
          <a:ln w="21590">
            <a:solidFill>
              <a:srgbClr val="397C25"/>
            </a:solidFill>
            <a:prstDash val="dash"/>
            <a:headEnd type="triangle"/>
          </a:ln>
        </p:spPr>
        <p:txBody>
          <a:bodyPr/>
          <a:lstStyle/>
          <a:p>
            <a:endParaRPr lang="en-ZA"/>
          </a:p>
        </p:txBody>
      </p:sp>
      <p:sp>
        <p:nvSpPr>
          <p:cNvPr id="34" name="Text 31"/>
          <p:cNvSpPr/>
          <p:nvPr/>
        </p:nvSpPr>
        <p:spPr>
          <a:xfrm>
            <a:off x="3877056" y="4489039"/>
            <a:ext cx="687628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22.0 C = 71.6 F</a:t>
            </a:r>
            <a:endParaRPr lang="en-US" sz="1600" dirty="0"/>
          </a:p>
        </p:txBody>
      </p:sp>
      <p:sp>
        <p:nvSpPr>
          <p:cNvPr id="35" name="Shape 32"/>
          <p:cNvSpPr/>
          <p:nvPr/>
        </p:nvSpPr>
        <p:spPr>
          <a:xfrm>
            <a:off x="3840480" y="5018392"/>
            <a:ext cx="3566160" cy="0"/>
          </a:xfrm>
          <a:prstGeom prst="line">
            <a:avLst/>
          </a:prstGeom>
          <a:noFill/>
          <a:ln w="21590">
            <a:solidFill>
              <a:srgbClr val="397C25"/>
            </a:solidFill>
            <a:prstDash val="solid"/>
            <a:tailEnd type="triangle"/>
          </a:ln>
        </p:spPr>
        <p:txBody>
          <a:bodyPr/>
          <a:lstStyle/>
          <a:p>
            <a:endParaRPr lang="en-ZA"/>
          </a:p>
        </p:txBody>
      </p:sp>
      <p:sp>
        <p:nvSpPr>
          <p:cNvPr id="36" name="Text 33"/>
          <p:cNvSpPr/>
          <p:nvPr/>
        </p:nvSpPr>
        <p:spPr>
          <a:xfrm>
            <a:off x="3877056" y="4755046"/>
            <a:ext cx="349300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Return actual conversion result</a:t>
            </a:r>
            <a:endParaRPr lang="en-US" sz="1600" dirty="0"/>
          </a:p>
        </p:txBody>
      </p:sp>
      <p:sp>
        <p:nvSpPr>
          <p:cNvPr id="37" name="Shape 34"/>
          <p:cNvSpPr/>
          <p:nvPr/>
        </p:nvSpPr>
        <p:spPr>
          <a:xfrm>
            <a:off x="3840480" y="5284400"/>
            <a:ext cx="3566160" cy="0"/>
          </a:xfrm>
          <a:prstGeom prst="line">
            <a:avLst/>
          </a:prstGeom>
          <a:noFill/>
          <a:ln w="21590">
            <a:solidFill>
              <a:srgbClr val="397C25"/>
            </a:solidFill>
            <a:prstDash val="dash"/>
            <a:headEnd type="triangle"/>
          </a:ln>
        </p:spPr>
        <p:txBody>
          <a:bodyPr/>
          <a:lstStyle/>
          <a:p>
            <a:endParaRPr lang="en-ZA"/>
          </a:p>
        </p:txBody>
      </p:sp>
      <p:sp>
        <p:nvSpPr>
          <p:cNvPr id="38" name="Text 35"/>
          <p:cNvSpPr/>
          <p:nvPr/>
        </p:nvSpPr>
        <p:spPr>
          <a:xfrm>
            <a:off x="3877056" y="5021054"/>
            <a:ext cx="349300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Final combined weather answer</a:t>
            </a:r>
            <a:endParaRPr lang="en-US" sz="1600" dirty="0"/>
          </a:p>
        </p:txBody>
      </p:sp>
      <p:sp>
        <p:nvSpPr>
          <p:cNvPr id="39" name="Shape 36"/>
          <p:cNvSpPr/>
          <p:nvPr/>
        </p:nvSpPr>
        <p:spPr>
          <a:xfrm>
            <a:off x="859536" y="5550408"/>
            <a:ext cx="2980944" cy="0"/>
          </a:xfrm>
          <a:prstGeom prst="line">
            <a:avLst/>
          </a:prstGeom>
          <a:noFill/>
          <a:ln w="21590">
            <a:solidFill>
              <a:srgbClr val="397C25"/>
            </a:solidFill>
            <a:prstDash val="dash"/>
            <a:headEnd type="triangle"/>
          </a:ln>
        </p:spPr>
        <p:txBody>
          <a:bodyPr/>
          <a:lstStyle/>
          <a:p>
            <a:endParaRPr lang="en-ZA"/>
          </a:p>
        </p:txBody>
      </p:sp>
      <p:sp>
        <p:nvSpPr>
          <p:cNvPr id="40" name="Text 37"/>
          <p:cNvSpPr/>
          <p:nvPr/>
        </p:nvSpPr>
        <p:spPr>
          <a:xfrm>
            <a:off x="896112" y="5287061"/>
            <a:ext cx="2907792"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Weather + converted temperature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Observability</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Record invocations independently of model text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14 / 20</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toolExecutionRecorder.start();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answer = chatClient.prompt()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.messages(messages)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.tools(weatherTool, temperatureTool)</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.call().content();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List&lt;ToolExecutionInfo&gt; executions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toolExecutionRecorder.stop();</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Real method calls</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Tools wrap their execution with Recorder.record(...).</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Useful fields</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toolName, arguments, and completed/failed status.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UI evidence</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response supplies the Tools run list.</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Spring AI conversation memory</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Keep a 20-message window per session</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15 / 20</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this.chatMemory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MessageWindowChatMemory.builder()</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.maxMessages(20)</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.build();</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chatMemory.add(sessionId,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new UserMessage(request.message()));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List&lt;Message&gt; messages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chatMemory.get(sessionId);</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Explicit management</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service adds user and final assistant messages.</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Follow-up context</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 later request can reference the prior temperature.</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Session isolation</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Different IDs select separate message histories.</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Error handling</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Distinguish domain limits from execution failures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16 / 20</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if (days &lt; 1 || days &gt; 7)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return "Forecast is available for "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"1 to 7 days only.";</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if (kelvin &lt; 0)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throw new IllegalArgumentException(</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"Temperature cannot be below "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"absolute zero (0 K)");</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Domain response</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Invalid forecast length returns explanatory text.</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Java exception</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Negative Kelvin throws and is recorded as failed.</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Service fallback</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service catches failures and returns a failed response.</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Choosing the right pattern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RAG supplies evidence; tools execute capabilities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17 / 20</a:t>
            </a:r>
            <a:endParaRPr lang="en-US" sz="1200" dirty="0"/>
          </a:p>
        </p:txBody>
      </p:sp>
      <p:pic>
        <p:nvPicPr>
          <p:cNvPr id="6" name="Image 0" descr="what are tools"/>
          <p:cNvPicPr>
            <a:picLocks noChangeAspect="1"/>
          </p:cNvPicPr>
          <p:nvPr/>
        </p:nvPicPr>
        <p:blipFill>
          <a:blip r:embed="rId3"/>
          <a:stretch>
            <a:fillRect/>
          </a:stretch>
        </p:blipFill>
        <p:spPr>
          <a:xfrm>
            <a:off x="7064393" y="2423160"/>
            <a:ext cx="1077686" cy="960120"/>
          </a:xfrm>
          <a:prstGeom prst="rect">
            <a:avLst/>
          </a:prstGeom>
        </p:spPr>
      </p:pic>
      <p:pic>
        <p:nvPicPr>
          <p:cNvPr id="7" name="Image 1" descr="what are tools"/>
          <p:cNvPicPr>
            <a:picLocks noChangeAspect="1"/>
          </p:cNvPicPr>
          <p:nvPr/>
        </p:nvPicPr>
        <p:blipFill>
          <a:blip r:embed="rId3"/>
          <a:stretch>
            <a:fillRect/>
          </a:stretch>
        </p:blipFill>
        <p:spPr>
          <a:xfrm>
            <a:off x="3553097" y="4343400"/>
            <a:ext cx="1077686" cy="960120"/>
          </a:xfrm>
          <a:prstGeom prst="rect">
            <a:avLst/>
          </a:prstGeom>
        </p:spPr>
      </p:pic>
      <p:sp>
        <p:nvSpPr>
          <p:cNvPr id="8" name="Shape 4"/>
          <p:cNvSpPr/>
          <p:nvPr/>
        </p:nvSpPr>
        <p:spPr>
          <a:xfrm>
            <a:off x="2377440" y="2903220"/>
            <a:ext cx="758952" cy="0"/>
          </a:xfrm>
          <a:prstGeom prst="line">
            <a:avLst/>
          </a:prstGeom>
          <a:noFill/>
          <a:ln w="21590">
            <a:solidFill>
              <a:srgbClr val="397C25"/>
            </a:solidFill>
            <a:prstDash val="solid"/>
            <a:tailEnd type="triangle"/>
          </a:ln>
        </p:spPr>
        <p:txBody>
          <a:bodyPr/>
          <a:lstStyle/>
          <a:p>
            <a:endParaRPr lang="en-ZA"/>
          </a:p>
        </p:txBody>
      </p:sp>
      <p:sp>
        <p:nvSpPr>
          <p:cNvPr id="9" name="Shape 5"/>
          <p:cNvSpPr/>
          <p:nvPr/>
        </p:nvSpPr>
        <p:spPr>
          <a:xfrm>
            <a:off x="6108192" y="2903220"/>
            <a:ext cx="956197" cy="0"/>
          </a:xfrm>
          <a:prstGeom prst="line">
            <a:avLst/>
          </a:prstGeom>
          <a:noFill/>
          <a:ln w="21590">
            <a:solidFill>
              <a:srgbClr val="397C25"/>
            </a:solidFill>
            <a:prstDash val="solid"/>
            <a:tailEnd type="triangle"/>
          </a:ln>
        </p:spPr>
        <p:txBody>
          <a:bodyPr/>
          <a:lstStyle/>
          <a:p>
            <a:endParaRPr lang="en-ZA"/>
          </a:p>
        </p:txBody>
      </p:sp>
      <p:sp>
        <p:nvSpPr>
          <p:cNvPr id="10" name="Shape 6"/>
          <p:cNvSpPr/>
          <p:nvPr/>
        </p:nvSpPr>
        <p:spPr>
          <a:xfrm>
            <a:off x="8142083" y="2903220"/>
            <a:ext cx="1001917" cy="0"/>
          </a:xfrm>
          <a:prstGeom prst="line">
            <a:avLst/>
          </a:prstGeom>
          <a:noFill/>
          <a:ln w="21590">
            <a:solidFill>
              <a:srgbClr val="397C25"/>
            </a:solidFill>
            <a:prstDash val="solid"/>
            <a:tailEnd type="triangle"/>
          </a:ln>
        </p:spPr>
        <p:txBody>
          <a:bodyPr/>
          <a:lstStyle/>
          <a:p>
            <a:endParaRPr lang="en-ZA"/>
          </a:p>
        </p:txBody>
      </p:sp>
      <p:sp>
        <p:nvSpPr>
          <p:cNvPr id="11" name="Shape 7"/>
          <p:cNvSpPr/>
          <p:nvPr/>
        </p:nvSpPr>
        <p:spPr>
          <a:xfrm>
            <a:off x="2377440" y="4823460"/>
            <a:ext cx="1175653" cy="0"/>
          </a:xfrm>
          <a:prstGeom prst="line">
            <a:avLst/>
          </a:prstGeom>
          <a:noFill/>
          <a:ln w="21590">
            <a:solidFill>
              <a:srgbClr val="397C25"/>
            </a:solidFill>
            <a:prstDash val="solid"/>
            <a:tailEnd type="triangle"/>
          </a:ln>
        </p:spPr>
        <p:txBody>
          <a:bodyPr/>
          <a:lstStyle/>
          <a:p>
            <a:endParaRPr lang="en-ZA"/>
          </a:p>
        </p:txBody>
      </p:sp>
      <p:sp>
        <p:nvSpPr>
          <p:cNvPr id="12" name="Shape 8"/>
          <p:cNvSpPr/>
          <p:nvPr/>
        </p:nvSpPr>
        <p:spPr>
          <a:xfrm>
            <a:off x="4630787" y="4823460"/>
            <a:ext cx="1449973" cy="0"/>
          </a:xfrm>
          <a:prstGeom prst="line">
            <a:avLst/>
          </a:prstGeom>
          <a:noFill/>
          <a:ln w="21590">
            <a:solidFill>
              <a:srgbClr val="397C25"/>
            </a:solidFill>
            <a:prstDash val="solid"/>
            <a:tailEnd type="triangle"/>
          </a:ln>
        </p:spPr>
        <p:txBody>
          <a:bodyPr/>
          <a:lstStyle/>
          <a:p>
            <a:endParaRPr lang="en-ZA"/>
          </a:p>
        </p:txBody>
      </p:sp>
      <p:sp>
        <p:nvSpPr>
          <p:cNvPr id="13" name="Shape 9"/>
          <p:cNvSpPr/>
          <p:nvPr/>
        </p:nvSpPr>
        <p:spPr>
          <a:xfrm>
            <a:off x="7246620" y="5303520"/>
            <a:ext cx="0" cy="301752"/>
          </a:xfrm>
          <a:prstGeom prst="line">
            <a:avLst/>
          </a:prstGeom>
          <a:noFill/>
          <a:ln w="21590">
            <a:solidFill>
              <a:srgbClr val="397C25"/>
            </a:solidFill>
            <a:prstDash val="dash"/>
          </a:ln>
        </p:spPr>
        <p:txBody>
          <a:bodyPr/>
          <a:lstStyle/>
          <a:p>
            <a:endParaRPr lang="en-ZA"/>
          </a:p>
        </p:txBody>
      </p:sp>
      <p:sp>
        <p:nvSpPr>
          <p:cNvPr id="14" name="Shape 10"/>
          <p:cNvSpPr/>
          <p:nvPr/>
        </p:nvSpPr>
        <p:spPr>
          <a:xfrm>
            <a:off x="4091940" y="5605272"/>
            <a:ext cx="3154680" cy="0"/>
          </a:xfrm>
          <a:prstGeom prst="line">
            <a:avLst/>
          </a:prstGeom>
          <a:noFill/>
          <a:ln w="21590">
            <a:solidFill>
              <a:srgbClr val="397C25"/>
            </a:solidFill>
            <a:prstDash val="dash"/>
          </a:ln>
        </p:spPr>
        <p:txBody>
          <a:bodyPr/>
          <a:lstStyle/>
          <a:p>
            <a:endParaRPr lang="en-ZA"/>
          </a:p>
        </p:txBody>
      </p:sp>
      <p:sp>
        <p:nvSpPr>
          <p:cNvPr id="15" name="Shape 11"/>
          <p:cNvSpPr/>
          <p:nvPr/>
        </p:nvSpPr>
        <p:spPr>
          <a:xfrm>
            <a:off x="4091940" y="5303520"/>
            <a:ext cx="0" cy="301752"/>
          </a:xfrm>
          <a:prstGeom prst="line">
            <a:avLst/>
          </a:prstGeom>
          <a:noFill/>
          <a:ln w="21590">
            <a:solidFill>
              <a:srgbClr val="397C25"/>
            </a:solidFill>
            <a:prstDash val="dash"/>
            <a:headEnd type="triangle"/>
          </a:ln>
        </p:spPr>
        <p:txBody>
          <a:bodyPr/>
          <a:lstStyle/>
          <a:p>
            <a:endParaRPr lang="en-ZA"/>
          </a:p>
        </p:txBody>
      </p:sp>
      <p:sp>
        <p:nvSpPr>
          <p:cNvPr id="16" name="Shape 12"/>
          <p:cNvSpPr/>
          <p:nvPr/>
        </p:nvSpPr>
        <p:spPr>
          <a:xfrm>
            <a:off x="4091940" y="3913632"/>
            <a:ext cx="0" cy="429768"/>
          </a:xfrm>
          <a:prstGeom prst="line">
            <a:avLst/>
          </a:prstGeom>
          <a:noFill/>
          <a:ln w="21590">
            <a:solidFill>
              <a:srgbClr val="397C25"/>
            </a:solidFill>
            <a:prstDash val="solid"/>
          </a:ln>
        </p:spPr>
        <p:txBody>
          <a:bodyPr/>
          <a:lstStyle/>
          <a:p>
            <a:endParaRPr lang="en-ZA"/>
          </a:p>
        </p:txBody>
      </p:sp>
      <p:sp>
        <p:nvSpPr>
          <p:cNvPr id="17" name="Shape 13"/>
          <p:cNvSpPr/>
          <p:nvPr/>
        </p:nvSpPr>
        <p:spPr>
          <a:xfrm>
            <a:off x="4091940" y="3913632"/>
            <a:ext cx="6300216" cy="0"/>
          </a:xfrm>
          <a:prstGeom prst="line">
            <a:avLst/>
          </a:prstGeom>
          <a:noFill/>
          <a:ln w="21590">
            <a:solidFill>
              <a:srgbClr val="397C25"/>
            </a:solidFill>
            <a:prstDash val="solid"/>
          </a:ln>
        </p:spPr>
        <p:txBody>
          <a:bodyPr/>
          <a:lstStyle/>
          <a:p>
            <a:endParaRPr lang="en-ZA"/>
          </a:p>
        </p:txBody>
      </p:sp>
      <p:sp>
        <p:nvSpPr>
          <p:cNvPr id="18" name="Shape 14"/>
          <p:cNvSpPr/>
          <p:nvPr/>
        </p:nvSpPr>
        <p:spPr>
          <a:xfrm>
            <a:off x="10392156" y="3913632"/>
            <a:ext cx="0" cy="429768"/>
          </a:xfrm>
          <a:prstGeom prst="line">
            <a:avLst/>
          </a:prstGeom>
          <a:noFill/>
          <a:ln w="21590">
            <a:solidFill>
              <a:srgbClr val="397C25"/>
            </a:solidFill>
            <a:prstDash val="solid"/>
            <a:tailEnd type="triangle"/>
          </a:ln>
        </p:spPr>
        <p:txBody>
          <a:bodyPr/>
          <a:lstStyle/>
          <a:p>
            <a:endParaRPr lang="en-ZA"/>
          </a:p>
        </p:txBody>
      </p:sp>
      <p:sp>
        <p:nvSpPr>
          <p:cNvPr id="19" name="Shape 15"/>
          <p:cNvSpPr/>
          <p:nvPr/>
        </p:nvSpPr>
        <p:spPr>
          <a:xfrm>
            <a:off x="548640" y="2423160"/>
            <a:ext cx="1828800" cy="960120"/>
          </a:xfrm>
          <a:prstGeom prst="rect">
            <a:avLst/>
          </a:prstGeom>
          <a:solidFill>
            <a:srgbClr val="202A25"/>
          </a:solidFill>
          <a:ln w="12700">
            <a:solidFill>
              <a:srgbClr val="202A25">
                <a:alpha val="0"/>
              </a:srgbClr>
            </a:solidFill>
            <a:prstDash val="solid"/>
          </a:ln>
        </p:spPr>
        <p:txBody>
          <a:bodyPr/>
          <a:lstStyle/>
          <a:p>
            <a:endParaRPr lang="en-ZA"/>
          </a:p>
        </p:txBody>
      </p:sp>
      <p:sp>
        <p:nvSpPr>
          <p:cNvPr id="20" name="Text 16"/>
          <p:cNvSpPr/>
          <p:nvPr/>
        </p:nvSpPr>
        <p:spPr>
          <a:xfrm>
            <a:off x="667512" y="2560320"/>
            <a:ext cx="1591056" cy="68580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Question</a:t>
            </a:r>
            <a:endParaRPr lang="en-US" sz="2100" dirty="0"/>
          </a:p>
        </p:txBody>
      </p:sp>
      <p:sp>
        <p:nvSpPr>
          <p:cNvPr id="21" name="Shape 17"/>
          <p:cNvSpPr/>
          <p:nvPr/>
        </p:nvSpPr>
        <p:spPr>
          <a:xfrm>
            <a:off x="3136392" y="2423160"/>
            <a:ext cx="2971800" cy="960120"/>
          </a:xfrm>
          <a:prstGeom prst="rect">
            <a:avLst/>
          </a:prstGeom>
          <a:solidFill>
            <a:srgbClr val="202A25"/>
          </a:solidFill>
          <a:ln w="12700">
            <a:solidFill>
              <a:srgbClr val="202A25">
                <a:alpha val="0"/>
              </a:srgbClr>
            </a:solidFill>
            <a:prstDash val="solid"/>
          </a:ln>
        </p:spPr>
        <p:txBody>
          <a:bodyPr/>
          <a:lstStyle/>
          <a:p>
            <a:endParaRPr lang="en-ZA"/>
          </a:p>
        </p:txBody>
      </p:sp>
      <p:sp>
        <p:nvSpPr>
          <p:cNvPr id="22" name="Text 18"/>
          <p:cNvSpPr/>
          <p:nvPr/>
        </p:nvSpPr>
        <p:spPr>
          <a:xfrm>
            <a:off x="3255264" y="2560320"/>
            <a:ext cx="2734056"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Retrieve + build prompt</a:t>
            </a:r>
            <a:endParaRPr lang="en-US" sz="2000" dirty="0"/>
          </a:p>
        </p:txBody>
      </p:sp>
      <p:sp>
        <p:nvSpPr>
          <p:cNvPr id="23" name="Shape 19"/>
          <p:cNvSpPr/>
          <p:nvPr/>
        </p:nvSpPr>
        <p:spPr>
          <a:xfrm>
            <a:off x="9144000" y="2423160"/>
            <a:ext cx="2496312" cy="960120"/>
          </a:xfrm>
          <a:prstGeom prst="rect">
            <a:avLst/>
          </a:prstGeom>
          <a:solidFill>
            <a:srgbClr val="202A25"/>
          </a:solidFill>
          <a:ln w="12700">
            <a:solidFill>
              <a:srgbClr val="202A25">
                <a:alpha val="0"/>
              </a:srgbClr>
            </a:solidFill>
            <a:prstDash val="solid"/>
          </a:ln>
        </p:spPr>
        <p:txBody>
          <a:bodyPr/>
          <a:lstStyle/>
          <a:p>
            <a:endParaRPr lang="en-ZA"/>
          </a:p>
        </p:txBody>
      </p:sp>
      <p:sp>
        <p:nvSpPr>
          <p:cNvPr id="24" name="Text 20"/>
          <p:cNvSpPr/>
          <p:nvPr/>
        </p:nvSpPr>
        <p:spPr>
          <a:xfrm>
            <a:off x="9262872" y="2560320"/>
            <a:ext cx="2258568" cy="68580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Generated answer</a:t>
            </a:r>
            <a:endParaRPr lang="en-US" sz="2100" dirty="0"/>
          </a:p>
        </p:txBody>
      </p:sp>
      <p:sp>
        <p:nvSpPr>
          <p:cNvPr id="25" name="Shape 21"/>
          <p:cNvSpPr/>
          <p:nvPr/>
        </p:nvSpPr>
        <p:spPr>
          <a:xfrm>
            <a:off x="548640" y="4343400"/>
            <a:ext cx="1828800" cy="960120"/>
          </a:xfrm>
          <a:prstGeom prst="rect">
            <a:avLst/>
          </a:prstGeom>
          <a:solidFill>
            <a:srgbClr val="202A25"/>
          </a:solidFill>
          <a:ln w="12700">
            <a:solidFill>
              <a:srgbClr val="202A25">
                <a:alpha val="0"/>
              </a:srgbClr>
            </a:solidFill>
            <a:prstDash val="solid"/>
          </a:ln>
        </p:spPr>
        <p:txBody>
          <a:bodyPr/>
          <a:lstStyle/>
          <a:p>
            <a:endParaRPr lang="en-ZA"/>
          </a:p>
        </p:txBody>
      </p:sp>
      <p:sp>
        <p:nvSpPr>
          <p:cNvPr id="26" name="Text 22"/>
          <p:cNvSpPr/>
          <p:nvPr/>
        </p:nvSpPr>
        <p:spPr>
          <a:xfrm>
            <a:off x="667512" y="4480560"/>
            <a:ext cx="1591056" cy="68580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Question</a:t>
            </a:r>
            <a:endParaRPr lang="en-US" sz="2100" dirty="0"/>
          </a:p>
        </p:txBody>
      </p:sp>
      <p:sp>
        <p:nvSpPr>
          <p:cNvPr id="27" name="Shape 23"/>
          <p:cNvSpPr/>
          <p:nvPr/>
        </p:nvSpPr>
        <p:spPr>
          <a:xfrm>
            <a:off x="6080760" y="4343400"/>
            <a:ext cx="2331720" cy="960120"/>
          </a:xfrm>
          <a:prstGeom prst="rect">
            <a:avLst/>
          </a:prstGeom>
          <a:solidFill>
            <a:srgbClr val="202A25"/>
          </a:solidFill>
          <a:ln w="12700">
            <a:solidFill>
              <a:srgbClr val="202A25">
                <a:alpha val="0"/>
              </a:srgbClr>
            </a:solidFill>
            <a:prstDash val="solid"/>
          </a:ln>
        </p:spPr>
        <p:txBody>
          <a:bodyPr/>
          <a:lstStyle/>
          <a:p>
            <a:endParaRPr lang="en-ZA"/>
          </a:p>
        </p:txBody>
      </p:sp>
      <p:sp>
        <p:nvSpPr>
          <p:cNvPr id="28" name="Text 24"/>
          <p:cNvSpPr/>
          <p:nvPr/>
        </p:nvSpPr>
        <p:spPr>
          <a:xfrm>
            <a:off x="6199632" y="4480560"/>
            <a:ext cx="2093976" cy="68580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Execute Java tool</a:t>
            </a:r>
            <a:endParaRPr lang="en-US" sz="2100" dirty="0"/>
          </a:p>
        </p:txBody>
      </p:sp>
      <p:sp>
        <p:nvSpPr>
          <p:cNvPr id="29" name="Shape 25"/>
          <p:cNvSpPr/>
          <p:nvPr/>
        </p:nvSpPr>
        <p:spPr>
          <a:xfrm>
            <a:off x="9144000" y="4343400"/>
            <a:ext cx="2496312" cy="960120"/>
          </a:xfrm>
          <a:prstGeom prst="rect">
            <a:avLst/>
          </a:prstGeom>
          <a:solidFill>
            <a:srgbClr val="202A25"/>
          </a:solidFill>
          <a:ln w="12700">
            <a:solidFill>
              <a:srgbClr val="202A25">
                <a:alpha val="0"/>
              </a:srgbClr>
            </a:solidFill>
            <a:prstDash val="solid"/>
          </a:ln>
        </p:spPr>
        <p:txBody>
          <a:bodyPr/>
          <a:lstStyle/>
          <a:p>
            <a:endParaRPr lang="en-ZA"/>
          </a:p>
        </p:txBody>
      </p:sp>
      <p:sp>
        <p:nvSpPr>
          <p:cNvPr id="30" name="Text 26"/>
          <p:cNvSpPr/>
          <p:nvPr/>
        </p:nvSpPr>
        <p:spPr>
          <a:xfrm>
            <a:off x="9262872" y="4480560"/>
            <a:ext cx="2258568" cy="68580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Generated answer</a:t>
            </a:r>
            <a:endParaRPr lang="en-US" sz="2100" dirty="0"/>
          </a:p>
        </p:txBody>
      </p:sp>
      <p:sp>
        <p:nvSpPr>
          <p:cNvPr id="31" name="Text 27"/>
          <p:cNvSpPr/>
          <p:nvPr/>
        </p:nvSpPr>
        <p:spPr>
          <a:xfrm>
            <a:off x="548640" y="1892808"/>
            <a:ext cx="5486400" cy="338328"/>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RAG: retrieve before generation</a:t>
            </a:r>
            <a:endParaRPr lang="en-US" sz="1800" dirty="0"/>
          </a:p>
        </p:txBody>
      </p:sp>
      <p:sp>
        <p:nvSpPr>
          <p:cNvPr id="32" name="Text 28"/>
          <p:cNvSpPr/>
          <p:nvPr/>
        </p:nvSpPr>
        <p:spPr>
          <a:xfrm>
            <a:off x="548640" y="3794760"/>
            <a:ext cx="3200400" cy="338328"/>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Tools: select and observe</a:t>
            </a:r>
            <a:endParaRPr lang="en-US" sz="1800" dirty="0"/>
          </a:p>
        </p:txBody>
      </p:sp>
      <p:sp>
        <p:nvSpPr>
          <p:cNvPr id="33" name="Text 29"/>
          <p:cNvSpPr/>
          <p:nvPr/>
        </p:nvSpPr>
        <p:spPr>
          <a:xfrm>
            <a:off x="5760720" y="3511296"/>
            <a:ext cx="5303520" cy="347472"/>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Final reply after tool results</a:t>
            </a:r>
            <a:endParaRPr lang="en-US" sz="1800" dirty="0"/>
          </a:p>
        </p:txBody>
      </p:sp>
      <p:sp>
        <p:nvSpPr>
          <p:cNvPr id="34" name="Text 30"/>
          <p:cNvSpPr/>
          <p:nvPr/>
        </p:nvSpPr>
        <p:spPr>
          <a:xfrm>
            <a:off x="4498848" y="5358384"/>
            <a:ext cx="3995928" cy="219456"/>
          </a:xfrm>
          <a:prstGeom prst="rect">
            <a:avLst/>
          </a:prstGeom>
          <a:noFill/>
          <a:ln/>
        </p:spPr>
        <p:txBody>
          <a:bodyPr wrap="square" lIns="0" tIns="0" rIns="0" bIns="0" rtlCol="0" anchor="t"/>
          <a:lstStyle/>
          <a:p>
            <a:pPr marL="0" indent="0">
              <a:buNone/>
            </a:pPr>
            <a:r>
              <a:rPr lang="en-US" sz="1400" b="1" dirty="0">
                <a:solidFill>
                  <a:srgbClr val="397C25"/>
                </a:solidFill>
                <a:latin typeface="Calibri" pitchFamily="34" charset="0"/>
                <a:ea typeface="Calibri" pitchFamily="34" charset="-122"/>
                <a:cs typeface="Calibri" pitchFamily="34" charset="-120"/>
              </a:rPr>
              <a:t>Tool result via Spring AI</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Beyond the workshop</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Expose only the capabilities the task needs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18 / 20</a:t>
            </a:r>
            <a:endParaRPr lang="en-US" sz="1200" dirty="0"/>
          </a:p>
        </p:txBody>
      </p:sp>
      <p:pic>
        <p:nvPicPr>
          <p:cNvPr id="6" name="Image 0" descr="tool ecosystem"/>
          <p:cNvPicPr>
            <a:picLocks noChangeAspect="1"/>
          </p:cNvPicPr>
          <p:nvPr/>
        </p:nvPicPr>
        <p:blipFill>
          <a:blip r:embed="rId3"/>
          <a:stretch>
            <a:fillRect/>
          </a:stretch>
        </p:blipFill>
        <p:spPr>
          <a:xfrm>
            <a:off x="640768" y="1737360"/>
            <a:ext cx="6765185" cy="3749040"/>
          </a:xfrm>
          <a:prstGeom prst="rect">
            <a:avLst/>
          </a:prstGeom>
        </p:spPr>
      </p:pic>
      <p:sp>
        <p:nvSpPr>
          <p:cNvPr id="7" name="Text 4"/>
          <p:cNvSpPr/>
          <p:nvPr/>
        </p:nvSpPr>
        <p:spPr>
          <a:xfrm>
            <a:off x="7909560" y="181965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Read-only first</a:t>
            </a:r>
            <a:endParaRPr lang="en-US" sz="2200" dirty="0"/>
          </a:p>
        </p:txBody>
      </p:sp>
      <p:sp>
        <p:nvSpPr>
          <p:cNvPr id="8" name="Text 5"/>
          <p:cNvSpPr/>
          <p:nvPr/>
        </p:nvSpPr>
        <p:spPr>
          <a:xfrm>
            <a:off x="7909560" y="229514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Start with lookup and calculation functions.</a:t>
            </a:r>
            <a:endParaRPr lang="en-US" sz="1900" dirty="0"/>
          </a:p>
        </p:txBody>
      </p:sp>
      <p:sp>
        <p:nvSpPr>
          <p:cNvPr id="9" name="Text 6"/>
          <p:cNvSpPr/>
          <p:nvPr/>
        </p:nvSpPr>
        <p:spPr>
          <a:xfrm>
            <a:off x="7909560" y="306933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Validate and authorize</a:t>
            </a:r>
            <a:endParaRPr lang="en-US" sz="2200" dirty="0"/>
          </a:p>
        </p:txBody>
      </p:sp>
      <p:sp>
        <p:nvSpPr>
          <p:cNvPr id="10" name="Text 7"/>
          <p:cNvSpPr/>
          <p:nvPr/>
        </p:nvSpPr>
        <p:spPr>
          <a:xfrm>
            <a:off x="7909560" y="354482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Check inputs and the caller in application code.</a:t>
            </a:r>
            <a:endParaRPr lang="en-US" sz="1900" dirty="0"/>
          </a:p>
        </p:txBody>
      </p:sp>
      <p:sp>
        <p:nvSpPr>
          <p:cNvPr id="11" name="Text 8"/>
          <p:cNvSpPr/>
          <p:nvPr/>
        </p:nvSpPr>
        <p:spPr>
          <a:xfrm>
            <a:off x="7909560" y="431901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Control side effects</a:t>
            </a:r>
            <a:endParaRPr lang="en-US" sz="2200" dirty="0"/>
          </a:p>
        </p:txBody>
      </p:sp>
      <p:sp>
        <p:nvSpPr>
          <p:cNvPr id="12" name="Text 9"/>
          <p:cNvSpPr/>
          <p:nvPr/>
        </p:nvSpPr>
        <p:spPr>
          <a:xfrm>
            <a:off x="7909560" y="479450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Use approval and idempotency for consequential actions.</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04  /  Workshop demonstration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Demonstrate a single call, a chain, and a follow-up</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04 Tool Calling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19 / 20</a:t>
            </a:r>
            <a:endParaRPr lang="en-US" sz="1200" dirty="0"/>
          </a:p>
        </p:txBody>
      </p:sp>
      <p:sp>
        <p:nvSpPr>
          <p:cNvPr id="6" name="Shape 4"/>
          <p:cNvSpPr/>
          <p:nvPr/>
        </p:nvSpPr>
        <p:spPr>
          <a:xfrm>
            <a:off x="548640" y="1773936"/>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7" name="Text 5"/>
          <p:cNvSpPr/>
          <p:nvPr/>
        </p:nvSpPr>
        <p:spPr>
          <a:xfrm>
            <a:off x="548640" y="1828800"/>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298448" y="1746504"/>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Start from 04-tools</a:t>
            </a:r>
            <a:endParaRPr lang="en-US" sz="2400" dirty="0"/>
          </a:p>
        </p:txBody>
      </p:sp>
      <p:sp>
        <p:nvSpPr>
          <p:cNvPr id="9" name="Text 7"/>
          <p:cNvSpPr/>
          <p:nvPr/>
        </p:nvSpPr>
        <p:spPr>
          <a:xfrm>
            <a:off x="1298448" y="2231136"/>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PowerShell: .\start.ps1    |    Bash: ./start.sh    |    http://localhost:8084</a:t>
            </a:r>
            <a:endParaRPr lang="en-US" sz="2000" dirty="0"/>
          </a:p>
        </p:txBody>
      </p:sp>
      <p:sp>
        <p:nvSpPr>
          <p:cNvPr id="10" name="Shape 8"/>
          <p:cNvSpPr/>
          <p:nvPr/>
        </p:nvSpPr>
        <p:spPr>
          <a:xfrm>
            <a:off x="548640" y="3060192"/>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11" name="Text 9"/>
          <p:cNvSpPr/>
          <p:nvPr/>
        </p:nvSpPr>
        <p:spPr>
          <a:xfrm>
            <a:off x="548640" y="3115056"/>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298448" y="3032760"/>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Check a conversion</a:t>
            </a:r>
            <a:endParaRPr lang="en-US" sz="2400" dirty="0"/>
          </a:p>
        </p:txBody>
      </p:sp>
      <p:sp>
        <p:nvSpPr>
          <p:cNvPr id="13" name="Text 11"/>
          <p:cNvSpPr/>
          <p:nvPr/>
        </p:nvSpPr>
        <p:spPr>
          <a:xfrm>
            <a:off x="1298448" y="3517392"/>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Ask: Convert 100 degrees Fahrenheit to Celsius. Inspect Tools run and the arguments.</a:t>
            </a:r>
            <a:endParaRPr lang="en-US" sz="2000" dirty="0"/>
          </a:p>
        </p:txBody>
      </p:sp>
      <p:sp>
        <p:nvSpPr>
          <p:cNvPr id="14" name="Shape 12"/>
          <p:cNvSpPr/>
          <p:nvPr/>
        </p:nvSpPr>
        <p:spPr>
          <a:xfrm>
            <a:off x="548640" y="4346448"/>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15" name="Text 13"/>
          <p:cNvSpPr/>
          <p:nvPr/>
        </p:nvSpPr>
        <p:spPr>
          <a:xfrm>
            <a:off x="548640" y="4401312"/>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1298448" y="4319016"/>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Chain and continue</a:t>
            </a:r>
            <a:endParaRPr lang="en-US" sz="2400" dirty="0"/>
          </a:p>
        </p:txBody>
      </p:sp>
      <p:sp>
        <p:nvSpPr>
          <p:cNvPr id="17" name="Text 15"/>
          <p:cNvSpPr/>
          <p:nvPr/>
        </p:nvSpPr>
        <p:spPr>
          <a:xfrm>
            <a:off x="1298448" y="4803648"/>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Ask for Seattle weather in Fahrenheit, then request the same temperature in Kelvin.</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02A25"/>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t"/>
          <a:lstStyle/>
          <a:p>
            <a:pPr marL="0" indent="0">
              <a:buNone/>
            </a:pPr>
            <a:r>
              <a:rPr lang="en-US" sz="1400" b="1" dirty="0">
                <a:solidFill>
                  <a:srgbClr val="86CF54"/>
                </a:solidFill>
                <a:latin typeface="Calibri" pitchFamily="34" charset="0"/>
                <a:ea typeface="Calibri" pitchFamily="34" charset="-122"/>
                <a:cs typeface="Calibri" pitchFamily="34" charset="-120"/>
              </a:rPr>
              <a:t>SPRING AI  /  MODULE 04</a:t>
            </a:r>
            <a:endParaRPr lang="en-US" sz="1400" dirty="0"/>
          </a:p>
        </p:txBody>
      </p:sp>
      <p:sp>
        <p:nvSpPr>
          <p:cNvPr id="9" name="Text 6"/>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B9CBB9"/>
                </a:solidFill>
                <a:latin typeface="Calibri" pitchFamily="34" charset="0"/>
                <a:ea typeface="Calibri" pitchFamily="34" charset="-122"/>
                <a:cs typeface="Calibri" pitchFamily="34" charset="-120"/>
              </a:rPr>
              <a:t>SPRING AI FOR BEGINNERS  /  04 Tool Calling</a:t>
            </a:r>
            <a:endParaRPr lang="en-US" sz="1050" dirty="0"/>
          </a:p>
        </p:txBody>
      </p:sp>
      <p:sp>
        <p:nvSpPr>
          <p:cNvPr id="10" name="Text 7"/>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B9CBB9"/>
                </a:solidFill>
                <a:latin typeface="Calibri" pitchFamily="34" charset="0"/>
                <a:ea typeface="Calibri" pitchFamily="34" charset="-122"/>
                <a:cs typeface="Calibri" pitchFamily="34" charset="-120"/>
              </a:rPr>
              <a:t>20 / 20</a:t>
            </a:r>
            <a:endParaRPr lang="en-US" sz="1200" dirty="0"/>
          </a:p>
        </p:txBody>
      </p:sp>
      <p:sp>
        <p:nvSpPr>
          <p:cNvPr id="12" name="Text 1">
            <a:extLst>
              <a:ext uri="{FF2B5EF4-FFF2-40B4-BE49-F238E27FC236}">
                <a16:creationId xmlns:a16="http://schemas.microsoft.com/office/drawing/2014/main" id="{2D9A3FC6-0F5F-5E19-CB31-B5DAE40AF834}"/>
              </a:ext>
            </a:extLst>
          </p:cNvPr>
          <p:cNvSpPr/>
          <p:nvPr/>
        </p:nvSpPr>
        <p:spPr>
          <a:xfrm>
            <a:off x="645232" y="2888731"/>
            <a:ext cx="1615011" cy="678201"/>
          </a:xfrm>
          <a:prstGeom prst="rect">
            <a:avLst/>
          </a:prstGeom>
          <a:noFill/>
          <a:ln/>
        </p:spPr>
        <p:txBody>
          <a:bodyPr wrap="square" lIns="0" tIns="0" rIns="0" bIns="0" rtlCol="0" anchor="t"/>
          <a:lstStyle/>
          <a:p>
            <a:pPr marL="0" indent="0">
              <a:buNone/>
            </a:pPr>
            <a:r>
              <a:rPr lang="en-US" sz="4000" b="1" dirty="0">
                <a:solidFill>
                  <a:srgbClr val="FFFFFF"/>
                </a:solidFill>
                <a:latin typeface="Trebuchet MS" pitchFamily="34" charset="0"/>
                <a:ea typeface="Trebuchet MS" pitchFamily="34" charset="-122"/>
                <a:cs typeface="Trebuchet MS" pitchFamily="34" charset="-120"/>
              </a:rPr>
              <a:t>Demo</a:t>
            </a:r>
            <a:endParaRPr lang="en-US" sz="4000" dirty="0"/>
          </a:p>
        </p:txBody>
      </p:sp>
      <p:pic>
        <p:nvPicPr>
          <p:cNvPr id="14" name="Picture 13" descr="QR Code">
            <a:extLst>
              <a:ext uri="{FF2B5EF4-FFF2-40B4-BE49-F238E27FC236}">
                <a16:creationId xmlns:a16="http://schemas.microsoft.com/office/drawing/2014/main" id="{DF4977DB-D08F-658E-5FA6-CDE62034A97D}"/>
              </a:ext>
            </a:extLst>
          </p:cNvPr>
          <p:cNvPicPr>
            <a:picLocks noChangeAspect="1"/>
          </p:cNvPicPr>
          <p:nvPr/>
        </p:nvPicPr>
        <p:blipFill>
          <a:blip r:embed="rId3"/>
          <a:stretch>
            <a:fillRect/>
          </a:stretch>
        </p:blipFill>
        <p:spPr>
          <a:xfrm>
            <a:off x="3574694" y="675763"/>
            <a:ext cx="5143500" cy="5143500"/>
          </a:xfrm>
          <a:prstGeom prst="rect">
            <a:avLst/>
          </a:prstGeom>
        </p:spPr>
      </p:pic>
      <p:sp>
        <p:nvSpPr>
          <p:cNvPr id="16" name="TextBox 15">
            <a:extLst>
              <a:ext uri="{FF2B5EF4-FFF2-40B4-BE49-F238E27FC236}">
                <a16:creationId xmlns:a16="http://schemas.microsoft.com/office/drawing/2014/main" id="{E1D46BE0-5F02-F4A1-571F-E57B4680E491}"/>
              </a:ext>
            </a:extLst>
          </p:cNvPr>
          <p:cNvSpPr txBox="1"/>
          <p:nvPr/>
        </p:nvSpPr>
        <p:spPr>
          <a:xfrm>
            <a:off x="2869576" y="5816025"/>
            <a:ext cx="6553736" cy="584775"/>
          </a:xfrm>
          <a:prstGeom prst="rect">
            <a:avLst/>
          </a:prstGeom>
          <a:noFill/>
        </p:spPr>
        <p:txBody>
          <a:bodyPr wrap="square">
            <a:spAutoFit/>
          </a:bodyPr>
          <a:lstStyle/>
          <a:p>
            <a:r>
              <a:rPr lang="en-ZA" sz="3200" dirty="0">
                <a:solidFill>
                  <a:schemeClr val="bg2"/>
                </a:solidFill>
              </a:rPr>
              <a:t>http://aka.ms/Spring-AI-for-Beginners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4000</Words>
  <Application>Microsoft Office PowerPoint</Application>
  <PresentationFormat>Widescreen</PresentationFormat>
  <Paragraphs>334</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Spring AI for Beginners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Tool Calling with Spring AI</dc:title>
  <dc:subject>Spring AI module teaching presentation</dc:subject>
  <dc:creator>Spring AI for Beginners</dc:creator>
  <cp:lastModifiedBy>Rory Preddy</cp:lastModifiedBy>
  <cp:revision>4</cp:revision>
  <dcterms:created xsi:type="dcterms:W3CDTF">2026-09-07T13:40:59Z</dcterms:created>
  <dcterms:modified xsi:type="dcterms:W3CDTF">2026-09-08T06:54:38Z</dcterms:modified>
</cp:coreProperties>
</file>