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586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retrieval-augmented generation as a way to supply relevant external information at request time. It is not retraining the model. This module implements an upload-to-answer workflow with Spring AI, a separate embedding deployment, and a shared in-memory vector store. Both native and advisor-based query paths use the same ingested documents.
Repository sources:
03-rag/README.md
03-rag/src/main/java/com/example/springai/rag/config/SpringAiRagConfig.java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uses the existing model illustration with corrected native connectors. The application embeds the question through VectorStore, retrieves document passages, and assembles the original question plus context before calling the chat model. Retrieved content flows toward the model, not back toward Document Search. The displayed path assumes matches exist; the native no-match branch is taught later. Missing, stale, or misused evidence can still produce a bad answer. Authorization must be applied before private text is retrieved.
Repository sources:
03-rag/README.md
03-rag/src/main/java/com/example/springai/rag/service/RagService.java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focused crop of the existing repository results screenshot establishes the working application before implementation details. The source-reference experience is enlarged later in the deck. This is an older capture: the full image shows one-segment ingestion and legacy configuration advice, so do not treat its settings or generated class names as the current configuration. The current code uses 150-token chunking and a 0.35 threshold. The following slides explain the current APIs.
Repository sources:
03-rag/src/main/java/com/example/springai/rag/service/RagService.java
03-rag/README.md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Extract-transform-load, or ETL, is the shared ingestion path: parse uploaded text or PDFs in DocumentService, wrap content in Document with metadata, split with TokenTextSplitter, then embed and store using VectorStore. Native and advisor-based RAG are two querying choices over that same index. ETL plus advisor querying is the third combination discussed in the README, not a third independent store or parser in this application. The slide keeps the full pipeline readable instead of squeezing long Java class names into the original three-column bitmap. Advisors alone do not establish production readiness.
Repository sources:
03-rag/README.md
03-rag/src/main/java/com/example/springai/rag/service/DocumentService.java
03-rag/src/main/java/com/example/springai/rag/service/RagService.java
03-rag/src/main/java/com/example/springai/rag/service/AdvisorRagService.java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POM provides the OpenAI model starter and ChatClient. This module adds the in-memory vector store and QuestionAnswerAdvisor dependency, plus PDFBox and Thymeleaf. application.yaml configures AZURE_OPENAI_FAST_DEPLOYMENT for chat and AZURE_OPENAI_EMBEDDING_DEPLOYMENT for the text-embedding-3-small embedding deployment. Keep actual environment values out of the presentation.
Repository sources:
03-rag/pom.xml
pom.xml
03-rag/src/main/resources/application.yaml
03-rag/src/main/java/com/example/springai/rag/config/SpringAiRagConfig.java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processDocument in DocumentService. It generates a document ID, branches on the filename extension, extracts content, rejects empty text, and constructs a Spring AI Document. The code uses PDFBox and BufferedReader rather than a configured DocumentReader bean. The HTTP multipart limit is 10 MB. A PDF without extractable text would need an additional OCR path, which this module does not implement.
Repository sources:
03-rag/src/main/java/com/example/springai/rag/service/DocumentService.java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graphic to explain boundaries and the general reason overlapping chunks are sometimes useful. State explicitly that the TokenTextSplitter implementation in this module does not add overlap. Its configured chunk size is 150 tokens. Very large chunks can mix unrelated topics; very small chunks can lose the context needed to interpret a sentence. Chunking choices must be evaluated against real questions.
Repository sources:
03-rag/src/main/java/com/example/springai/rag/service/DocumentService.java
03-rag/README.md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constructor reads app.rag.chunking.chunk-size and validates that it is positive. Spring AI has a larger default, but the repository configures 150 so specific topics in the sample are not averaged into one broad embedding. The final line is the dotted form of the YAML setting, not Java. Re-ingest after changing the setting; existing vectors do not change themselves.
Repository sources:
03-rag/src/main/java/com/example/springai/rag/service/DocumentService.java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two model roles. text-embedding-3-small maps text to numerical vectors; the chat model uses retrieved text to compose an answer. Related meanings tend to map nearby, even when wording differs. The visual representation is a simplified projection, not the actual high-dimensional embedding. Documents and queries need a compatible embedding model and vector dimension.
Repository sources:
03-rag/README.md
03-rag/src/main/java/com/example/springai/rag/config/SpringAiRagConfig.java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bean excerpt comes from SpringAiRagConfig, while the add operation belongs to the ingestion flow. They are displayed together to show the contract, not as one source method. SimpleVectorStore handles embedding and keeps vectors in memory. A production replacement must be configured and tested, and may have different filtering, similarity, scaling, and persistence behavior.
Repository sources:
03-rag/src/main/java/com/example/springai/rag/config/SpringAiRagConfig.java
03-rag/src/main/java/com/example/springai/rag/service/EmbeddingService.java
03-rag/README.md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question and document artwork is reused, but each result now has exactly one associated score. The 0.92, 0.85, and 0.78 values are illustrative values from the original graphic, not a measured result for the added paraphrased passage. How does RAG work? can match a passage about retrieving source text and adding it to a model prompt without requiring every query word. This slide illustrates semantic retrieval, not a side-by-side lexical comparison. IDs and exact strings may still need filters, keyword search, or hybrid retrieval.
Repository sources:
03-rag/README.md
03-rag/src/main/java/com/example/springai/rag/service/RagService.java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similarity is the dot product divided by the product of vector magnitudes. For nonzero vectors it ranges from minus one to one; an obtuse angle gives a negative cosine. The cropped image retains only the aligned example because other portions of the original graphic contain an incorrect positive label for an obtuse angle and a misleading universal zero-to-one range. Do not interpret the illustrative 0.92 as a calibrated probability. Store scoring conventions, embedding models, and corpora affect threshold interpretation.
Repository sources:
03-rag/README.md
03-rag/src/main/java/com/example/springai/rag/service/RagService.java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expanded SearchRequest teaching example from the README. In current code, both services build the request through RagSearchProperties, using max-results 5 and similarity-threshold 0.35 from YAML. Raising the threshold can lose useful context; lowering it can include noise. topK limits the number of results, not the exact token count or factual quality of the prompt.
Repository sources:
03-rag/README.md
03-rag/src/main/java/com/example/springai/rag/service/RagService.java
03-rag/src/main/java/com/example/springai/rag/service/AdvisorRagService.java
03-rag/src/main/resources/application.yaml
03-rag/src/main/java/com/example/springai/rag/config/RagSearchProperties.java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RagService joins matched Document text into a context string and adds the original question and grounding instruction. It calls OpenAiChatModel to generate the answer. Separately, application code maps the same matches to SourceReference records and returns them alongside the answer in RagResponse. The original context-assembly image showed inline numbered citations that this implementation does not construct; this corrected flow retains the model artwork but separates the two data paths. Grounding instructions do not enforce truth or protect against malicious document instructions.
Repository sources:
03-rag/src/main/java/com/example/springai/rag/service/RagService.java
03-rag/README.md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excerpts come from RagService after retrieval and before source mapping. promptText is the context-and-question template shown conceptually on the prior slide. An empty result list produces a deterministic cannot-answer response with an empty sources list. When matches exist, generation still needs evaluation. The response carries conversationId, but this RAG service does not add conversation memory.
Repository sources:
03-rag/src/main/java/com/example/springai/rag/service/RagService.java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excerpt follows AdvisorRagService. The advisor builds the query context inside the ChatClient call, avoiding manual context assembly in that service. The application still owns ingestion, storage configuration, permissions, evaluation, and error behavior. The actual service also performs a separate similarity search after generation to construct the source references returned to the UI.
Repository sources:
03-rag/src/main/java/com/example/springai/rag/service/AdvisorRagService.java
03-rag/src/main/java/com/example/springai/rag/config/SpringAiRagConfig.java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routes accept the same RagRequest shape and return RagResponse. They are not operationally identical: the native path exits early on empty retrieval, while the advisor owns its generation behavior. The advisor service searches again for displayed sources; if the index changes between searches, those sources are not guaranteed to be exactly the documents used in generation. This is a useful implementation trade-off to discuss, not a reason to mislabel the two paths as identical.
Repository sources:
03-rag/src/main/java/com/example/springai/rag/service/RagService.java
03-rag/src/main/java/com/example/springai/rag/service/AdvisorRagService.java
03-rag/src/main/java/com/example/springai/rag/app/RagController.java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crops come from Source 1 of the existing screenshot: its heading and opening passage, followed separately by its 69.3 percent relevance label. The passage explicitly names SystemMessage, UserMessage, and AssistantMessage, allowing the audience to verify the earlier answer claim rather than infer support from an unrelated excerpt. The native callout is a summary of that visible source sentence. This older screenshot uses different retrieval settings from the current code. Its score describes retrieval alignment, not answer confidence or support for every generated claim.
Repository sources:
03-rag/README.md
03-rag/src/main/java/com/example/springai/rag/service/RagService.java
03-rag/src/main/java/com/example/springai/rag/model/dto/SourceReference.java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four cases in the existing image: overly large chunks, overly small chunks, ambiguous vocabulary, and exact-match identifiers. The diagram uses strong shorthand; embeddings are not categorically incapable of matching identifiers, but they are often the wrong sole mechanism for that task. Build a small evaluation set with facts, paraphrases, ambiguous queries, and questions deliberately absent from the corpus.
Repository sources:
03-rag/README.md
03-rag/src/main/java/com/example/springai/rag/service/DocumentService.java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Reiterate the actual local settings, not a universal best-practice prescription. The combined request includes instructions, retrieved text, the question, and output budget, so result count alone is not a hard context-window guarantee. Restarting this workshop application clears its in-memory vector store. Persistent stores, tenant filtering, deletion policies, and document-version management are further engineering work.
Repository sources:
03-rag/src/main/java/com/example/springai/rag/config/SpringAiRagConfig.java
03-rag/src/main/resources/application.yaml
03-rag/README.md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sample document shipped in 03-rag. The upload endpoint is POST /api/documents/upload with multipart field file. The native and advisor question endpoints accept a question property. The UI is useful for upload and source inspection; use the endpoints when comparing query implementations. Do not project credentials. Re-upload after a restart, because the index is in memory.
Repository sources:
03-rag/README.md
03-rag/sample-document.txt
03-rag/src/main/java/com/example/springai/rag/app/DocumentController.java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decision and an experiment. RAG is useful when relevant information is private, changing, or too large to include in every prompt. It can be unnecessary when a small relevant source already fits. Ask participants to create a labelled query set, inspect retrieval separately from answer quality, and choose a threshold based on their own corpus. Before production, add persistent storage, access controls, provenance, and output evaluation.
Repository sources:
03-rag/README.md
03-rag/src/main/resources/application.yaml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03</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RAG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Answer questions using your own documents.</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Build ingestion and semantic retrieval.</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Compare native and advisor-based generation.</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03 RAG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22</a:t>
            </a:r>
            <a:endParaRPr lang="en-US" sz="1200" dirty="0"/>
          </a:p>
        </p:txBody>
      </p:sp>
      <p:pic>
        <p:nvPicPr>
          <p:cNvPr id="12" name="Picture 11">
            <a:extLst>
              <a:ext uri="{FF2B5EF4-FFF2-40B4-BE49-F238E27FC236}">
                <a16:creationId xmlns:a16="http://schemas.microsoft.com/office/drawing/2014/main" id="{D71EBCA4-3A92-E83C-AFB5-1849601701F9}"/>
              </a:ext>
            </a:extLst>
          </p:cNvPr>
          <p:cNvPicPr>
            <a:picLocks noChangeAspect="1"/>
          </p:cNvPicPr>
          <p:nvPr/>
        </p:nvPicPr>
        <p:blipFill>
          <a:blip r:embed="rId3"/>
          <a:stretch>
            <a:fillRect/>
          </a:stretch>
        </p:blipFill>
        <p:spPr>
          <a:xfrm>
            <a:off x="5969358" y="1764728"/>
            <a:ext cx="6082643" cy="3693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Why retrieval matters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 better prompt cannot supply missing private data</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22</a:t>
            </a:r>
            <a:endParaRPr lang="en-US" sz="1200" dirty="0"/>
          </a:p>
        </p:txBody>
      </p:sp>
      <p:pic>
        <p:nvPicPr>
          <p:cNvPr id="6" name="Image 0" descr="context assembly"/>
          <p:cNvPicPr>
            <a:picLocks noChangeAspect="1"/>
          </p:cNvPicPr>
          <p:nvPr/>
        </p:nvPicPr>
        <p:blipFill>
          <a:blip r:embed="rId3"/>
          <a:stretch>
            <a:fillRect/>
          </a:stretch>
        </p:blipFill>
        <p:spPr>
          <a:xfrm>
            <a:off x="7680960" y="2613660"/>
            <a:ext cx="1737360" cy="1767840"/>
          </a:xfrm>
          <a:prstGeom prst="rect">
            <a:avLst/>
          </a:prstGeom>
        </p:spPr>
      </p:pic>
      <p:sp>
        <p:nvSpPr>
          <p:cNvPr id="7" name="Shape 4"/>
          <p:cNvSpPr/>
          <p:nvPr/>
        </p:nvSpPr>
        <p:spPr>
          <a:xfrm>
            <a:off x="2468880" y="3497580"/>
            <a:ext cx="457200" cy="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4846320" y="3497580"/>
            <a:ext cx="457200"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7223760" y="3497580"/>
            <a:ext cx="457200" cy="0"/>
          </a:xfrm>
          <a:prstGeom prst="line">
            <a:avLst/>
          </a:prstGeom>
          <a:noFill/>
          <a:ln w="21590">
            <a:solidFill>
              <a:srgbClr val="397C25"/>
            </a:solidFill>
            <a:prstDash val="solid"/>
            <a:tailEnd type="triangle"/>
          </a:ln>
        </p:spPr>
        <p:txBody>
          <a:bodyPr/>
          <a:lstStyle/>
          <a:p>
            <a:endParaRPr lang="en-ZA"/>
          </a:p>
        </p:txBody>
      </p:sp>
      <p:sp>
        <p:nvSpPr>
          <p:cNvPr id="10" name="Shape 7"/>
          <p:cNvSpPr/>
          <p:nvPr/>
        </p:nvSpPr>
        <p:spPr>
          <a:xfrm>
            <a:off x="9418320" y="3497580"/>
            <a:ext cx="457200" cy="0"/>
          </a:xfrm>
          <a:prstGeom prst="line">
            <a:avLst/>
          </a:prstGeom>
          <a:noFill/>
          <a:ln w="21590">
            <a:solidFill>
              <a:srgbClr val="397C25"/>
            </a:solidFill>
            <a:prstDash val="solid"/>
            <a:tailEnd type="triangle"/>
          </a:ln>
        </p:spPr>
        <p:txBody>
          <a:bodyPr/>
          <a:lstStyle/>
          <a:p>
            <a:endParaRPr lang="en-ZA"/>
          </a:p>
        </p:txBody>
      </p:sp>
      <p:sp>
        <p:nvSpPr>
          <p:cNvPr id="11" name="Shape 8"/>
          <p:cNvSpPr/>
          <p:nvPr/>
        </p:nvSpPr>
        <p:spPr>
          <a:xfrm>
            <a:off x="548640" y="2514600"/>
            <a:ext cx="1920240" cy="1965960"/>
          </a:xfrm>
          <a:prstGeom prst="rect">
            <a:avLst/>
          </a:prstGeom>
          <a:solidFill>
            <a:srgbClr val="202A25"/>
          </a:solidFill>
          <a:ln w="12700">
            <a:solidFill>
              <a:srgbClr val="202A25">
                <a:alpha val="0"/>
              </a:srgbClr>
            </a:solidFill>
            <a:prstDash val="solid"/>
          </a:ln>
        </p:spPr>
        <p:txBody>
          <a:bodyPr/>
          <a:lstStyle/>
          <a:p>
            <a:endParaRPr lang="en-ZA"/>
          </a:p>
        </p:txBody>
      </p:sp>
      <p:sp>
        <p:nvSpPr>
          <p:cNvPr id="12" name="Text 9"/>
          <p:cNvSpPr/>
          <p:nvPr/>
        </p:nvSpPr>
        <p:spPr>
          <a:xfrm>
            <a:off x="676656" y="2633472"/>
            <a:ext cx="16642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Question</a:t>
            </a:r>
            <a:endParaRPr lang="en-US" sz="2100" dirty="0"/>
          </a:p>
        </p:txBody>
      </p:sp>
      <p:sp>
        <p:nvSpPr>
          <p:cNvPr id="13" name="Text 10"/>
          <p:cNvSpPr/>
          <p:nvPr/>
        </p:nvSpPr>
        <p:spPr>
          <a:xfrm>
            <a:off x="676656" y="3136392"/>
            <a:ext cx="1664208" cy="12435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What is in our company policy?</a:t>
            </a:r>
            <a:endParaRPr lang="en-US" sz="1900" dirty="0"/>
          </a:p>
        </p:txBody>
      </p:sp>
      <p:sp>
        <p:nvSpPr>
          <p:cNvPr id="14" name="Shape 11"/>
          <p:cNvSpPr/>
          <p:nvPr/>
        </p:nvSpPr>
        <p:spPr>
          <a:xfrm>
            <a:off x="2926080" y="2514600"/>
            <a:ext cx="1920240" cy="1965960"/>
          </a:xfrm>
          <a:prstGeom prst="rect">
            <a:avLst/>
          </a:prstGeom>
          <a:solidFill>
            <a:srgbClr val="202A25"/>
          </a:solidFill>
          <a:ln w="12700">
            <a:solidFill>
              <a:srgbClr val="202A25">
                <a:alpha val="0"/>
              </a:srgbClr>
            </a:solidFill>
            <a:prstDash val="solid"/>
          </a:ln>
        </p:spPr>
        <p:txBody>
          <a:bodyPr/>
          <a:lstStyle/>
          <a:p>
            <a:endParaRPr lang="en-ZA"/>
          </a:p>
        </p:txBody>
      </p:sp>
      <p:sp>
        <p:nvSpPr>
          <p:cNvPr id="15" name="Text 12"/>
          <p:cNvSpPr/>
          <p:nvPr/>
        </p:nvSpPr>
        <p:spPr>
          <a:xfrm>
            <a:off x="3054096" y="2633472"/>
            <a:ext cx="16642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VectorStore</a:t>
            </a:r>
            <a:endParaRPr lang="en-US" sz="2100" dirty="0"/>
          </a:p>
        </p:txBody>
      </p:sp>
      <p:sp>
        <p:nvSpPr>
          <p:cNvPr id="16" name="Text 13"/>
          <p:cNvSpPr/>
          <p:nvPr/>
        </p:nvSpPr>
        <p:spPr>
          <a:xfrm>
            <a:off x="3054096" y="3136392"/>
            <a:ext cx="1664208" cy="12435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Embed query; retrieve relevant passages</a:t>
            </a:r>
            <a:endParaRPr lang="en-US" sz="1900" dirty="0"/>
          </a:p>
        </p:txBody>
      </p:sp>
      <p:sp>
        <p:nvSpPr>
          <p:cNvPr id="17" name="Shape 14"/>
          <p:cNvSpPr/>
          <p:nvPr/>
        </p:nvSpPr>
        <p:spPr>
          <a:xfrm>
            <a:off x="5303520" y="2514600"/>
            <a:ext cx="1920240" cy="1965960"/>
          </a:xfrm>
          <a:prstGeom prst="rect">
            <a:avLst/>
          </a:prstGeom>
          <a:solidFill>
            <a:srgbClr val="202A25"/>
          </a:solidFill>
          <a:ln w="12700">
            <a:solidFill>
              <a:srgbClr val="202A25">
                <a:alpha val="0"/>
              </a:srgbClr>
            </a:solidFill>
            <a:prstDash val="solid"/>
          </a:ln>
        </p:spPr>
        <p:txBody>
          <a:bodyPr/>
          <a:lstStyle/>
          <a:p>
            <a:endParaRPr lang="en-ZA"/>
          </a:p>
        </p:txBody>
      </p:sp>
      <p:sp>
        <p:nvSpPr>
          <p:cNvPr id="18" name="Text 15"/>
          <p:cNvSpPr/>
          <p:nvPr/>
        </p:nvSpPr>
        <p:spPr>
          <a:xfrm>
            <a:off x="5431536" y="2633472"/>
            <a:ext cx="166420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Prompt</a:t>
            </a:r>
            <a:endParaRPr lang="en-US" sz="2100" dirty="0"/>
          </a:p>
        </p:txBody>
      </p:sp>
      <p:sp>
        <p:nvSpPr>
          <p:cNvPr id="19" name="Text 16"/>
          <p:cNvSpPr/>
          <p:nvPr/>
        </p:nvSpPr>
        <p:spPr>
          <a:xfrm>
            <a:off x="5431536" y="3136392"/>
            <a:ext cx="1664208" cy="12435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Question + retrieved passages + instructions</a:t>
            </a:r>
            <a:endParaRPr lang="en-US" sz="1900" dirty="0"/>
          </a:p>
        </p:txBody>
      </p:sp>
      <p:sp>
        <p:nvSpPr>
          <p:cNvPr id="20" name="Shape 17"/>
          <p:cNvSpPr/>
          <p:nvPr/>
        </p:nvSpPr>
        <p:spPr>
          <a:xfrm>
            <a:off x="9875520" y="2514600"/>
            <a:ext cx="1764792" cy="1965960"/>
          </a:xfrm>
          <a:prstGeom prst="rect">
            <a:avLst/>
          </a:prstGeom>
          <a:solidFill>
            <a:srgbClr val="202A25"/>
          </a:solidFill>
          <a:ln w="12700">
            <a:solidFill>
              <a:srgbClr val="202A25">
                <a:alpha val="0"/>
              </a:srgbClr>
            </a:solidFill>
            <a:prstDash val="solid"/>
          </a:ln>
        </p:spPr>
        <p:txBody>
          <a:bodyPr/>
          <a:lstStyle/>
          <a:p>
            <a:endParaRPr lang="en-ZA"/>
          </a:p>
        </p:txBody>
      </p:sp>
      <p:sp>
        <p:nvSpPr>
          <p:cNvPr id="21" name="Text 18"/>
          <p:cNvSpPr/>
          <p:nvPr/>
        </p:nvSpPr>
        <p:spPr>
          <a:xfrm>
            <a:off x="10003536" y="2633472"/>
            <a:ext cx="150876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Answer</a:t>
            </a:r>
            <a:endParaRPr lang="en-US" sz="2100" dirty="0"/>
          </a:p>
        </p:txBody>
      </p:sp>
      <p:sp>
        <p:nvSpPr>
          <p:cNvPr id="22" name="Text 19"/>
          <p:cNvSpPr/>
          <p:nvPr/>
        </p:nvSpPr>
        <p:spPr>
          <a:xfrm>
            <a:off x="10003536" y="3136392"/>
            <a:ext cx="1508760" cy="12435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Generated from the supplied context</a:t>
            </a:r>
            <a:endParaRPr lang="en-US" sz="1900" dirty="0"/>
          </a:p>
        </p:txBody>
      </p:sp>
      <p:sp>
        <p:nvSpPr>
          <p:cNvPr id="23" name="Text 20"/>
          <p:cNvSpPr/>
          <p:nvPr/>
        </p:nvSpPr>
        <p:spPr>
          <a:xfrm>
            <a:off x="2606040" y="1975104"/>
            <a:ext cx="2651760" cy="347472"/>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Application retrieval</a:t>
            </a:r>
            <a:endParaRPr lang="en-US" sz="1800" dirty="0"/>
          </a:p>
        </p:txBody>
      </p:sp>
      <p:sp>
        <p:nvSpPr>
          <p:cNvPr id="24" name="Text 21"/>
          <p:cNvSpPr/>
          <p:nvPr/>
        </p:nvSpPr>
        <p:spPr>
          <a:xfrm>
            <a:off x="7580376" y="1975104"/>
            <a:ext cx="2167128" cy="347472"/>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ChatModel.call</a:t>
            </a:r>
            <a:endParaRPr lang="en-US" sz="1800" dirty="0"/>
          </a:p>
        </p:txBody>
      </p:sp>
      <p:sp>
        <p:nvSpPr>
          <p:cNvPr id="25" name="Text 22"/>
          <p:cNvSpPr/>
          <p:nvPr/>
        </p:nvSpPr>
        <p:spPr>
          <a:xfrm>
            <a:off x="548640" y="5065776"/>
            <a:ext cx="11064240" cy="42976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Previously ingested documents supply the passages. The chat model generates the answer.</a:t>
            </a:r>
            <a:endParaRPr lang="en-US" sz="1800" dirty="0"/>
          </a:p>
        </p:txBody>
      </p:sp>
      <p:sp>
        <p:nvSpPr>
          <p:cNvPr id="26" name="Text 2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RAG supplies context from your corpus; it does not guarantee a correct answer.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app answers from the uploaded document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22</a:t>
            </a:r>
            <a:endParaRPr lang="en-US" sz="1200" dirty="0"/>
          </a:p>
        </p:txBody>
      </p:sp>
      <p:pic>
        <p:nvPicPr>
          <p:cNvPr id="6" name="Image 0" descr="rag query results"/>
          <p:cNvPicPr>
            <a:picLocks noChangeAspect="1"/>
          </p:cNvPicPr>
          <p:nvPr/>
        </p:nvPicPr>
        <p:blipFill>
          <a:blip r:embed="rId3"/>
          <a:stretch>
            <a:fillRect/>
          </a:stretch>
        </p:blipFill>
        <p:spPr>
          <a:xfrm>
            <a:off x="548640" y="2249478"/>
            <a:ext cx="11091672" cy="2733947"/>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Existing answer excerpt: compare each claim with the returned source passage.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Spring AI abstractions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Shared ingestion supports two query approaches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22</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Native querying</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RagService</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Search explicitly, assemble context, and call ChatModel.</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More direct control</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Each query stage is visible in application code.</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Advisor-based querying</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AdvisorRagService</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Attach QuestionAnswerAdvisor to a ChatClient request.</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Less query plumbing</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advisor retrieves and inserts context.</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Shared ETL: parse text/PDF -&gt; Document -&gt; TokenTextSplitter -&gt; VectorStore.add().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Dependencies and configuration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Add the Spring AI vector-store modules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MAVEN ARTIFACTS / SPRING BEANS</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Inherited from the root POM:</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spring-ai-starter-model-openai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spring-ai-client-chat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Added by Module 03:</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spring-ai-vector-store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spring-ai-vector-store-advisor</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Beans used by the services: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EmbeddingModel + VectorStore + ChatClient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Separate models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Chat generates text; embeddings represent meaning.</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configuration</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Module 01 provisions both deployments.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PDF support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Apache PDFBox extracts uploaded PDF text.</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Spring AI BOM manages the versions of these Spring AI artifacts.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Ingestion / Parse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Wrap uploaded content in a Spring AI Document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documentId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UUID.randomUUID().toString();</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Document document = new Document(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 Map.of(</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"filename", filename,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"documentId", documentId));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List&lt;Document&gt; segments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splitter.split(document);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Read the content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PDFBox for PDF; UTF-8 text for TXT uploads.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Preserve metadata</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Filename and document ID travel with the content.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Reject empty input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Blank extracted content fails processing.</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Document carries both text and metadata through the Spring AI pipeline.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Ingestion / Split</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Chunking shapes what one embedding represents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22</a:t>
            </a:r>
            <a:endParaRPr lang="en-US" sz="1200" dirty="0"/>
          </a:p>
        </p:txBody>
      </p:sp>
      <p:pic>
        <p:nvPicPr>
          <p:cNvPr id="6" name="Image 0" descr="document chunking"/>
          <p:cNvPicPr>
            <a:picLocks noChangeAspect="1"/>
          </p:cNvPicPr>
          <p:nvPr/>
        </p:nvPicPr>
        <p:blipFill>
          <a:blip r:embed="rId3"/>
          <a:stretch>
            <a:fillRect/>
          </a:stretch>
        </p:blipFill>
        <p:spPr>
          <a:xfrm>
            <a:off x="2509183" y="1682496"/>
            <a:ext cx="7170586" cy="3867912"/>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image illustrates overlap; the workshop uses 150-token chunks without added overlap.</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Spring AI TokenTextSplitter</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Configure the actual chunk size: 150 tokens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 + CONFIGURATION VALUE</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TokenTextSplitter splitter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TokenTextSplitter.builder()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.withChunkSize(chunkSize)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List&lt;Document&gt; segments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splitter.split(document);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app.rag.chunking.chunk-size: 150</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Corpus-specific choice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small sample needs focused chunks.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Tune and re-ingest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Changing the size affects newly processed documents.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Not a universal rule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Different documents may need different boundaries.</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150-token setting is local to this workshop, not Spring AI's global default.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Ingestion / Embed</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EmbeddingModel turns text into comparable vectors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22</a:t>
            </a:r>
            <a:endParaRPr lang="en-US" sz="1200" dirty="0"/>
          </a:p>
        </p:txBody>
      </p:sp>
      <p:pic>
        <p:nvPicPr>
          <p:cNvPr id="6" name="Image 0" descr="embedding model concept"/>
          <p:cNvPicPr>
            <a:picLocks noChangeAspect="1"/>
          </p:cNvPicPr>
          <p:nvPr/>
        </p:nvPicPr>
        <p:blipFill>
          <a:blip r:embed="rId3"/>
          <a:stretch>
            <a:fillRect/>
          </a:stretch>
        </p:blipFill>
        <p:spPr>
          <a:xfrm>
            <a:off x="548640" y="2188694"/>
            <a:ext cx="11091672" cy="2855516"/>
          </a:xfrm>
          <a:prstGeom prst="rect">
            <a:avLst/>
          </a:prstGeom>
        </p:spPr>
      </p:pic>
      <p:sp>
        <p:nvSpPr>
          <p:cNvPr id="7" name="Text 4"/>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An embedding represents similarity; it is not a generated answer. These three-coordinate vectors are illustrative.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Spring AI storage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Store chunks through the VectorStore abstraction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@Bean</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VectorStore vectorStore(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EmbeddingModel embeddingModel)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return SimpleVectorStore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.builder(embeddingModel)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vectorStore.add(segments);</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Automatic embedding</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store uses EmbeddingModel when adding chunks.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One shared store</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Both query paths use the same indexed content.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In-memory demo</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Restarting the process discards the index.</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Depend on VectorStore so a persistent implementation can replace SimpleVectorStore.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Retrieval / Meaning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Semantic search can match different wording</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22</a:t>
            </a:r>
            <a:endParaRPr lang="en-US" sz="1200" dirty="0"/>
          </a:p>
        </p:txBody>
      </p:sp>
      <p:pic>
        <p:nvPicPr>
          <p:cNvPr id="6" name="Image 0" descr="semantic search"/>
          <p:cNvPicPr>
            <a:picLocks noChangeAspect="1"/>
          </p:cNvPicPr>
          <p:nvPr/>
        </p:nvPicPr>
        <p:blipFill>
          <a:blip r:embed="rId3"/>
          <a:stretch>
            <a:fillRect/>
          </a:stretch>
        </p:blipFill>
        <p:spPr>
          <a:xfrm>
            <a:off x="548640" y="2928209"/>
            <a:ext cx="2834640" cy="745549"/>
          </a:xfrm>
          <a:prstGeom prst="rect">
            <a:avLst/>
          </a:prstGeom>
        </p:spPr>
      </p:pic>
      <p:pic>
        <p:nvPicPr>
          <p:cNvPr id="7" name="Image 1" descr="semantic search"/>
          <p:cNvPicPr>
            <a:picLocks noChangeAspect="1"/>
          </p:cNvPicPr>
          <p:nvPr/>
        </p:nvPicPr>
        <p:blipFill>
          <a:blip r:embed="rId4"/>
          <a:stretch>
            <a:fillRect/>
          </a:stretch>
        </p:blipFill>
        <p:spPr>
          <a:xfrm>
            <a:off x="8514231" y="1819656"/>
            <a:ext cx="1286969" cy="896112"/>
          </a:xfrm>
          <a:prstGeom prst="rect">
            <a:avLst/>
          </a:prstGeom>
        </p:spPr>
      </p:pic>
      <p:pic>
        <p:nvPicPr>
          <p:cNvPr id="8" name="Image 2" descr="semantic search"/>
          <p:cNvPicPr>
            <a:picLocks noChangeAspect="1"/>
          </p:cNvPicPr>
          <p:nvPr/>
        </p:nvPicPr>
        <p:blipFill>
          <a:blip r:embed="rId5"/>
          <a:stretch>
            <a:fillRect/>
          </a:stretch>
        </p:blipFill>
        <p:spPr>
          <a:xfrm>
            <a:off x="8485632" y="2882601"/>
            <a:ext cx="1344168" cy="836767"/>
          </a:xfrm>
          <a:prstGeom prst="rect">
            <a:avLst/>
          </a:prstGeom>
        </p:spPr>
      </p:pic>
      <p:pic>
        <p:nvPicPr>
          <p:cNvPr id="9" name="Image 3" descr="semantic search"/>
          <p:cNvPicPr>
            <a:picLocks noChangeAspect="1"/>
          </p:cNvPicPr>
          <p:nvPr/>
        </p:nvPicPr>
        <p:blipFill>
          <a:blip r:embed="rId6"/>
          <a:stretch>
            <a:fillRect/>
          </a:stretch>
        </p:blipFill>
        <p:spPr>
          <a:xfrm>
            <a:off x="8485632" y="3915873"/>
            <a:ext cx="1344168" cy="836767"/>
          </a:xfrm>
          <a:prstGeom prst="rect">
            <a:avLst/>
          </a:prstGeom>
        </p:spPr>
      </p:pic>
      <p:sp>
        <p:nvSpPr>
          <p:cNvPr id="10" name="Shape 4"/>
          <p:cNvSpPr/>
          <p:nvPr/>
        </p:nvSpPr>
        <p:spPr>
          <a:xfrm>
            <a:off x="3383280" y="3300984"/>
            <a:ext cx="822960" cy="0"/>
          </a:xfrm>
          <a:prstGeom prst="line">
            <a:avLst/>
          </a:prstGeom>
          <a:noFill/>
          <a:ln w="21590">
            <a:solidFill>
              <a:srgbClr val="397C25"/>
            </a:solidFill>
            <a:prstDash val="solid"/>
            <a:tailEnd type="triangle"/>
          </a:ln>
        </p:spPr>
        <p:txBody>
          <a:bodyPr/>
          <a:lstStyle/>
          <a:p>
            <a:endParaRPr lang="en-ZA"/>
          </a:p>
        </p:txBody>
      </p:sp>
      <p:sp>
        <p:nvSpPr>
          <p:cNvPr id="11" name="Shape 5"/>
          <p:cNvSpPr/>
          <p:nvPr/>
        </p:nvSpPr>
        <p:spPr>
          <a:xfrm>
            <a:off x="7095744" y="3300984"/>
            <a:ext cx="685800" cy="0"/>
          </a:xfrm>
          <a:prstGeom prst="line">
            <a:avLst/>
          </a:prstGeom>
          <a:noFill/>
          <a:ln w="21590">
            <a:solidFill>
              <a:srgbClr val="397C25"/>
            </a:solidFill>
            <a:prstDash val="solid"/>
          </a:ln>
        </p:spPr>
        <p:txBody>
          <a:bodyPr/>
          <a:lstStyle/>
          <a:p>
            <a:endParaRPr lang="en-ZA"/>
          </a:p>
        </p:txBody>
      </p:sp>
      <p:sp>
        <p:nvSpPr>
          <p:cNvPr id="12" name="Shape 6"/>
          <p:cNvSpPr/>
          <p:nvPr/>
        </p:nvSpPr>
        <p:spPr>
          <a:xfrm>
            <a:off x="7781544" y="2267712"/>
            <a:ext cx="0" cy="1033272"/>
          </a:xfrm>
          <a:prstGeom prst="line">
            <a:avLst/>
          </a:prstGeom>
          <a:noFill/>
          <a:ln w="21590">
            <a:solidFill>
              <a:srgbClr val="397C25"/>
            </a:solidFill>
            <a:prstDash val="solid"/>
          </a:ln>
        </p:spPr>
        <p:txBody>
          <a:bodyPr/>
          <a:lstStyle/>
          <a:p>
            <a:endParaRPr lang="en-ZA"/>
          </a:p>
        </p:txBody>
      </p:sp>
      <p:sp>
        <p:nvSpPr>
          <p:cNvPr id="13" name="Shape 7"/>
          <p:cNvSpPr/>
          <p:nvPr/>
        </p:nvSpPr>
        <p:spPr>
          <a:xfrm>
            <a:off x="7781544" y="2267712"/>
            <a:ext cx="732690" cy="0"/>
          </a:xfrm>
          <a:prstGeom prst="line">
            <a:avLst/>
          </a:prstGeom>
          <a:noFill/>
          <a:ln w="21590">
            <a:solidFill>
              <a:srgbClr val="397C25"/>
            </a:solidFill>
            <a:prstDash val="solid"/>
            <a:tailEnd type="triangle"/>
          </a:ln>
        </p:spPr>
        <p:txBody>
          <a:bodyPr/>
          <a:lstStyle/>
          <a:p>
            <a:endParaRPr lang="en-ZA"/>
          </a:p>
        </p:txBody>
      </p:sp>
      <p:sp>
        <p:nvSpPr>
          <p:cNvPr id="14" name="Shape 8"/>
          <p:cNvSpPr/>
          <p:nvPr/>
        </p:nvSpPr>
        <p:spPr>
          <a:xfrm>
            <a:off x="7095744" y="3300984"/>
            <a:ext cx="1389888" cy="0"/>
          </a:xfrm>
          <a:prstGeom prst="line">
            <a:avLst/>
          </a:prstGeom>
          <a:noFill/>
          <a:ln w="21590">
            <a:solidFill>
              <a:srgbClr val="397C25"/>
            </a:solidFill>
            <a:prstDash val="solid"/>
            <a:tailEnd type="triangle"/>
          </a:ln>
        </p:spPr>
        <p:txBody>
          <a:bodyPr/>
          <a:lstStyle/>
          <a:p>
            <a:endParaRPr lang="en-ZA"/>
          </a:p>
        </p:txBody>
      </p:sp>
      <p:sp>
        <p:nvSpPr>
          <p:cNvPr id="15" name="Shape 9"/>
          <p:cNvSpPr/>
          <p:nvPr/>
        </p:nvSpPr>
        <p:spPr>
          <a:xfrm>
            <a:off x="7095744" y="3300984"/>
            <a:ext cx="685800" cy="0"/>
          </a:xfrm>
          <a:prstGeom prst="line">
            <a:avLst/>
          </a:prstGeom>
          <a:noFill/>
          <a:ln w="21590">
            <a:solidFill>
              <a:srgbClr val="397C25"/>
            </a:solidFill>
            <a:prstDash val="solid"/>
          </a:ln>
        </p:spPr>
        <p:txBody>
          <a:bodyPr/>
          <a:lstStyle/>
          <a:p>
            <a:endParaRPr lang="en-ZA"/>
          </a:p>
        </p:txBody>
      </p:sp>
      <p:sp>
        <p:nvSpPr>
          <p:cNvPr id="16" name="Shape 10"/>
          <p:cNvSpPr/>
          <p:nvPr/>
        </p:nvSpPr>
        <p:spPr>
          <a:xfrm>
            <a:off x="7781544" y="3300984"/>
            <a:ext cx="0" cy="1033272"/>
          </a:xfrm>
          <a:prstGeom prst="line">
            <a:avLst/>
          </a:prstGeom>
          <a:noFill/>
          <a:ln w="21590">
            <a:solidFill>
              <a:srgbClr val="397C25"/>
            </a:solidFill>
            <a:prstDash val="solid"/>
          </a:ln>
        </p:spPr>
        <p:txBody>
          <a:bodyPr/>
          <a:lstStyle/>
          <a:p>
            <a:endParaRPr lang="en-ZA"/>
          </a:p>
        </p:txBody>
      </p:sp>
      <p:sp>
        <p:nvSpPr>
          <p:cNvPr id="17" name="Shape 11"/>
          <p:cNvSpPr/>
          <p:nvPr/>
        </p:nvSpPr>
        <p:spPr>
          <a:xfrm>
            <a:off x="7781544" y="4334256"/>
            <a:ext cx="704088" cy="0"/>
          </a:xfrm>
          <a:prstGeom prst="line">
            <a:avLst/>
          </a:prstGeom>
          <a:noFill/>
          <a:ln w="21590">
            <a:solidFill>
              <a:srgbClr val="397C25"/>
            </a:solidFill>
            <a:prstDash val="solid"/>
            <a:tailEnd type="triangle"/>
          </a:ln>
        </p:spPr>
        <p:txBody>
          <a:bodyPr/>
          <a:lstStyle/>
          <a:p>
            <a:endParaRPr lang="en-ZA"/>
          </a:p>
        </p:txBody>
      </p:sp>
      <p:sp>
        <p:nvSpPr>
          <p:cNvPr id="18" name="Shape 12"/>
          <p:cNvSpPr/>
          <p:nvPr/>
        </p:nvSpPr>
        <p:spPr>
          <a:xfrm>
            <a:off x="4206240" y="2615184"/>
            <a:ext cx="2889504" cy="1371600"/>
          </a:xfrm>
          <a:prstGeom prst="rect">
            <a:avLst/>
          </a:prstGeom>
          <a:solidFill>
            <a:srgbClr val="202A25"/>
          </a:solidFill>
          <a:ln w="12700">
            <a:solidFill>
              <a:srgbClr val="202A25">
                <a:alpha val="0"/>
              </a:srgbClr>
            </a:solidFill>
            <a:prstDash val="solid"/>
          </a:ln>
        </p:spPr>
        <p:txBody>
          <a:bodyPr/>
          <a:lstStyle/>
          <a:p>
            <a:endParaRPr lang="en-ZA"/>
          </a:p>
        </p:txBody>
      </p:sp>
      <p:sp>
        <p:nvSpPr>
          <p:cNvPr id="19" name="Text 13"/>
          <p:cNvSpPr/>
          <p:nvPr/>
        </p:nvSpPr>
        <p:spPr>
          <a:xfrm>
            <a:off x="4334256" y="2734056"/>
            <a:ext cx="2633472"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Vector similarity</a:t>
            </a:r>
            <a:endParaRPr lang="en-US" sz="2100" dirty="0"/>
          </a:p>
        </p:txBody>
      </p:sp>
      <p:sp>
        <p:nvSpPr>
          <p:cNvPr id="20" name="Text 14"/>
          <p:cNvSpPr/>
          <p:nvPr/>
        </p:nvSpPr>
        <p:spPr>
          <a:xfrm>
            <a:off x="4334256" y="3236976"/>
            <a:ext cx="2633472" cy="64922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Compare the query with stored vectors</a:t>
            </a:r>
            <a:endParaRPr lang="en-US" sz="1900" dirty="0"/>
          </a:p>
        </p:txBody>
      </p:sp>
      <p:sp>
        <p:nvSpPr>
          <p:cNvPr id="21" name="Text 15"/>
          <p:cNvSpPr/>
          <p:nvPr/>
        </p:nvSpPr>
        <p:spPr>
          <a:xfrm>
            <a:off x="10158984" y="2103120"/>
            <a:ext cx="1417320" cy="411480"/>
          </a:xfrm>
          <a:prstGeom prst="rect">
            <a:avLst/>
          </a:prstGeom>
          <a:noFill/>
          <a:ln/>
        </p:spPr>
        <p:txBody>
          <a:bodyPr wrap="square" lIns="0" tIns="0" rIns="0" bIns="0" rtlCol="0" anchor="t"/>
          <a:lstStyle/>
          <a:p>
            <a:pPr marL="0" indent="0">
              <a:buNone/>
            </a:pPr>
            <a:r>
              <a:rPr lang="en-US" sz="2600" b="1" dirty="0">
                <a:solidFill>
                  <a:srgbClr val="397C25"/>
                </a:solidFill>
                <a:latin typeface="Calibri" pitchFamily="34" charset="0"/>
                <a:ea typeface="Calibri" pitchFamily="34" charset="-122"/>
                <a:cs typeface="Calibri" pitchFamily="34" charset="-120"/>
              </a:rPr>
              <a:t>0.92</a:t>
            </a:r>
            <a:endParaRPr lang="en-US" sz="2600" dirty="0"/>
          </a:p>
        </p:txBody>
      </p:sp>
      <p:sp>
        <p:nvSpPr>
          <p:cNvPr id="22" name="Text 16"/>
          <p:cNvSpPr/>
          <p:nvPr/>
        </p:nvSpPr>
        <p:spPr>
          <a:xfrm>
            <a:off x="10158984" y="3136392"/>
            <a:ext cx="1417320" cy="411480"/>
          </a:xfrm>
          <a:prstGeom prst="rect">
            <a:avLst/>
          </a:prstGeom>
          <a:noFill/>
          <a:ln/>
        </p:spPr>
        <p:txBody>
          <a:bodyPr wrap="square" lIns="0" tIns="0" rIns="0" bIns="0" rtlCol="0" anchor="t"/>
          <a:lstStyle/>
          <a:p>
            <a:pPr marL="0" indent="0">
              <a:buNone/>
            </a:pPr>
            <a:r>
              <a:rPr lang="en-US" sz="2600" b="1" dirty="0">
                <a:solidFill>
                  <a:srgbClr val="397C25"/>
                </a:solidFill>
                <a:latin typeface="Calibri" pitchFamily="34" charset="0"/>
                <a:ea typeface="Calibri" pitchFamily="34" charset="-122"/>
                <a:cs typeface="Calibri" pitchFamily="34" charset="-120"/>
              </a:rPr>
              <a:t>0.85</a:t>
            </a:r>
            <a:endParaRPr lang="en-US" sz="2600" dirty="0"/>
          </a:p>
        </p:txBody>
      </p:sp>
      <p:sp>
        <p:nvSpPr>
          <p:cNvPr id="23" name="Text 17"/>
          <p:cNvSpPr/>
          <p:nvPr/>
        </p:nvSpPr>
        <p:spPr>
          <a:xfrm>
            <a:off x="10158984" y="4169664"/>
            <a:ext cx="1417320" cy="411480"/>
          </a:xfrm>
          <a:prstGeom prst="rect">
            <a:avLst/>
          </a:prstGeom>
          <a:noFill/>
          <a:ln/>
        </p:spPr>
        <p:txBody>
          <a:bodyPr wrap="square" lIns="0" tIns="0" rIns="0" bIns="0" rtlCol="0" anchor="t"/>
          <a:lstStyle/>
          <a:p>
            <a:pPr marL="0" indent="0">
              <a:buNone/>
            </a:pPr>
            <a:r>
              <a:rPr lang="en-US" sz="2600" b="1" dirty="0">
                <a:solidFill>
                  <a:srgbClr val="397C25"/>
                </a:solidFill>
                <a:latin typeface="Calibri" pitchFamily="34" charset="0"/>
                <a:ea typeface="Calibri" pitchFamily="34" charset="-122"/>
                <a:cs typeface="Calibri" pitchFamily="34" charset="-120"/>
              </a:rPr>
              <a:t>0.78</a:t>
            </a:r>
            <a:endParaRPr lang="en-US" sz="2600" dirty="0"/>
          </a:p>
        </p:txBody>
      </p:sp>
      <p:sp>
        <p:nvSpPr>
          <p:cNvPr id="24" name="Text 18"/>
          <p:cNvSpPr/>
          <p:nvPr/>
        </p:nvSpPr>
        <p:spPr>
          <a:xfrm>
            <a:off x="548640" y="5184648"/>
            <a:ext cx="11064240" cy="393192"/>
          </a:xfrm>
          <a:prstGeom prst="rect">
            <a:avLst/>
          </a:prstGeom>
          <a:noFill/>
          <a:ln/>
        </p:spPr>
        <p:txBody>
          <a:bodyPr wrap="square" lIns="0" tIns="0" rIns="0" bIns="0" rtlCol="0" anchor="t"/>
          <a:lstStyle/>
          <a:p>
            <a:pPr marL="0" indent="0">
              <a:buNone/>
            </a:pPr>
            <a:r>
              <a:rPr lang="en-US" sz="1900" b="1" dirty="0">
                <a:solidFill>
                  <a:srgbClr val="397C25"/>
                </a:solidFill>
                <a:latin typeface="Calibri" pitchFamily="34" charset="0"/>
                <a:ea typeface="Calibri" pitchFamily="34" charset="-122"/>
                <a:cs typeface="Calibri" pitchFamily="34" charset="-120"/>
              </a:rPr>
              <a:t>Matching passage: "Retrieve source passages, then include them in the model prompt."</a:t>
            </a:r>
            <a:endParaRPr lang="en-US" sz="1900" dirty="0"/>
          </a:p>
        </p:txBody>
      </p:sp>
      <p:sp>
        <p:nvSpPr>
          <p:cNvPr id="25" name="Text 19"/>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scores and passage are illustrative. Similar meaning can match different words; it is not proof of truth.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Retrieval / Scoring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Cosine similarity ranks vector alignment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22</a:t>
            </a:r>
            <a:endParaRPr lang="en-US" sz="1200" dirty="0"/>
          </a:p>
        </p:txBody>
      </p:sp>
      <p:pic>
        <p:nvPicPr>
          <p:cNvPr id="6" name="Image 0" descr="cosine similarity"/>
          <p:cNvPicPr>
            <a:picLocks noChangeAspect="1"/>
          </p:cNvPicPr>
          <p:nvPr/>
        </p:nvPicPr>
        <p:blipFill>
          <a:blip r:embed="rId3"/>
          <a:stretch>
            <a:fillRect/>
          </a:stretch>
        </p:blipFill>
        <p:spPr>
          <a:xfrm>
            <a:off x="548640" y="1803317"/>
            <a:ext cx="6949440" cy="3617127"/>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Raw cosine</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Ranges from -1 to 1 for nonzero vectors.</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Alignment</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Aligned is positive; perpendicular is zero; opposite is negative.</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Store conventions</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Interpret returned scores using the vector store's metric.</a:t>
            </a:r>
            <a:endParaRPr lang="en-US" sz="1900" dirty="0"/>
          </a:p>
        </p:txBody>
      </p:sp>
      <p:sp>
        <p:nvSpPr>
          <p:cNvPr id="13" name="Text 1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image is an illustrative aligned example. Similarity is not answer confidence.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Spring AI search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Use SearchRequest to bound retrieval</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SearchRequest searchRequest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SearchRequest.builder()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.query(request.question())</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.topK(5)</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.similarityThreshold(0.35)</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List&lt;Document&gt; matches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vectorStore.similaritySearch(searchRequest);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topK(5)</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Return at most five matching chunks.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Threshold 0.35</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Filter weak matches for this sample corpus.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Typed results</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Read Document text, metadata, and score.</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actual services share RagSearchProperties so their retrieval settings stay aligned.</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Native RAG / Generation and attribution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Assemble context and preserve source metadata</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22</a:t>
            </a:r>
            <a:endParaRPr lang="en-US" sz="1200" dirty="0"/>
          </a:p>
        </p:txBody>
      </p:sp>
      <p:pic>
        <p:nvPicPr>
          <p:cNvPr id="6" name="Image 0" descr="context assembly"/>
          <p:cNvPicPr>
            <a:picLocks noChangeAspect="1"/>
          </p:cNvPicPr>
          <p:nvPr/>
        </p:nvPicPr>
        <p:blipFill>
          <a:blip r:embed="rId3"/>
          <a:stretch>
            <a:fillRect/>
          </a:stretch>
        </p:blipFill>
        <p:spPr>
          <a:xfrm>
            <a:off x="8880716" y="2103120"/>
            <a:ext cx="1258088" cy="1280160"/>
          </a:xfrm>
          <a:prstGeom prst="rect">
            <a:avLst/>
          </a:prstGeom>
        </p:spPr>
      </p:pic>
      <p:sp>
        <p:nvSpPr>
          <p:cNvPr id="7" name="Shape 4"/>
          <p:cNvSpPr/>
          <p:nvPr/>
        </p:nvSpPr>
        <p:spPr>
          <a:xfrm>
            <a:off x="3291840" y="2743200"/>
            <a:ext cx="960120" cy="0"/>
          </a:xfrm>
          <a:prstGeom prst="line">
            <a:avLst/>
          </a:prstGeom>
          <a:noFill/>
          <a:ln w="21590">
            <a:solidFill>
              <a:srgbClr val="397C25"/>
            </a:solidFill>
            <a:prstDash val="solid"/>
            <a:tailEnd type="triangle"/>
          </a:ln>
        </p:spPr>
        <p:txBody>
          <a:bodyPr/>
          <a:lstStyle/>
          <a:p>
            <a:endParaRPr lang="en-ZA"/>
          </a:p>
        </p:txBody>
      </p:sp>
      <p:sp>
        <p:nvSpPr>
          <p:cNvPr id="8" name="Shape 5"/>
          <p:cNvSpPr/>
          <p:nvPr/>
        </p:nvSpPr>
        <p:spPr>
          <a:xfrm>
            <a:off x="7406640" y="2743200"/>
            <a:ext cx="1474077" cy="0"/>
          </a:xfrm>
          <a:prstGeom prst="line">
            <a:avLst/>
          </a:prstGeom>
          <a:noFill/>
          <a:ln w="21590">
            <a:solidFill>
              <a:srgbClr val="397C25"/>
            </a:solidFill>
            <a:prstDash val="solid"/>
            <a:tailEnd type="triangle"/>
          </a:ln>
        </p:spPr>
        <p:txBody>
          <a:bodyPr/>
          <a:lstStyle/>
          <a:p>
            <a:endParaRPr lang="en-ZA"/>
          </a:p>
        </p:txBody>
      </p:sp>
      <p:sp>
        <p:nvSpPr>
          <p:cNvPr id="9" name="Shape 6"/>
          <p:cNvSpPr/>
          <p:nvPr/>
        </p:nvSpPr>
        <p:spPr>
          <a:xfrm>
            <a:off x="1920240" y="3383280"/>
            <a:ext cx="0" cy="548640"/>
          </a:xfrm>
          <a:prstGeom prst="line">
            <a:avLst/>
          </a:prstGeom>
          <a:noFill/>
          <a:ln w="21590">
            <a:solidFill>
              <a:srgbClr val="397C25"/>
            </a:solidFill>
            <a:prstDash val="solid"/>
          </a:ln>
        </p:spPr>
        <p:txBody>
          <a:bodyPr/>
          <a:lstStyle/>
          <a:p>
            <a:endParaRPr lang="en-ZA"/>
          </a:p>
        </p:txBody>
      </p:sp>
      <p:sp>
        <p:nvSpPr>
          <p:cNvPr id="10" name="Shape 7"/>
          <p:cNvSpPr/>
          <p:nvPr/>
        </p:nvSpPr>
        <p:spPr>
          <a:xfrm>
            <a:off x="1920240" y="3931920"/>
            <a:ext cx="3268980" cy="0"/>
          </a:xfrm>
          <a:prstGeom prst="line">
            <a:avLst/>
          </a:prstGeom>
          <a:noFill/>
          <a:ln w="21590">
            <a:solidFill>
              <a:srgbClr val="397C25"/>
            </a:solidFill>
            <a:prstDash val="solid"/>
          </a:ln>
        </p:spPr>
        <p:txBody>
          <a:bodyPr/>
          <a:lstStyle/>
          <a:p>
            <a:endParaRPr lang="en-ZA"/>
          </a:p>
        </p:txBody>
      </p:sp>
      <p:sp>
        <p:nvSpPr>
          <p:cNvPr id="11" name="Shape 8"/>
          <p:cNvSpPr/>
          <p:nvPr/>
        </p:nvSpPr>
        <p:spPr>
          <a:xfrm>
            <a:off x="5189220" y="3931920"/>
            <a:ext cx="0" cy="484632"/>
          </a:xfrm>
          <a:prstGeom prst="line">
            <a:avLst/>
          </a:prstGeom>
          <a:noFill/>
          <a:ln w="21590">
            <a:solidFill>
              <a:srgbClr val="397C25"/>
            </a:solidFill>
            <a:prstDash val="solid"/>
            <a:tailEnd type="triangle"/>
          </a:ln>
        </p:spPr>
        <p:txBody>
          <a:bodyPr/>
          <a:lstStyle/>
          <a:p>
            <a:endParaRPr lang="en-ZA"/>
          </a:p>
        </p:txBody>
      </p:sp>
      <p:sp>
        <p:nvSpPr>
          <p:cNvPr id="12" name="Shape 9"/>
          <p:cNvSpPr/>
          <p:nvPr/>
        </p:nvSpPr>
        <p:spPr>
          <a:xfrm>
            <a:off x="9509760" y="3383280"/>
            <a:ext cx="0" cy="621792"/>
          </a:xfrm>
          <a:prstGeom prst="line">
            <a:avLst/>
          </a:prstGeom>
          <a:noFill/>
          <a:ln w="21590">
            <a:solidFill>
              <a:srgbClr val="397C25"/>
            </a:solidFill>
            <a:prstDash val="solid"/>
          </a:ln>
        </p:spPr>
        <p:txBody>
          <a:bodyPr/>
          <a:lstStyle/>
          <a:p>
            <a:endParaRPr lang="en-ZA"/>
          </a:p>
        </p:txBody>
      </p:sp>
      <p:sp>
        <p:nvSpPr>
          <p:cNvPr id="13" name="Shape 10"/>
          <p:cNvSpPr/>
          <p:nvPr/>
        </p:nvSpPr>
        <p:spPr>
          <a:xfrm>
            <a:off x="9509760" y="4005072"/>
            <a:ext cx="425196" cy="0"/>
          </a:xfrm>
          <a:prstGeom prst="line">
            <a:avLst/>
          </a:prstGeom>
          <a:noFill/>
          <a:ln w="21590">
            <a:solidFill>
              <a:srgbClr val="397C25"/>
            </a:solidFill>
            <a:prstDash val="solid"/>
          </a:ln>
        </p:spPr>
        <p:txBody>
          <a:bodyPr/>
          <a:lstStyle/>
          <a:p>
            <a:endParaRPr lang="en-ZA"/>
          </a:p>
        </p:txBody>
      </p:sp>
      <p:sp>
        <p:nvSpPr>
          <p:cNvPr id="14" name="Shape 11"/>
          <p:cNvSpPr/>
          <p:nvPr/>
        </p:nvSpPr>
        <p:spPr>
          <a:xfrm>
            <a:off x="9934956" y="4005072"/>
            <a:ext cx="0" cy="411480"/>
          </a:xfrm>
          <a:prstGeom prst="line">
            <a:avLst/>
          </a:prstGeom>
          <a:noFill/>
          <a:ln w="21590">
            <a:solidFill>
              <a:srgbClr val="397C25"/>
            </a:solidFill>
            <a:prstDash val="solid"/>
            <a:tailEnd type="triangle"/>
          </a:ln>
        </p:spPr>
        <p:txBody>
          <a:bodyPr/>
          <a:lstStyle/>
          <a:p>
            <a:endParaRPr lang="en-ZA"/>
          </a:p>
        </p:txBody>
      </p:sp>
      <p:sp>
        <p:nvSpPr>
          <p:cNvPr id="15" name="Shape 12"/>
          <p:cNvSpPr/>
          <p:nvPr/>
        </p:nvSpPr>
        <p:spPr>
          <a:xfrm>
            <a:off x="7086600" y="5010912"/>
            <a:ext cx="1143000" cy="0"/>
          </a:xfrm>
          <a:prstGeom prst="line">
            <a:avLst/>
          </a:prstGeom>
          <a:noFill/>
          <a:ln w="21590">
            <a:solidFill>
              <a:srgbClr val="397C25"/>
            </a:solidFill>
            <a:prstDash val="solid"/>
            <a:tailEnd type="triangle"/>
          </a:ln>
        </p:spPr>
        <p:txBody>
          <a:bodyPr/>
          <a:lstStyle/>
          <a:p>
            <a:endParaRPr lang="en-ZA"/>
          </a:p>
        </p:txBody>
      </p:sp>
      <p:sp>
        <p:nvSpPr>
          <p:cNvPr id="16" name="Shape 13"/>
          <p:cNvSpPr/>
          <p:nvPr/>
        </p:nvSpPr>
        <p:spPr>
          <a:xfrm>
            <a:off x="548640" y="2103120"/>
            <a:ext cx="2743200" cy="1280160"/>
          </a:xfrm>
          <a:prstGeom prst="rect">
            <a:avLst/>
          </a:prstGeom>
          <a:solidFill>
            <a:srgbClr val="202A25"/>
          </a:solidFill>
          <a:ln w="12700">
            <a:solidFill>
              <a:srgbClr val="202A25">
                <a:alpha val="0"/>
              </a:srgbClr>
            </a:solidFill>
            <a:prstDash val="solid"/>
          </a:ln>
        </p:spPr>
        <p:txBody>
          <a:bodyPr/>
          <a:lstStyle/>
          <a:p>
            <a:endParaRPr lang="en-ZA"/>
          </a:p>
        </p:txBody>
      </p:sp>
      <p:sp>
        <p:nvSpPr>
          <p:cNvPr id="17" name="Text 14"/>
          <p:cNvSpPr/>
          <p:nvPr/>
        </p:nvSpPr>
        <p:spPr>
          <a:xfrm>
            <a:off x="676656" y="2221992"/>
            <a:ext cx="24871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Matched Documents</a:t>
            </a:r>
            <a:endParaRPr lang="en-US" sz="2100" dirty="0"/>
          </a:p>
        </p:txBody>
      </p:sp>
      <p:sp>
        <p:nvSpPr>
          <p:cNvPr id="18" name="Text 15"/>
          <p:cNvSpPr/>
          <p:nvPr/>
        </p:nvSpPr>
        <p:spPr>
          <a:xfrm>
            <a:off x="676656" y="2724912"/>
            <a:ext cx="2487168" cy="5577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Text, filename, and score</a:t>
            </a:r>
            <a:endParaRPr lang="en-US" sz="1900" dirty="0"/>
          </a:p>
        </p:txBody>
      </p:sp>
      <p:sp>
        <p:nvSpPr>
          <p:cNvPr id="19" name="Shape 16"/>
          <p:cNvSpPr/>
          <p:nvPr/>
        </p:nvSpPr>
        <p:spPr>
          <a:xfrm>
            <a:off x="4251960" y="2103120"/>
            <a:ext cx="3154680" cy="1280160"/>
          </a:xfrm>
          <a:prstGeom prst="rect">
            <a:avLst/>
          </a:prstGeom>
          <a:solidFill>
            <a:srgbClr val="202A25"/>
          </a:solidFill>
          <a:ln w="12700">
            <a:solidFill>
              <a:srgbClr val="202A25">
                <a:alpha val="0"/>
              </a:srgbClr>
            </a:solidFill>
            <a:prstDash val="solid"/>
          </a:ln>
        </p:spPr>
        <p:txBody>
          <a:bodyPr/>
          <a:lstStyle/>
          <a:p>
            <a:endParaRPr lang="en-ZA"/>
          </a:p>
        </p:txBody>
      </p:sp>
      <p:sp>
        <p:nvSpPr>
          <p:cNvPr id="20" name="Text 17"/>
          <p:cNvSpPr/>
          <p:nvPr/>
        </p:nvSpPr>
        <p:spPr>
          <a:xfrm>
            <a:off x="4379976" y="2221992"/>
            <a:ext cx="289864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Assembled Prompt</a:t>
            </a:r>
            <a:endParaRPr lang="en-US" sz="2100" dirty="0"/>
          </a:p>
        </p:txBody>
      </p:sp>
      <p:sp>
        <p:nvSpPr>
          <p:cNvPr id="21" name="Text 18"/>
          <p:cNvSpPr/>
          <p:nvPr/>
        </p:nvSpPr>
        <p:spPr>
          <a:xfrm>
            <a:off x="4379976" y="2724912"/>
            <a:ext cx="2898648" cy="55778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Question + chunk text + grounding instruction</a:t>
            </a:r>
            <a:endParaRPr lang="en-US" sz="1900" dirty="0"/>
          </a:p>
        </p:txBody>
      </p:sp>
      <p:sp>
        <p:nvSpPr>
          <p:cNvPr id="22" name="Shape 19"/>
          <p:cNvSpPr/>
          <p:nvPr/>
        </p:nvSpPr>
        <p:spPr>
          <a:xfrm>
            <a:off x="3291840" y="4416552"/>
            <a:ext cx="3794760"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23" name="Text 20"/>
          <p:cNvSpPr/>
          <p:nvPr/>
        </p:nvSpPr>
        <p:spPr>
          <a:xfrm>
            <a:off x="3419856" y="4535424"/>
            <a:ext cx="353872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SourceReference list</a:t>
            </a:r>
            <a:endParaRPr lang="en-US" sz="2100" dirty="0"/>
          </a:p>
        </p:txBody>
      </p:sp>
      <p:sp>
        <p:nvSpPr>
          <p:cNvPr id="24" name="Text 21"/>
          <p:cNvSpPr/>
          <p:nvPr/>
        </p:nvSpPr>
        <p:spPr>
          <a:xfrm>
            <a:off x="3419856" y="5038344"/>
            <a:ext cx="3538728"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Filename, chunk text, score</a:t>
            </a:r>
            <a:endParaRPr lang="en-US" sz="1900" dirty="0"/>
          </a:p>
        </p:txBody>
      </p:sp>
      <p:sp>
        <p:nvSpPr>
          <p:cNvPr id="25" name="Shape 22"/>
          <p:cNvSpPr/>
          <p:nvPr/>
        </p:nvSpPr>
        <p:spPr>
          <a:xfrm>
            <a:off x="8229600" y="4416552"/>
            <a:ext cx="3410712" cy="1188720"/>
          </a:xfrm>
          <a:prstGeom prst="rect">
            <a:avLst/>
          </a:prstGeom>
          <a:solidFill>
            <a:srgbClr val="202A25"/>
          </a:solidFill>
          <a:ln w="12700">
            <a:solidFill>
              <a:srgbClr val="202A25">
                <a:alpha val="0"/>
              </a:srgbClr>
            </a:solidFill>
            <a:prstDash val="solid"/>
          </a:ln>
        </p:spPr>
        <p:txBody>
          <a:bodyPr/>
          <a:lstStyle/>
          <a:p>
            <a:endParaRPr lang="en-ZA"/>
          </a:p>
        </p:txBody>
      </p:sp>
      <p:sp>
        <p:nvSpPr>
          <p:cNvPr id="26" name="Text 23"/>
          <p:cNvSpPr/>
          <p:nvPr/>
        </p:nvSpPr>
        <p:spPr>
          <a:xfrm>
            <a:off x="8357616" y="4535424"/>
            <a:ext cx="315468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RagResponse</a:t>
            </a:r>
            <a:endParaRPr lang="en-US" sz="2100" dirty="0"/>
          </a:p>
        </p:txBody>
      </p:sp>
      <p:sp>
        <p:nvSpPr>
          <p:cNvPr id="27" name="Text 24"/>
          <p:cNvSpPr/>
          <p:nvPr/>
        </p:nvSpPr>
        <p:spPr>
          <a:xfrm>
            <a:off x="8357616" y="5038344"/>
            <a:ext cx="3154680" cy="466344"/>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answer + sources[]</a:t>
            </a:r>
            <a:endParaRPr lang="en-US" sz="1900" dirty="0"/>
          </a:p>
        </p:txBody>
      </p:sp>
      <p:sp>
        <p:nvSpPr>
          <p:cNvPr id="28" name="Text 25"/>
          <p:cNvSpPr/>
          <p:nvPr/>
        </p:nvSpPr>
        <p:spPr>
          <a:xfrm>
            <a:off x="8439912" y="1709928"/>
            <a:ext cx="2377440" cy="338328"/>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ChatModel.call</a:t>
            </a:r>
            <a:endParaRPr lang="en-US" sz="1800" dirty="0"/>
          </a:p>
        </p:txBody>
      </p:sp>
      <p:sp>
        <p:nvSpPr>
          <p:cNvPr id="29" name="Text 26"/>
          <p:cNvSpPr/>
          <p:nvPr/>
        </p:nvSpPr>
        <p:spPr>
          <a:xfrm>
            <a:off x="2029968" y="3511296"/>
            <a:ext cx="4553712" cy="329184"/>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Application code builds sources</a:t>
            </a:r>
            <a:endParaRPr lang="en-US" sz="1800" dirty="0"/>
          </a:p>
        </p:txBody>
      </p:sp>
      <p:sp>
        <p:nvSpPr>
          <p:cNvPr id="30" name="Text 27"/>
          <p:cNvSpPr/>
          <p:nvPr/>
        </p:nvSpPr>
        <p:spPr>
          <a:xfrm>
            <a:off x="10149840" y="3575304"/>
            <a:ext cx="1490472" cy="685800"/>
          </a:xfrm>
          <a:prstGeom prst="rect">
            <a:avLst/>
          </a:prstGeom>
          <a:noFill/>
          <a:ln/>
        </p:spPr>
        <p:txBody>
          <a:bodyPr wrap="square" lIns="0" tIns="0" rIns="0" bIns="0" rtlCol="0" anchor="t"/>
          <a:lstStyle/>
          <a:p>
            <a:pPr marL="0" indent="0">
              <a:buNone/>
            </a:pPr>
            <a:r>
              <a:rPr lang="en-US" sz="1700" b="1" dirty="0">
                <a:solidFill>
                  <a:srgbClr val="397C25"/>
                </a:solidFill>
                <a:latin typeface="Calibri" pitchFamily="34" charset="0"/>
                <a:ea typeface="Calibri" pitchFamily="34" charset="-122"/>
                <a:cs typeface="Calibri" pitchFamily="34" charset="-120"/>
              </a:rPr>
              <a:t>Generated</a:t>
            </a:r>
            <a:endParaRPr lang="en-US" sz="1700" dirty="0"/>
          </a:p>
          <a:p>
            <a:pPr marL="0" indent="0">
              <a:buNone/>
            </a:pPr>
            <a:r>
              <a:rPr lang="en-US" sz="1700" b="1" dirty="0">
                <a:solidFill>
                  <a:srgbClr val="397C25"/>
                </a:solidFill>
                <a:latin typeface="Calibri" pitchFamily="34" charset="0"/>
                <a:ea typeface="Calibri" pitchFamily="34" charset="-122"/>
                <a:cs typeface="Calibri" pitchFamily="34" charset="-120"/>
              </a:rPr>
              <a:t>answer</a:t>
            </a:r>
            <a:endParaRPr lang="en-US" sz="1700" dirty="0"/>
          </a:p>
        </p:txBody>
      </p:sp>
      <p:sp>
        <p:nvSpPr>
          <p:cNvPr id="31" name="Text 28"/>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This service returns sources separately; it does not construct numbered citations inside model text.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RagService implementation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Native RAG makes every query stage explicit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context = matches.stream()</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.map(Document::getText)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.collect(Collectors.joining("\n\n"));</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answer = chatModel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.call(new Prompt(promptText))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.getResult()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.getOutput()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.getText();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Before this call</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Search, check for no matches, and build the prompt.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Direct model API</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Calls OpenAiChatModel directly.</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After this call</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Return the answer with source references.</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No matches: the native path returns a fallback without calling the chat model.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Spring AI advisor-based RAG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QuestionAnswerAdvisor handles retrieval and context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22</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QuestionAnswerAdvisor qaAdvisor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QuestionAnswerAdvisor.builder(vectorStore)</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.searchRequest(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searchProperties.buildSearchRequest())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.build();</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ChatResponse response = chatClient.prompt()</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.advisors(qaAdvisor)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.user(request.question())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.call()</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.chatResponse();</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Attach the advisor</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the configured VectorStore and search policy.</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Ask normally</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ChatClient sends the user question.</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Retrieve and augment</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advisor adds matching context to the call.</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advisor reduces query plumbing; ingestion and application guardrails still matter.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Control versus convenience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Compare the two query endpoints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22</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POST /api/rag/ask</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Native query</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Search, no-match branch, prompt, model call.</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Source attribution</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Uses the same matches used in the prompt.</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POST /api/rag/advisor/ask</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Advisor query</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QuestionAnswerAdvisor augments ChatClient.</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Source attribution</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This demo runs a second search for UI sources.</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Send JSON to either route: {"question":"What is Spring AI?"}. The browser UI uses the advisor route.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Inspect the sources behind the answer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22</a:t>
            </a:r>
            <a:endParaRPr lang="en-US" sz="1200" dirty="0"/>
          </a:p>
        </p:txBody>
      </p:sp>
      <p:pic>
        <p:nvPicPr>
          <p:cNvPr id="6" name="Image 0" descr="rag query results"/>
          <p:cNvPicPr>
            <a:picLocks noChangeAspect="1"/>
          </p:cNvPicPr>
          <p:nvPr/>
        </p:nvPicPr>
        <p:blipFill>
          <a:blip r:embed="rId3"/>
          <a:stretch>
            <a:fillRect/>
          </a:stretch>
        </p:blipFill>
        <p:spPr>
          <a:xfrm>
            <a:off x="548640" y="1842681"/>
            <a:ext cx="11091672" cy="1892477"/>
          </a:xfrm>
          <a:prstGeom prst="rect">
            <a:avLst/>
          </a:prstGeom>
        </p:spPr>
      </p:pic>
      <p:sp>
        <p:nvSpPr>
          <p:cNvPr id="7" name="Text 4"/>
          <p:cNvSpPr/>
          <p:nvPr/>
        </p:nvSpPr>
        <p:spPr>
          <a:xfrm>
            <a:off x="548640" y="4123944"/>
            <a:ext cx="7406640" cy="1289304"/>
          </a:xfrm>
          <a:prstGeom prst="rect">
            <a:avLst/>
          </a:prstGeom>
          <a:noFill/>
          <a:ln/>
        </p:spPr>
        <p:txBody>
          <a:bodyPr wrap="square" lIns="0" tIns="0" rIns="0" bIns="0" rtlCol="0" anchor="t"/>
          <a:lstStyle/>
          <a:p>
            <a:pPr marL="0" indent="0">
              <a:buNone/>
            </a:pPr>
            <a:r>
              <a:rPr lang="en-US" sz="2200" b="1" dirty="0">
                <a:solidFill>
                  <a:srgbClr val="202A25"/>
                </a:solidFill>
                <a:latin typeface="Calibri" pitchFamily="34" charset="0"/>
                <a:ea typeface="Calibri" pitchFamily="34" charset="-122"/>
                <a:cs typeface="Calibri" pitchFamily="34" charset="-120"/>
              </a:rPr>
              <a:t>The source names SystemMessage, UserMessage, and AssistantMessage as conversation-role types.</a:t>
            </a:r>
            <a:endParaRPr lang="en-US" sz="2200" dirty="0"/>
          </a:p>
        </p:txBody>
      </p:sp>
      <p:pic>
        <p:nvPicPr>
          <p:cNvPr id="8" name="Image 1" descr="rag query results"/>
          <p:cNvPicPr>
            <a:picLocks noChangeAspect="1"/>
          </p:cNvPicPr>
          <p:nvPr/>
        </p:nvPicPr>
        <p:blipFill>
          <a:blip r:embed="rId4"/>
          <a:stretch>
            <a:fillRect/>
          </a:stretch>
        </p:blipFill>
        <p:spPr>
          <a:xfrm>
            <a:off x="8476488" y="4129224"/>
            <a:ext cx="3163824" cy="583801"/>
          </a:xfrm>
          <a:prstGeom prst="rect">
            <a:avLst/>
          </a:prstGeom>
        </p:spPr>
      </p:pic>
      <p:sp>
        <p:nvSpPr>
          <p:cNvPr id="9" name="Text 5"/>
          <p:cNvSpPr/>
          <p:nvPr/>
        </p:nvSpPr>
        <p:spPr>
          <a:xfrm>
            <a:off x="8476488" y="4855464"/>
            <a:ext cx="3163824" cy="594360"/>
          </a:xfrm>
          <a:prstGeom prst="rect">
            <a:avLst/>
          </a:prstGeom>
          <a:noFill/>
          <a:ln/>
        </p:spPr>
        <p:txBody>
          <a:bodyPr wrap="square" lIns="0" tIns="0" rIns="0" bIns="0" rtlCol="0" anchor="t"/>
          <a:lstStyle/>
          <a:p>
            <a:pPr marL="0" indent="0">
              <a:buNone/>
            </a:pPr>
            <a:r>
              <a:rPr lang="en-US" sz="1700" dirty="0">
                <a:solidFill>
                  <a:srgbClr val="59665D"/>
                </a:solidFill>
                <a:latin typeface="Calibri" pitchFamily="34" charset="0"/>
                <a:ea typeface="Calibri" pitchFamily="34" charset="-122"/>
                <a:cs typeface="Calibri" pitchFamily="34" charset="-120"/>
              </a:rPr>
              <a:t>Recorded relevance score, not answer confidence.</a:t>
            </a:r>
            <a:endParaRPr lang="en-US" sz="1700" dirty="0"/>
          </a:p>
        </p:txBody>
      </p:sp>
      <p:sp>
        <p:nvSpPr>
          <p:cNvPr id="10" name="Text 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Two excerpts from the same historical source card: compare its passage with the earlier answer.</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Evaluation and tuning</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Recognize retrieval failure modes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19 / 22</a:t>
            </a:r>
            <a:endParaRPr lang="en-US" sz="1200" dirty="0"/>
          </a:p>
        </p:txBody>
      </p:sp>
      <p:pic>
        <p:nvPicPr>
          <p:cNvPr id="6" name="Image 0" descr="embedding failure modes"/>
          <p:cNvPicPr>
            <a:picLocks noChangeAspect="1"/>
          </p:cNvPicPr>
          <p:nvPr/>
        </p:nvPicPr>
        <p:blipFill>
          <a:blip r:embed="rId3"/>
          <a:stretch>
            <a:fillRect/>
          </a:stretch>
        </p:blipFill>
        <p:spPr>
          <a:xfrm>
            <a:off x="1708796" y="1737360"/>
            <a:ext cx="4629129" cy="3749040"/>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Chunking</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Large chunks mix topics; very small chunks lose context.</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Ambiguity</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Add enough domain context to disambiguate the query.</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Exact identifiers</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lexical search or filters for codes and IDs.</a:t>
            </a:r>
            <a:endParaRPr lang="en-US" sz="1900" dirty="0"/>
          </a:p>
        </p:txBody>
      </p:sp>
      <p:sp>
        <p:nvSpPr>
          <p:cNvPr id="13" name="Text 1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Evaluate facts, paraphrases, ambiguous questions, and questions absent from the corpus.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Operational limits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Manage the retrieval budget and storage lifetime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20 / 22</a:t>
            </a:r>
            <a:endParaRPr lang="en-US" sz="1200" dirty="0"/>
          </a:p>
        </p:txBody>
      </p:sp>
      <p:sp>
        <p:nvSpPr>
          <p:cNvPr id="6" name="Shape 4"/>
          <p:cNvSpPr/>
          <p:nvPr/>
        </p:nvSpPr>
        <p:spPr>
          <a:xfrm>
            <a:off x="548640" y="1792224"/>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7" name="Text 5"/>
          <p:cNvSpPr/>
          <p:nvPr/>
        </p:nvSpPr>
        <p:spPr>
          <a:xfrm>
            <a:off x="74980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Context budget</a:t>
            </a:r>
            <a:endParaRPr lang="en-US" sz="2200" dirty="0"/>
          </a:p>
        </p:txBody>
      </p:sp>
      <p:sp>
        <p:nvSpPr>
          <p:cNvPr id="8" name="Text 6"/>
          <p:cNvSpPr/>
          <p:nvPr/>
        </p:nvSpPr>
        <p:spPr>
          <a:xfrm>
            <a:off x="54864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150-token chunk target</a:t>
            </a:r>
            <a:endParaRPr lang="en-US" sz="2200" dirty="0"/>
          </a:p>
        </p:txBody>
      </p:sp>
      <p:sp>
        <p:nvSpPr>
          <p:cNvPr id="9" name="Text 7"/>
          <p:cNvSpPr/>
          <p:nvPr/>
        </p:nvSpPr>
        <p:spPr>
          <a:xfrm>
            <a:off x="54864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Keep each vector focused on a useful passage.</a:t>
            </a:r>
            <a:endParaRPr lang="en-US" sz="1900" dirty="0"/>
          </a:p>
        </p:txBody>
      </p:sp>
      <p:sp>
        <p:nvSpPr>
          <p:cNvPr id="10" name="Text 8"/>
          <p:cNvSpPr/>
          <p:nvPr/>
        </p:nvSpPr>
        <p:spPr>
          <a:xfrm>
            <a:off x="54864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At most five matches</a:t>
            </a:r>
            <a:endParaRPr lang="en-US" sz="2200" dirty="0"/>
          </a:p>
        </p:txBody>
      </p:sp>
      <p:sp>
        <p:nvSpPr>
          <p:cNvPr id="11" name="Text 9"/>
          <p:cNvSpPr/>
          <p:nvPr/>
        </p:nvSpPr>
        <p:spPr>
          <a:xfrm>
            <a:off x="54864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Leave room for instructions, question, and output.</a:t>
            </a:r>
            <a:endParaRPr lang="en-US" sz="1900" dirty="0"/>
          </a:p>
        </p:txBody>
      </p:sp>
      <p:sp>
        <p:nvSpPr>
          <p:cNvPr id="12" name="Shape 10"/>
          <p:cNvSpPr/>
          <p:nvPr/>
        </p:nvSpPr>
        <p:spPr>
          <a:xfrm>
            <a:off x="6309360" y="1792224"/>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3" name="Text 11"/>
          <p:cNvSpPr/>
          <p:nvPr/>
        </p:nvSpPr>
        <p:spPr>
          <a:xfrm>
            <a:off x="6510528" y="1865376"/>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Storage lifetime</a:t>
            </a:r>
            <a:endParaRPr lang="en-US" sz="2200" dirty="0"/>
          </a:p>
        </p:txBody>
      </p:sp>
      <p:sp>
        <p:nvSpPr>
          <p:cNvPr id="14" name="Text 12"/>
          <p:cNvSpPr/>
          <p:nvPr/>
        </p:nvSpPr>
        <p:spPr>
          <a:xfrm>
            <a:off x="6309360" y="2660904"/>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SimpleVectorStore</a:t>
            </a:r>
            <a:endParaRPr lang="en-US" sz="2200" dirty="0"/>
          </a:p>
        </p:txBody>
      </p:sp>
      <p:sp>
        <p:nvSpPr>
          <p:cNvPr id="15" name="Text 13"/>
          <p:cNvSpPr/>
          <p:nvPr/>
        </p:nvSpPr>
        <p:spPr>
          <a:xfrm>
            <a:off x="6309360" y="3136392"/>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Uploaded content is temporary in this app.</a:t>
            </a:r>
            <a:endParaRPr lang="en-US" sz="1900" dirty="0"/>
          </a:p>
        </p:txBody>
      </p:sp>
      <p:sp>
        <p:nvSpPr>
          <p:cNvPr id="16" name="Text 14"/>
          <p:cNvSpPr/>
          <p:nvPr/>
        </p:nvSpPr>
        <p:spPr>
          <a:xfrm>
            <a:off x="6309360" y="4064508"/>
            <a:ext cx="516636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Production extension</a:t>
            </a:r>
            <a:endParaRPr lang="en-US" sz="2200" dirty="0"/>
          </a:p>
        </p:txBody>
      </p:sp>
      <p:sp>
        <p:nvSpPr>
          <p:cNvPr id="17" name="Text 15"/>
          <p:cNvSpPr/>
          <p:nvPr/>
        </p:nvSpPr>
        <p:spPr>
          <a:xfrm>
            <a:off x="6309360" y="4539996"/>
            <a:ext cx="5166360" cy="882396"/>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Add persistence, access filters, and evaluation.</a:t>
            </a:r>
            <a:endParaRPr lang="en-US" sz="19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Top-K and chunk size help control context; neither guarantees the full request fits.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03  /  Workshop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Upload, ask, inspect, and compare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03 RAG</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21 / 22</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from 03-rag</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.\start.ps1    |    Bash: ./start.sh    |    http://localhost:8081</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Upload sample-document.txt</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Ask: What is Spring AI? The UI uses advisor RAG; inspect the passage and score.</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Compare the two POST routes</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Send {"question":"What is Spring AI?"} to /api/rag/ask and /api/rag/advisor/ask.</a:t>
            </a:r>
            <a:endParaRPr lang="en-US" sz="20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Reuse the Module 01 environment, including the separate embedding deployment.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03</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Prove that retrieval improves your answers</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Use direct context when a small source fits in the prompt.</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For a larger corpus, test facts, paraphrases, and missing answers.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Tune chunks and thresholds against the retrieved evidence.</a:t>
            </a:r>
            <a:endParaRPr lang="en-US" sz="2100" dirty="0"/>
          </a:p>
        </p:txBody>
      </p:sp>
      <p:pic>
        <p:nvPicPr>
          <p:cNvPr id="7" name="Image 0" descr="rag query results"/>
          <p:cNvPicPr>
            <a:picLocks noChangeAspect="1"/>
          </p:cNvPicPr>
          <p:nvPr/>
        </p:nvPicPr>
        <p:blipFill>
          <a:blip r:embed="rId3"/>
          <a:stretch>
            <a:fillRect/>
          </a:stretch>
        </p:blipFill>
        <p:spPr>
          <a:xfrm>
            <a:off x="5486400" y="3437307"/>
            <a:ext cx="6153912" cy="1044091"/>
          </a:xfrm>
          <a:prstGeom prst="rect">
            <a:avLst/>
          </a:prstGeom>
        </p:spPr>
      </p:pic>
      <p:sp>
        <p:nvSpPr>
          <p:cNvPr id="8" name="Text 5"/>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86CF54"/>
                </a:solidFill>
                <a:latin typeface="Calibri" pitchFamily="34" charset="0"/>
                <a:ea typeface="Calibri" pitchFamily="34" charset="-122"/>
                <a:cs typeface="Calibri" pitchFamily="34" charset="-120"/>
              </a:rPr>
              <a:t>Next: connect Spring AI to actions and calculations with tools.</a:t>
            </a:r>
            <a:endParaRPr lang="en-US" sz="18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03 RAG</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22 / 22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4489</Words>
  <Application>Microsoft Office PowerPoint</Application>
  <PresentationFormat>Widescreen</PresentationFormat>
  <Paragraphs>357</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 with Spring AI</dc:title>
  <dc:subject>Spring AI module teaching presentation</dc:subject>
  <dc:creator>Spring AI for Beginners</dc:creator>
  <cp:lastModifiedBy>Rory Preddy</cp:lastModifiedBy>
  <cp:revision>3</cp:revision>
  <dcterms:created xsi:type="dcterms:W3CDTF">2026-09-07T13:29:53Z</dcterms:created>
  <dcterms:modified xsi:type="dcterms:W3CDTF">2026-09-08T06:16:56Z</dcterms:modified>
</cp:coreProperties>
</file>