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1"/>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4" d="100"/>
          <a:sy n="74" d="100"/>
        </p:scale>
        <p:origin x="1962"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5416643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this as a Spring AI programming module, not a general AI overview. The audience will trace an actual Spring Boot application from shared dependencies to ChatClient and then to advisor-managed conversation memory. The home screen is the existing repository application, not a proposed UI.
Repository sources:
01-introduction/README.md
pom.xml</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LLM as large language model and advisor as a component around the ChatClient request/response lifecycle. First send My name is John, then ask What is my name? The two paths trace that second request. The stateless client sends only the current prompt. In Spring AI 2.0.1, MessageChatMemoryAdvisor.before() loads history, augments the prompt, and writes the new user message before the model call. after() then writes the returned assistant messages. The model, not ChatMemory, generates the reply. A failed call can leave the user message retained without a matching answer. Exact wording varies; this is context replay, not model training.
Repository sources:
01-introduction/README.md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two exact user turns are printed above enlarged final-answer crops from the existing screenshots. Each crop retains the AI role label and complete final response; the introduction and question are transcribed in the shared heading rather than squeezed into tiny full-panel captures. This demonstrates recall with the advisor, not an exact-response promise for future runs. Both paths use the same configured deployment. The stateless controller omits memory, whereas ConversationService supplies it through MessageChatMemoryAdvisor.
Repository sources:
01-introduction/README.md
01-introduction/src/main/java/com/example/springai/service/ConversationService.java</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Distinguish the model abstraction from the fluent client. ChatModel represents the provider-facing interaction; OpenAiChatModel is its OpenAI integration. ChatClient wraps that interaction and adds a fluent API and advisors. The starter contributes both model auto-configuration and a ChatClient.Builder bean. The application injects the builder rather than constructing an SDK stack in each endpoint.
Repository sources:
01-introduction/src/main/java/com/example/springai/config/SpringAiConfig.java
01-introduction/README.md</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displayed coordinates summarize the actual root POM rather than being a complete pasteable XML document. The Spring AI BOM manages artifact versions. Spring Boot dependencies and build plugin versions are also centralized. Every runnable module inherits Web MVC, Actuator, the OpenAI starter, ChatClient, and the test starter. Spring AI itself supports earlier Java versions; Java 25 is this repository target.
Repository sources:
pom.xml
01-introduction/pom.xml
01-introduction/README.md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each environment variable without displaying its value. AZURE_OPENAI_ENDPOINT identifies the resource, AZURE_OPENAI_API_KEY authenticates this workshop configuration, and AZURE_OPENAI_FAST_DEPLOYMENT selects the chat deployment. Provisioning is documented in Module 01 and reused by the later modules. The YAML has been wrapped for the slide. Do not project the contents of the environment file.
Repository sources:
01-introduction/README.md
01-introduction/src/main/resources/application.yaml
01-introduction/src/main/java/com/example/springai/config/SpringAiConfig.java</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fluent API and connect it to ChatController. This is a synchronous call returning text, not a streaming example. The key lesson is that one can make a useful provider-backed call without handling HTTP or SDK response envelopes. This client does not infer or retrieve prior messages merely because the same user calls the endpoint again.
Repository sources:
01-introduction/README.md
01-introduction/src/main/java/com/example/springai/app/ChatController.java</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Tokens are pieces of text, not a fixed one-word-to-one-token mapping. Punctuation, whitespace, and word fragments can affect tokenization. Requests, retrieved context, conversation history, and generated output all consume a model budget. Do not teach a fixed context-window size from an old slide: current provider documentation is authoritative. A message-count limit does not guarantee a token budget.
Repository sources:
01-introduction/README.md</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ordering was checked directly against spring-ai-client-chat 2.0.1 MessageChatMemoryAdvisor source. before() reads the selected conversation memory, augments the prompt, and adds the new user message to ChatMemory before returning the prepared request to the chain. after() adds assistant messages from the model response. MessageWindowChatMemory applies retention when messages are added. This is not an atomic write of the complete exchange after generation. A call failure can therefore leave an unanswered user turn; production retry and history semantics need deliberate handling.
Repository sources:
01-introduction/src/main/java/com/example/springai/service/ConversationService.java
01-introduction/README.md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the three concrete types. ChatMemory is the contract consumed by the advisor and by the history endpoints. MessageWindowChatMemory supplies the retention policy. ChatMemoryRepository supplies storage; the repository implementation used here is in-process memory. Replacing storage is a production extension, not something already implemented by this module. Authentication, retention, and authorization still require application design.
Repository sources:
01-introduction/src/main/java/com/example/springai/config/SpringAiConfig.java
01-introduction/src/main/java/com/example/springai/service/ConversationService.java</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compact excerpt of SpringAiConfig, with the repository parameter shortened for readability. A user/assistant exchange normally consumes two message entries. Do not equate maxMessages with a precise token limit or promise that all early facts survive a long conversation. InMemoryChatMemoryRepository is suitable for a workshop, but not durable storage across restarts or shared state across replicas.
Repository sources:
01-introduction/src/main/java/com/example/springai/config/SpringAiConfig.java</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exact ten-message illustration uses numbered user/assistant messages without a system message. Before adding message 11, memory contains messages 1 through 10. Appending message 11 evicts message 1 and retains messages 2 through 11. Appending the next assistant message can evict another oldest message. Spring AI preserves system messages specially; this example does not illustrate that policy. The retained window is context, not an archive or a token-count limit. The original title artwork is reused, while its inconsistent numbered strip is replaced with editable cells.
Repository sources:
01-introduction/README.md
01-introduction/src/main/java/com/example/springai/config/SpringAiConfig.java</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ConversationService constructor in the editor after this slide. The advisor consumes the ChatMemory bean and is installed as a default advisor for this ChatClient. Compare it with the stateless ChatClient built in ChatController. The fluent call remains simple because the history lifecycle has been delegated to the Spring AI abstraction.
Repository sources:
01-introduction/src/main/java/com/example/springai/service/ConversationService.java</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ConversationService generates a UUID when a conversation starts and passes the ID to the advisor on each chat request. The lambda variable is expanded for legibility; the API and behavior match the source. Explain that conversation scoping and access control are separate concerns: a production application must bind the ID to the authenticated user rather than trust arbitrary client-supplied identifiers.
Repository sources:
01-introduction/src/main/java/com/example/springai/service/ConversationService.java</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excerpt collects the key operations from startConversation, getHistory, and clearConversation. The service also tracks active IDs in a concurrent set. History retrieval is useful for UI reloads and debugging what context remains. Clearing removes the stored messages and the active ID. Avoid presenting this as complete persistence, cross-instance coordination, or access control.
Repository sources:
01-introduction/src/main/java/com/example/springai/service/ConversationService.java</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Run the documented azd up workflow from 01-introduction before the workshop, selecting the appropriate subscription and region. This deck does not run provisioning or create any cloud resources. The infra README explains prerequisites and troubleshooting, including transient provisioning conflicts. The post-provision hook generates the root environment file and module copies. Check that required variables are present without printing their secret values. Regional model availability and quota are prerequisites, not guaranteed by a slide.
Repository sources:
01-introduction/README.md
01-introduction/azure.yaml
01-introduction/infra/README.md</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Complete the infrastructure steps in the module README before the presentation. They provision the shared chat and embedding deployments used throughout the repository. This deck does not reproduce credentials. From 01-introduction, run the appropriate start script, or use the Spring Boot Dashboard. The root start-all script starts all modules. Stop the module using its matching stop script. Do not assume port numbers are sequential across modules.
Repository sources:
01-introduction/README.md
01-introduction/start.ps1
01-introduction/start.sh</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localhost:8080. In Simple Chat, send My name is John and then What is my name? In Conversational Chat, first click Start Conversation, then send the same two prompts. Show the retained history and explain why the second request has enough information. Reload the conversation view if appropriate. The success criterion is use of supplied context, not an exact sentence match.
Repository sources:
01-introduction/README.md
01-introduction/src/main/java/com/example/springai/service/ConversationService.java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Change maxMessages in SpringAiConfig, stop the module, rebuild the JAR from 01-introduction using mvn package -DskipTests, and restart with the start script. Those scripts build only when the JAR is missing; a restart alone can run old code. Alternatively restart from the IDE with a fresh build. Send enough user/assistant exchanges to exceed four messages, with a distinctive fact in the first turn. Inspect ChatMemory to check retention instead of inferring it solely from an answer. Compare a second conversation ID and then restart the process again to demonstrate temporary storage.
Repository sources:
01-introduction/src/main/java/com/example/springai/config/SpringAiConfig.java
01-introduction/src/main/java/com/example/springai/service/ConversationService.java
01-introduction/README.md</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01</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Getting started with Spring AI</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Build a Spring Boot chat application.</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Use ChatClient to call a model.</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Add isolated, multi-turn conversation memory.</a:t>
            </a:r>
            <a:endParaRPr lang="en-US" sz="21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01 Getting Started</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01 / 19</a:t>
            </a:r>
            <a:endParaRPr lang="en-US" sz="1200" dirty="0"/>
          </a:p>
        </p:txBody>
      </p:sp>
      <p:pic>
        <p:nvPicPr>
          <p:cNvPr id="12" name="Picture 11">
            <a:extLst>
              <a:ext uri="{FF2B5EF4-FFF2-40B4-BE49-F238E27FC236}">
                <a16:creationId xmlns:a16="http://schemas.microsoft.com/office/drawing/2014/main" id="{191E08DD-D033-3BE0-84D1-7759DB8FDF15}"/>
              </a:ext>
            </a:extLst>
          </p:cNvPr>
          <p:cNvPicPr>
            <a:picLocks noChangeAspect="1"/>
          </p:cNvPicPr>
          <p:nvPr/>
        </p:nvPicPr>
        <p:blipFill>
          <a:blip r:embed="rId3"/>
          <a:stretch>
            <a:fillRect/>
          </a:stretch>
        </p:blipFill>
        <p:spPr>
          <a:xfrm>
            <a:off x="6286178" y="1898728"/>
            <a:ext cx="5517309" cy="3349928"/>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The second user turn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Why your chatbot forgets the previous turn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02 / 19</a:t>
            </a:r>
            <a:endParaRPr lang="en-US" sz="1200" dirty="0"/>
          </a:p>
        </p:txBody>
      </p:sp>
      <p:pic>
        <p:nvPicPr>
          <p:cNvPr id="6" name="Image 0" descr="stateless vs stateful"/>
          <p:cNvPicPr>
            <a:picLocks noChangeAspect="1"/>
          </p:cNvPicPr>
          <p:nvPr/>
        </p:nvPicPr>
        <p:blipFill>
          <a:blip r:embed="rId3"/>
          <a:stretch>
            <a:fillRect/>
          </a:stretch>
        </p:blipFill>
        <p:spPr>
          <a:xfrm>
            <a:off x="6620256" y="2296743"/>
            <a:ext cx="1417320" cy="1139803"/>
          </a:xfrm>
          <a:prstGeom prst="rect">
            <a:avLst/>
          </a:prstGeom>
        </p:spPr>
      </p:pic>
      <p:pic>
        <p:nvPicPr>
          <p:cNvPr id="7" name="Image 1" descr="stateless vs stateful"/>
          <p:cNvPicPr>
            <a:picLocks noChangeAspect="1"/>
          </p:cNvPicPr>
          <p:nvPr/>
        </p:nvPicPr>
        <p:blipFill>
          <a:blip r:embed="rId3"/>
          <a:stretch>
            <a:fillRect/>
          </a:stretch>
        </p:blipFill>
        <p:spPr>
          <a:xfrm>
            <a:off x="6620256" y="4399863"/>
            <a:ext cx="1417320" cy="1139803"/>
          </a:xfrm>
          <a:prstGeom prst="rect">
            <a:avLst/>
          </a:prstGeom>
        </p:spPr>
      </p:pic>
      <p:sp>
        <p:nvSpPr>
          <p:cNvPr id="8" name="Shape 4"/>
          <p:cNvSpPr/>
          <p:nvPr/>
        </p:nvSpPr>
        <p:spPr>
          <a:xfrm>
            <a:off x="2907792" y="2866644"/>
            <a:ext cx="594360" cy="0"/>
          </a:xfrm>
          <a:prstGeom prst="line">
            <a:avLst/>
          </a:prstGeom>
          <a:noFill/>
          <a:ln w="21590">
            <a:solidFill>
              <a:srgbClr val="397C25"/>
            </a:solidFill>
            <a:prstDash val="solid"/>
            <a:tailEnd type="triangle"/>
          </a:ln>
        </p:spPr>
        <p:txBody>
          <a:bodyPr/>
          <a:lstStyle/>
          <a:p>
            <a:endParaRPr lang="en-ZA"/>
          </a:p>
        </p:txBody>
      </p:sp>
      <p:sp>
        <p:nvSpPr>
          <p:cNvPr id="9" name="Shape 5"/>
          <p:cNvSpPr/>
          <p:nvPr/>
        </p:nvSpPr>
        <p:spPr>
          <a:xfrm>
            <a:off x="6016752" y="2866644"/>
            <a:ext cx="603504" cy="0"/>
          </a:xfrm>
          <a:prstGeom prst="line">
            <a:avLst/>
          </a:prstGeom>
          <a:noFill/>
          <a:ln w="21590">
            <a:solidFill>
              <a:srgbClr val="397C25"/>
            </a:solidFill>
            <a:prstDash val="solid"/>
            <a:tailEnd type="triangle"/>
          </a:ln>
        </p:spPr>
        <p:txBody>
          <a:bodyPr/>
          <a:lstStyle/>
          <a:p>
            <a:endParaRPr lang="en-ZA"/>
          </a:p>
        </p:txBody>
      </p:sp>
      <p:sp>
        <p:nvSpPr>
          <p:cNvPr id="10" name="Shape 6"/>
          <p:cNvSpPr/>
          <p:nvPr/>
        </p:nvSpPr>
        <p:spPr>
          <a:xfrm>
            <a:off x="8037576" y="2866644"/>
            <a:ext cx="612648" cy="0"/>
          </a:xfrm>
          <a:prstGeom prst="line">
            <a:avLst/>
          </a:prstGeom>
          <a:noFill/>
          <a:ln w="21590">
            <a:solidFill>
              <a:srgbClr val="397C25"/>
            </a:solidFill>
            <a:prstDash val="solid"/>
            <a:tailEnd type="triangle"/>
          </a:ln>
        </p:spPr>
        <p:txBody>
          <a:bodyPr/>
          <a:lstStyle/>
          <a:p>
            <a:endParaRPr lang="en-ZA"/>
          </a:p>
        </p:txBody>
      </p:sp>
      <p:sp>
        <p:nvSpPr>
          <p:cNvPr id="11" name="Shape 7"/>
          <p:cNvSpPr/>
          <p:nvPr/>
        </p:nvSpPr>
        <p:spPr>
          <a:xfrm>
            <a:off x="2907792" y="4969764"/>
            <a:ext cx="594360" cy="0"/>
          </a:xfrm>
          <a:prstGeom prst="line">
            <a:avLst/>
          </a:prstGeom>
          <a:noFill/>
          <a:ln w="21590">
            <a:solidFill>
              <a:srgbClr val="397C25"/>
            </a:solidFill>
            <a:prstDash val="solid"/>
            <a:tailEnd type="triangle"/>
          </a:ln>
        </p:spPr>
        <p:txBody>
          <a:bodyPr/>
          <a:lstStyle/>
          <a:p>
            <a:endParaRPr lang="en-ZA"/>
          </a:p>
        </p:txBody>
      </p:sp>
      <p:sp>
        <p:nvSpPr>
          <p:cNvPr id="12" name="Shape 8"/>
          <p:cNvSpPr/>
          <p:nvPr/>
        </p:nvSpPr>
        <p:spPr>
          <a:xfrm>
            <a:off x="6016752" y="4969764"/>
            <a:ext cx="603504" cy="0"/>
          </a:xfrm>
          <a:prstGeom prst="line">
            <a:avLst/>
          </a:prstGeom>
          <a:noFill/>
          <a:ln w="21590">
            <a:solidFill>
              <a:srgbClr val="397C25"/>
            </a:solidFill>
            <a:prstDash val="solid"/>
            <a:tailEnd type="triangle"/>
          </a:ln>
        </p:spPr>
        <p:txBody>
          <a:bodyPr/>
          <a:lstStyle/>
          <a:p>
            <a:endParaRPr lang="en-ZA"/>
          </a:p>
        </p:txBody>
      </p:sp>
      <p:sp>
        <p:nvSpPr>
          <p:cNvPr id="13" name="Shape 9"/>
          <p:cNvSpPr/>
          <p:nvPr/>
        </p:nvSpPr>
        <p:spPr>
          <a:xfrm>
            <a:off x="8037576" y="4969764"/>
            <a:ext cx="612648" cy="0"/>
          </a:xfrm>
          <a:prstGeom prst="line">
            <a:avLst/>
          </a:prstGeom>
          <a:noFill/>
          <a:ln w="21590">
            <a:solidFill>
              <a:srgbClr val="397C25"/>
            </a:solidFill>
            <a:prstDash val="solid"/>
            <a:tailEnd type="triangle"/>
          </a:ln>
        </p:spPr>
        <p:txBody>
          <a:bodyPr/>
          <a:lstStyle/>
          <a:p>
            <a:endParaRPr lang="en-ZA"/>
          </a:p>
        </p:txBody>
      </p:sp>
      <p:sp>
        <p:nvSpPr>
          <p:cNvPr id="14" name="Shape 10"/>
          <p:cNvSpPr/>
          <p:nvPr/>
        </p:nvSpPr>
        <p:spPr>
          <a:xfrm>
            <a:off x="548640" y="2286000"/>
            <a:ext cx="2359152" cy="1161288"/>
          </a:xfrm>
          <a:prstGeom prst="rect">
            <a:avLst/>
          </a:prstGeom>
          <a:solidFill>
            <a:srgbClr val="202A25"/>
          </a:solidFill>
          <a:ln w="12700">
            <a:solidFill>
              <a:srgbClr val="202A25">
                <a:alpha val="0"/>
              </a:srgbClr>
            </a:solidFill>
            <a:prstDash val="solid"/>
          </a:ln>
        </p:spPr>
        <p:txBody>
          <a:bodyPr/>
          <a:lstStyle/>
          <a:p>
            <a:endParaRPr lang="en-ZA"/>
          </a:p>
        </p:txBody>
      </p:sp>
      <p:sp>
        <p:nvSpPr>
          <p:cNvPr id="15" name="Text 11"/>
          <p:cNvSpPr/>
          <p:nvPr/>
        </p:nvSpPr>
        <p:spPr>
          <a:xfrm>
            <a:off x="676656" y="2404872"/>
            <a:ext cx="2103120"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User asks</a:t>
            </a:r>
            <a:endParaRPr lang="en-US" sz="2100" dirty="0"/>
          </a:p>
        </p:txBody>
      </p:sp>
      <p:sp>
        <p:nvSpPr>
          <p:cNvPr id="16" name="Text 12"/>
          <p:cNvSpPr/>
          <p:nvPr/>
        </p:nvSpPr>
        <p:spPr>
          <a:xfrm>
            <a:off x="676656" y="2907792"/>
            <a:ext cx="2103120" cy="438912"/>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What is my name?</a:t>
            </a:r>
            <a:endParaRPr lang="en-US" sz="1900" dirty="0"/>
          </a:p>
        </p:txBody>
      </p:sp>
      <p:sp>
        <p:nvSpPr>
          <p:cNvPr id="17" name="Shape 13"/>
          <p:cNvSpPr/>
          <p:nvPr/>
        </p:nvSpPr>
        <p:spPr>
          <a:xfrm>
            <a:off x="3502152" y="2286000"/>
            <a:ext cx="2514600" cy="1161288"/>
          </a:xfrm>
          <a:prstGeom prst="rect">
            <a:avLst/>
          </a:prstGeom>
          <a:solidFill>
            <a:srgbClr val="202A25"/>
          </a:solidFill>
          <a:ln w="12700">
            <a:solidFill>
              <a:srgbClr val="202A25">
                <a:alpha val="0"/>
              </a:srgbClr>
            </a:solidFill>
            <a:prstDash val="solid"/>
          </a:ln>
        </p:spPr>
        <p:txBody>
          <a:bodyPr/>
          <a:lstStyle/>
          <a:p>
            <a:endParaRPr lang="en-ZA"/>
          </a:p>
        </p:txBody>
      </p:sp>
      <p:sp>
        <p:nvSpPr>
          <p:cNvPr id="18" name="Text 14"/>
          <p:cNvSpPr/>
          <p:nvPr/>
        </p:nvSpPr>
        <p:spPr>
          <a:xfrm>
            <a:off x="3630168" y="2404872"/>
            <a:ext cx="225856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ChatClient</a:t>
            </a:r>
            <a:endParaRPr lang="en-US" sz="2100" dirty="0"/>
          </a:p>
        </p:txBody>
      </p:sp>
      <p:sp>
        <p:nvSpPr>
          <p:cNvPr id="19" name="Text 15"/>
          <p:cNvSpPr/>
          <p:nvPr/>
        </p:nvSpPr>
        <p:spPr>
          <a:xfrm>
            <a:off x="3630168" y="2907792"/>
            <a:ext cx="2258568" cy="438912"/>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Current prompt only</a:t>
            </a:r>
            <a:endParaRPr lang="en-US" sz="1900" dirty="0"/>
          </a:p>
        </p:txBody>
      </p:sp>
      <p:sp>
        <p:nvSpPr>
          <p:cNvPr id="20" name="Shape 16"/>
          <p:cNvSpPr/>
          <p:nvPr/>
        </p:nvSpPr>
        <p:spPr>
          <a:xfrm>
            <a:off x="8650224" y="2286000"/>
            <a:ext cx="2990088" cy="1161288"/>
          </a:xfrm>
          <a:prstGeom prst="rect">
            <a:avLst/>
          </a:prstGeom>
          <a:solidFill>
            <a:srgbClr val="202A25"/>
          </a:solidFill>
          <a:ln w="12700">
            <a:solidFill>
              <a:srgbClr val="202A25">
                <a:alpha val="0"/>
              </a:srgbClr>
            </a:solidFill>
            <a:prstDash val="solid"/>
          </a:ln>
        </p:spPr>
        <p:txBody>
          <a:bodyPr/>
          <a:lstStyle/>
          <a:p>
            <a:endParaRPr lang="en-ZA"/>
          </a:p>
        </p:txBody>
      </p:sp>
      <p:sp>
        <p:nvSpPr>
          <p:cNvPr id="21" name="Text 17"/>
          <p:cNvSpPr/>
          <p:nvPr/>
        </p:nvSpPr>
        <p:spPr>
          <a:xfrm>
            <a:off x="8778240" y="2404872"/>
            <a:ext cx="2734056"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Generated reply</a:t>
            </a:r>
            <a:endParaRPr lang="en-US" sz="2100" dirty="0"/>
          </a:p>
        </p:txBody>
      </p:sp>
      <p:sp>
        <p:nvSpPr>
          <p:cNvPr id="22" name="Text 18"/>
          <p:cNvSpPr/>
          <p:nvPr/>
        </p:nvSpPr>
        <p:spPr>
          <a:xfrm>
            <a:off x="8778240" y="2907792"/>
            <a:ext cx="2734056" cy="438912"/>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Name was not supplied</a:t>
            </a:r>
            <a:endParaRPr lang="en-US" sz="1900" dirty="0"/>
          </a:p>
        </p:txBody>
      </p:sp>
      <p:sp>
        <p:nvSpPr>
          <p:cNvPr id="23" name="Shape 19"/>
          <p:cNvSpPr/>
          <p:nvPr/>
        </p:nvSpPr>
        <p:spPr>
          <a:xfrm>
            <a:off x="548640" y="4389120"/>
            <a:ext cx="2359152" cy="1161288"/>
          </a:xfrm>
          <a:prstGeom prst="rect">
            <a:avLst/>
          </a:prstGeom>
          <a:solidFill>
            <a:srgbClr val="202A25"/>
          </a:solidFill>
          <a:ln w="12700">
            <a:solidFill>
              <a:srgbClr val="202A25">
                <a:alpha val="0"/>
              </a:srgbClr>
            </a:solidFill>
            <a:prstDash val="solid"/>
          </a:ln>
        </p:spPr>
        <p:txBody>
          <a:bodyPr/>
          <a:lstStyle/>
          <a:p>
            <a:endParaRPr lang="en-ZA"/>
          </a:p>
        </p:txBody>
      </p:sp>
      <p:sp>
        <p:nvSpPr>
          <p:cNvPr id="24" name="Text 20"/>
          <p:cNvSpPr/>
          <p:nvPr/>
        </p:nvSpPr>
        <p:spPr>
          <a:xfrm>
            <a:off x="676656" y="4507992"/>
            <a:ext cx="2103120"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User asks</a:t>
            </a:r>
            <a:endParaRPr lang="en-US" sz="2100" dirty="0"/>
          </a:p>
        </p:txBody>
      </p:sp>
      <p:sp>
        <p:nvSpPr>
          <p:cNvPr id="25" name="Text 21"/>
          <p:cNvSpPr/>
          <p:nvPr/>
        </p:nvSpPr>
        <p:spPr>
          <a:xfrm>
            <a:off x="676656" y="5010912"/>
            <a:ext cx="2103120" cy="438912"/>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What is my name?</a:t>
            </a:r>
            <a:endParaRPr lang="en-US" sz="1900" dirty="0"/>
          </a:p>
        </p:txBody>
      </p:sp>
      <p:sp>
        <p:nvSpPr>
          <p:cNvPr id="26" name="Shape 22"/>
          <p:cNvSpPr/>
          <p:nvPr/>
        </p:nvSpPr>
        <p:spPr>
          <a:xfrm>
            <a:off x="3502152" y="4389120"/>
            <a:ext cx="2514600" cy="1161288"/>
          </a:xfrm>
          <a:prstGeom prst="rect">
            <a:avLst/>
          </a:prstGeom>
          <a:solidFill>
            <a:srgbClr val="202A25"/>
          </a:solidFill>
          <a:ln w="12700">
            <a:solidFill>
              <a:srgbClr val="202A25">
                <a:alpha val="0"/>
              </a:srgbClr>
            </a:solidFill>
            <a:prstDash val="solid"/>
          </a:ln>
        </p:spPr>
        <p:txBody>
          <a:bodyPr/>
          <a:lstStyle/>
          <a:p>
            <a:endParaRPr lang="en-ZA"/>
          </a:p>
        </p:txBody>
      </p:sp>
      <p:sp>
        <p:nvSpPr>
          <p:cNvPr id="27" name="Text 23"/>
          <p:cNvSpPr/>
          <p:nvPr/>
        </p:nvSpPr>
        <p:spPr>
          <a:xfrm>
            <a:off x="3630168" y="4507992"/>
            <a:ext cx="2258568"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Client + advisor</a:t>
            </a:r>
            <a:endParaRPr lang="en-US" sz="2100" dirty="0"/>
          </a:p>
        </p:txBody>
      </p:sp>
      <p:sp>
        <p:nvSpPr>
          <p:cNvPr id="28" name="Text 24"/>
          <p:cNvSpPr/>
          <p:nvPr/>
        </p:nvSpPr>
        <p:spPr>
          <a:xfrm>
            <a:off x="3630168" y="5010912"/>
            <a:ext cx="2258568" cy="438912"/>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History + new prompt</a:t>
            </a:r>
            <a:endParaRPr lang="en-US" sz="1900" dirty="0"/>
          </a:p>
        </p:txBody>
      </p:sp>
      <p:sp>
        <p:nvSpPr>
          <p:cNvPr id="29" name="Shape 25"/>
          <p:cNvSpPr/>
          <p:nvPr/>
        </p:nvSpPr>
        <p:spPr>
          <a:xfrm>
            <a:off x="8650224" y="4389120"/>
            <a:ext cx="2990088" cy="1161288"/>
          </a:xfrm>
          <a:prstGeom prst="rect">
            <a:avLst/>
          </a:prstGeom>
          <a:solidFill>
            <a:srgbClr val="202A25"/>
          </a:solidFill>
          <a:ln w="12700">
            <a:solidFill>
              <a:srgbClr val="202A25">
                <a:alpha val="0"/>
              </a:srgbClr>
            </a:solidFill>
            <a:prstDash val="solid"/>
          </a:ln>
        </p:spPr>
        <p:txBody>
          <a:bodyPr/>
          <a:lstStyle/>
          <a:p>
            <a:endParaRPr lang="en-ZA"/>
          </a:p>
        </p:txBody>
      </p:sp>
      <p:sp>
        <p:nvSpPr>
          <p:cNvPr id="30" name="Text 26"/>
          <p:cNvSpPr/>
          <p:nvPr/>
        </p:nvSpPr>
        <p:spPr>
          <a:xfrm>
            <a:off x="8778240" y="4507992"/>
            <a:ext cx="2734056" cy="393192"/>
          </a:xfrm>
          <a:prstGeom prst="rect">
            <a:avLst/>
          </a:prstGeom>
          <a:noFill/>
          <a:ln/>
        </p:spPr>
        <p:txBody>
          <a:bodyPr wrap="square" lIns="0" tIns="0" rIns="0" bIns="0" rtlCol="0" anchor="t"/>
          <a:lstStyle/>
          <a:p>
            <a:pPr marL="0" indent="0">
              <a:buNone/>
            </a:pPr>
            <a:r>
              <a:rPr lang="en-US" sz="2100" b="1" dirty="0">
                <a:solidFill>
                  <a:srgbClr val="86CF54"/>
                </a:solidFill>
                <a:latin typeface="Calibri" pitchFamily="34" charset="0"/>
                <a:ea typeface="Calibri" pitchFamily="34" charset="-122"/>
                <a:cs typeface="Calibri" pitchFamily="34" charset="-120"/>
              </a:rPr>
              <a:t>Generated reply</a:t>
            </a:r>
            <a:endParaRPr lang="en-US" sz="2100" dirty="0"/>
          </a:p>
        </p:txBody>
      </p:sp>
      <p:sp>
        <p:nvSpPr>
          <p:cNvPr id="31" name="Text 27"/>
          <p:cNvSpPr/>
          <p:nvPr/>
        </p:nvSpPr>
        <p:spPr>
          <a:xfrm>
            <a:off x="8778240" y="5010912"/>
            <a:ext cx="2734056" cy="438912"/>
          </a:xfrm>
          <a:prstGeom prst="rect">
            <a:avLst/>
          </a:prstGeom>
          <a:noFill/>
          <a:ln/>
        </p:spPr>
        <p:txBody>
          <a:bodyPr wrap="square" lIns="0" tIns="0" rIns="0" bIns="0" rtlCol="0" anchor="t"/>
          <a:lstStyle/>
          <a:p>
            <a:pPr marL="0" indent="0">
              <a:buNone/>
            </a:pPr>
            <a:r>
              <a:rPr lang="en-US" sz="1900" dirty="0">
                <a:solidFill>
                  <a:srgbClr val="FFFFFF"/>
                </a:solidFill>
                <a:latin typeface="Calibri" pitchFamily="34" charset="0"/>
                <a:ea typeface="Calibri" pitchFamily="34" charset="-122"/>
                <a:cs typeface="Calibri" pitchFamily="34" charset="-120"/>
              </a:rPr>
              <a:t>Your name is John</a:t>
            </a:r>
            <a:endParaRPr lang="en-US" sz="1900" dirty="0"/>
          </a:p>
        </p:txBody>
      </p:sp>
      <p:sp>
        <p:nvSpPr>
          <p:cNvPr id="32" name="Text 28"/>
          <p:cNvSpPr/>
          <p:nvPr/>
        </p:nvSpPr>
        <p:spPr>
          <a:xfrm>
            <a:off x="548640" y="1792224"/>
            <a:ext cx="10789920" cy="320040"/>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Stateless: the earlier introduction is not replayed</a:t>
            </a:r>
            <a:endParaRPr lang="en-US" sz="1800" dirty="0"/>
          </a:p>
        </p:txBody>
      </p:sp>
      <p:sp>
        <p:nvSpPr>
          <p:cNvPr id="33" name="Text 29"/>
          <p:cNvSpPr/>
          <p:nvPr/>
        </p:nvSpPr>
        <p:spPr>
          <a:xfrm>
            <a:off x="548640" y="3785616"/>
            <a:ext cx="10972800" cy="365760"/>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Stateful: the advisor loads "My name is John" from ChatMemory</a:t>
            </a:r>
            <a:endParaRPr lang="en-US" sz="1800" dirty="0"/>
          </a:p>
        </p:txBody>
      </p:sp>
      <p:sp>
        <p:nvSpPr>
          <p:cNvPr id="34" name="Text 3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LLM = large language model. An advisor augments the request and handles the response around the call.</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The working example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The repository makes the difference visible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03 / 19</a:t>
            </a:r>
            <a:endParaRPr lang="en-US" sz="1200" dirty="0"/>
          </a:p>
        </p:txBody>
      </p:sp>
      <p:sp>
        <p:nvSpPr>
          <p:cNvPr id="6" name="Text 4"/>
          <p:cNvSpPr/>
          <p:nvPr/>
        </p:nvSpPr>
        <p:spPr>
          <a:xfrm>
            <a:off x="548640" y="1746504"/>
            <a:ext cx="11091672" cy="429768"/>
          </a:xfrm>
          <a:prstGeom prst="rect">
            <a:avLst/>
          </a:prstGeom>
          <a:noFill/>
          <a:ln/>
        </p:spPr>
        <p:txBody>
          <a:bodyPr wrap="square" lIns="0" tIns="0" rIns="0" bIns="0" rtlCol="0" anchor="t"/>
          <a:lstStyle/>
          <a:p>
            <a:pPr marL="0" indent="0">
              <a:buNone/>
            </a:pPr>
            <a:r>
              <a:rPr lang="en-US" sz="2200" b="1" dirty="0">
                <a:solidFill>
                  <a:srgbClr val="202A25"/>
                </a:solidFill>
                <a:latin typeface="Calibri" pitchFamily="34" charset="0"/>
                <a:ea typeface="Calibri" pitchFamily="34" charset="-122"/>
                <a:cs typeface="Calibri" pitchFamily="34" charset="-120"/>
              </a:rPr>
              <a:t>Turn 1: "My name is John"    Turn 2: "What is my name?"</a:t>
            </a:r>
            <a:endParaRPr lang="en-US" sz="2200" dirty="0"/>
          </a:p>
        </p:txBody>
      </p:sp>
      <p:sp>
        <p:nvSpPr>
          <p:cNvPr id="7" name="Shape 5"/>
          <p:cNvSpPr/>
          <p:nvPr/>
        </p:nvSpPr>
        <p:spPr>
          <a:xfrm>
            <a:off x="548640" y="2350008"/>
            <a:ext cx="5330952" cy="530352"/>
          </a:xfrm>
          <a:prstGeom prst="rect">
            <a:avLst/>
          </a:prstGeom>
          <a:solidFill>
            <a:srgbClr val="202A25"/>
          </a:solidFill>
          <a:ln w="12700">
            <a:solidFill>
              <a:srgbClr val="202A25">
                <a:alpha val="0"/>
              </a:srgbClr>
            </a:solidFill>
            <a:prstDash val="solid"/>
          </a:ln>
        </p:spPr>
        <p:txBody>
          <a:bodyPr/>
          <a:lstStyle/>
          <a:p>
            <a:endParaRPr lang="en-ZA"/>
          </a:p>
        </p:txBody>
      </p:sp>
      <p:sp>
        <p:nvSpPr>
          <p:cNvPr id="8" name="Text 6"/>
          <p:cNvSpPr/>
          <p:nvPr/>
        </p:nvSpPr>
        <p:spPr>
          <a:xfrm>
            <a:off x="749808" y="2423160"/>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Stateless ChatClient</a:t>
            </a:r>
            <a:endParaRPr lang="en-US" sz="2200" dirty="0"/>
          </a:p>
        </p:txBody>
      </p:sp>
      <p:pic>
        <p:nvPicPr>
          <p:cNvPr id="9" name="Image 0" descr="simple chat stateless demo"/>
          <p:cNvPicPr>
            <a:picLocks noChangeAspect="1"/>
          </p:cNvPicPr>
          <p:nvPr/>
        </p:nvPicPr>
        <p:blipFill>
          <a:blip r:embed="rId3"/>
          <a:stretch>
            <a:fillRect/>
          </a:stretch>
        </p:blipFill>
        <p:spPr>
          <a:xfrm>
            <a:off x="548640" y="3372960"/>
            <a:ext cx="5330952" cy="989904"/>
          </a:xfrm>
          <a:prstGeom prst="rect">
            <a:avLst/>
          </a:prstGeom>
        </p:spPr>
      </p:pic>
      <p:sp>
        <p:nvSpPr>
          <p:cNvPr id="10" name="Text 7"/>
          <p:cNvSpPr/>
          <p:nvPr/>
        </p:nvSpPr>
        <p:spPr>
          <a:xfrm>
            <a:off x="548640" y="5029200"/>
            <a:ext cx="5330952" cy="557784"/>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Only the second prompt reached the model.</a:t>
            </a:r>
            <a:endParaRPr lang="en-US" sz="2000" dirty="0"/>
          </a:p>
        </p:txBody>
      </p:sp>
      <p:sp>
        <p:nvSpPr>
          <p:cNvPr id="11" name="Shape 8"/>
          <p:cNvSpPr/>
          <p:nvPr/>
        </p:nvSpPr>
        <p:spPr>
          <a:xfrm>
            <a:off x="6309360" y="2350008"/>
            <a:ext cx="5330952" cy="530352"/>
          </a:xfrm>
          <a:prstGeom prst="rect">
            <a:avLst/>
          </a:prstGeom>
          <a:solidFill>
            <a:srgbClr val="397C25"/>
          </a:solidFill>
          <a:ln w="12700">
            <a:solidFill>
              <a:srgbClr val="397C25">
                <a:alpha val="0"/>
              </a:srgbClr>
            </a:solidFill>
            <a:prstDash val="solid"/>
          </a:ln>
        </p:spPr>
        <p:txBody>
          <a:bodyPr/>
          <a:lstStyle/>
          <a:p>
            <a:endParaRPr lang="en-ZA"/>
          </a:p>
        </p:txBody>
      </p:sp>
      <p:sp>
        <p:nvSpPr>
          <p:cNvPr id="12" name="Text 9"/>
          <p:cNvSpPr/>
          <p:nvPr/>
        </p:nvSpPr>
        <p:spPr>
          <a:xfrm>
            <a:off x="6510528" y="2423160"/>
            <a:ext cx="4928616" cy="356616"/>
          </a:xfrm>
          <a:prstGeom prst="rect">
            <a:avLst/>
          </a:prstGeom>
          <a:noFill/>
          <a:ln/>
        </p:spPr>
        <p:txBody>
          <a:bodyPr wrap="square" lIns="0" tIns="0" rIns="0" bIns="0" rtlCol="0" anchor="t"/>
          <a:lstStyle/>
          <a:p>
            <a:pPr marL="0" indent="0">
              <a:buNone/>
            </a:pPr>
            <a:r>
              <a:rPr lang="en-US" sz="2200" b="1" dirty="0">
                <a:solidFill>
                  <a:srgbClr val="FFFFFF"/>
                </a:solidFill>
                <a:latin typeface="Calibri" pitchFamily="34" charset="0"/>
                <a:ea typeface="Calibri" pitchFamily="34" charset="-122"/>
                <a:cs typeface="Calibri" pitchFamily="34" charset="-120"/>
              </a:rPr>
              <a:t>Memory-aware ChatClient</a:t>
            </a:r>
            <a:endParaRPr lang="en-US" sz="2200" dirty="0"/>
          </a:p>
        </p:txBody>
      </p:sp>
      <p:pic>
        <p:nvPicPr>
          <p:cNvPr id="13" name="Image 1" descr="conversational chat stateful demo"/>
          <p:cNvPicPr>
            <a:picLocks noChangeAspect="1"/>
          </p:cNvPicPr>
          <p:nvPr/>
        </p:nvPicPr>
        <p:blipFill>
          <a:blip r:embed="rId4"/>
          <a:stretch>
            <a:fillRect/>
          </a:stretch>
        </p:blipFill>
        <p:spPr>
          <a:xfrm>
            <a:off x="7626096" y="3245993"/>
            <a:ext cx="2697480" cy="1243838"/>
          </a:xfrm>
          <a:prstGeom prst="rect">
            <a:avLst/>
          </a:prstGeom>
        </p:spPr>
      </p:pic>
      <p:sp>
        <p:nvSpPr>
          <p:cNvPr id="14" name="Text 10"/>
          <p:cNvSpPr/>
          <p:nvPr/>
        </p:nvSpPr>
        <p:spPr>
          <a:xfrm>
            <a:off x="6309360" y="5029200"/>
            <a:ext cx="5330952" cy="557784"/>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The second prompt included earlier context.</a:t>
            </a:r>
            <a:endParaRPr lang="en-US" sz="2000" dirty="0"/>
          </a:p>
        </p:txBody>
      </p:sp>
      <p:sp>
        <p:nvSpPr>
          <p:cNvPr id="15" name="Text 11"/>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Both panels use the same configured deployment: gpt-5.6-luna.</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Spring AI architecture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Where Spring AI fits in a Spring Boot app</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04 / 19</a:t>
            </a:r>
            <a:endParaRPr lang="en-US" sz="1200" dirty="0"/>
          </a:p>
        </p:txBody>
      </p:sp>
      <p:sp>
        <p:nvSpPr>
          <p:cNvPr id="6" name="Text 4"/>
          <p:cNvSpPr/>
          <p:nvPr/>
        </p:nvSpPr>
        <p:spPr>
          <a:xfrm>
            <a:off x="548640"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01</a:t>
            </a:r>
            <a:endParaRPr lang="en-US" sz="4200" dirty="0"/>
          </a:p>
        </p:txBody>
      </p:sp>
      <p:sp>
        <p:nvSpPr>
          <p:cNvPr id="7" name="Shape 5"/>
          <p:cNvSpPr/>
          <p:nvPr/>
        </p:nvSpPr>
        <p:spPr>
          <a:xfrm>
            <a:off x="548640" y="2999232"/>
            <a:ext cx="2567178"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8" name="Text 6"/>
          <p:cNvSpPr/>
          <p:nvPr/>
        </p:nvSpPr>
        <p:spPr>
          <a:xfrm>
            <a:off x="667512"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Properties</a:t>
            </a:r>
            <a:endParaRPr lang="en-US" sz="2000" dirty="0"/>
          </a:p>
        </p:txBody>
      </p:sp>
      <p:sp>
        <p:nvSpPr>
          <p:cNvPr id="9" name="Text 7"/>
          <p:cNvSpPr/>
          <p:nvPr/>
        </p:nvSpPr>
        <p:spPr>
          <a:xfrm>
            <a:off x="548640"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Environment-backed provider configuration.</a:t>
            </a:r>
            <a:endParaRPr lang="en-US" sz="2200" dirty="0"/>
          </a:p>
        </p:txBody>
      </p:sp>
      <p:sp>
        <p:nvSpPr>
          <p:cNvPr id="10" name="Text 8"/>
          <p:cNvSpPr/>
          <p:nvPr/>
        </p:nvSpPr>
        <p:spPr>
          <a:xfrm>
            <a:off x="3390138"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02</a:t>
            </a:r>
            <a:endParaRPr lang="en-US" sz="4200" dirty="0"/>
          </a:p>
        </p:txBody>
      </p:sp>
      <p:sp>
        <p:nvSpPr>
          <p:cNvPr id="11" name="Shape 9"/>
          <p:cNvSpPr/>
          <p:nvPr/>
        </p:nvSpPr>
        <p:spPr>
          <a:xfrm>
            <a:off x="3390138" y="2999232"/>
            <a:ext cx="2567178"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12" name="Text 10"/>
          <p:cNvSpPr/>
          <p:nvPr/>
        </p:nvSpPr>
        <p:spPr>
          <a:xfrm>
            <a:off x="3509010"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ChatModel</a:t>
            </a:r>
            <a:endParaRPr lang="en-US" sz="2000" dirty="0"/>
          </a:p>
        </p:txBody>
      </p:sp>
      <p:sp>
        <p:nvSpPr>
          <p:cNvPr id="13" name="Text 11"/>
          <p:cNvSpPr/>
          <p:nvPr/>
        </p:nvSpPr>
        <p:spPr>
          <a:xfrm>
            <a:off x="3390138"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OpenAiChatModel is auto-configured by the starter.</a:t>
            </a:r>
            <a:endParaRPr lang="en-US" sz="2200" dirty="0"/>
          </a:p>
        </p:txBody>
      </p:sp>
      <p:sp>
        <p:nvSpPr>
          <p:cNvPr id="14" name="Text 12"/>
          <p:cNvSpPr/>
          <p:nvPr/>
        </p:nvSpPr>
        <p:spPr>
          <a:xfrm>
            <a:off x="6231636"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03</a:t>
            </a:r>
            <a:endParaRPr lang="en-US" sz="4200" dirty="0"/>
          </a:p>
        </p:txBody>
      </p:sp>
      <p:sp>
        <p:nvSpPr>
          <p:cNvPr id="15" name="Shape 13"/>
          <p:cNvSpPr/>
          <p:nvPr/>
        </p:nvSpPr>
        <p:spPr>
          <a:xfrm>
            <a:off x="6231636" y="2999232"/>
            <a:ext cx="2567178"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4"/>
          <p:cNvSpPr/>
          <p:nvPr/>
        </p:nvSpPr>
        <p:spPr>
          <a:xfrm>
            <a:off x="6350508"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ChatClient</a:t>
            </a:r>
            <a:endParaRPr lang="en-US" sz="2000" dirty="0"/>
          </a:p>
        </p:txBody>
      </p:sp>
      <p:sp>
        <p:nvSpPr>
          <p:cNvPr id="17" name="Text 15"/>
          <p:cNvSpPr/>
          <p:nvPr/>
        </p:nvSpPr>
        <p:spPr>
          <a:xfrm>
            <a:off x="6231636"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Fluent prompts, options, advisors, and responses.</a:t>
            </a:r>
            <a:endParaRPr lang="en-US" sz="2200" dirty="0"/>
          </a:p>
        </p:txBody>
      </p:sp>
      <p:sp>
        <p:nvSpPr>
          <p:cNvPr id="18" name="Text 16"/>
          <p:cNvSpPr/>
          <p:nvPr/>
        </p:nvSpPr>
        <p:spPr>
          <a:xfrm>
            <a:off x="9073134"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04</a:t>
            </a:r>
            <a:endParaRPr lang="en-US" sz="4200" dirty="0"/>
          </a:p>
        </p:txBody>
      </p:sp>
      <p:sp>
        <p:nvSpPr>
          <p:cNvPr id="19" name="Shape 17"/>
          <p:cNvSpPr/>
          <p:nvPr/>
        </p:nvSpPr>
        <p:spPr>
          <a:xfrm>
            <a:off x="9073134" y="2999232"/>
            <a:ext cx="2567178"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20" name="Text 18"/>
          <p:cNvSpPr/>
          <p:nvPr/>
        </p:nvSpPr>
        <p:spPr>
          <a:xfrm>
            <a:off x="9192006"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Application</a:t>
            </a:r>
            <a:endParaRPr lang="en-US" sz="2000" dirty="0"/>
          </a:p>
        </p:txBody>
      </p:sp>
      <p:sp>
        <p:nvSpPr>
          <p:cNvPr id="21" name="Text 19"/>
          <p:cNvSpPr/>
          <p:nvPr/>
        </p:nvSpPr>
        <p:spPr>
          <a:xfrm>
            <a:off x="9073134"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Controllers and services implement the experience.</a:t>
            </a:r>
            <a:endParaRPr lang="en-US" sz="2200" dirty="0"/>
          </a:p>
        </p:txBody>
      </p:sp>
      <p:sp>
        <p:nvSpPr>
          <p:cNvPr id="22" name="Text 2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Spring Boot wires the infrastructure; your service expresses the AI workflow.</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Spring Boot foundation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Start with the shared Spring AI dependencies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05 / 19</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MAVEN / ROOT POM</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Spring AI BOM              2.0.1</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Spring Boot                4.0.6</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Java                       25</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org.springframework.ai:</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spring-ai-starter-model-openai</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spring-ai-client-chat</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Spring Boot: Web MVC + Actuator + Test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One parent POM</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All modules inherit the model starter and ChatClient.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Module-specific extras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Module 01 adds Thymeleaf for its web interface.</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Starter versus SDK</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 the starter for Boot auto-configuration.</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Provider SDK integration + Boot auto-configuration = the model starter.</a:t>
            </a:r>
            <a:endParaRPr lang="en-US" sz="1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Model configuration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Configure the provider outside your Java code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06 / 19</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APPLICATION.YAML / EXCERPT</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spring:</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ai:</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openai:</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base-url: ${AZURE_OPENAI_ENDPOINT}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api-key: ${AZURE_OPENAI_API_KEY}</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microsoft-deployment-name: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${AZURE_OPENAI_FAST_DEPLOYMENT}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chat: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model: ${AZURE_OPENAI_FAST_DEPLOYMENT}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Shared deployment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Microsoft Foundry hosts the workshop model.</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External credentials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Start scripts load the root environment file.</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Auto-configuration</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starter provides the model and client builder.</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Keep credentials out of source code, slides, and projected terminal output.</a:t>
            </a:r>
            <a:endParaRPr lang="en-US" sz="1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Spring AI API</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Make a stateless call with ChatClient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07 / 19</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this.chatClient = chatClientBuilder.build();</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answer = chatClient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.prompt(prompt)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.content();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Build once</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Inject ChatClient.Builder into the application.</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Describe the request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prompt(...) supplies this call's input.</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Read the answer</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call().content() returns the generated text.</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No memory advisor means no automatic replay of previous turns.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Model constraints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Tokens are the unit of context and cost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08 / 19</a:t>
            </a:r>
            <a:endParaRPr lang="en-US" sz="1200" dirty="0"/>
          </a:p>
        </p:txBody>
      </p:sp>
      <p:pic>
        <p:nvPicPr>
          <p:cNvPr id="6" name="Image 0" descr="token explanation"/>
          <p:cNvPicPr>
            <a:picLocks noChangeAspect="1"/>
          </p:cNvPicPr>
          <p:nvPr/>
        </p:nvPicPr>
        <p:blipFill>
          <a:blip r:embed="rId3"/>
          <a:stretch>
            <a:fillRect/>
          </a:stretch>
        </p:blipFill>
        <p:spPr>
          <a:xfrm>
            <a:off x="548640" y="2518532"/>
            <a:ext cx="6949440" cy="2186697"/>
          </a:xfrm>
          <a:prstGeom prst="rect">
            <a:avLst/>
          </a:prstGeom>
        </p:spPr>
      </p:pic>
      <p:sp>
        <p:nvSpPr>
          <p:cNvPr id="7" name="Text 4"/>
          <p:cNvSpPr/>
          <p:nvPr/>
        </p:nvSpPr>
        <p:spPr>
          <a:xfrm>
            <a:off x="7909560" y="181965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Finite context</a:t>
            </a:r>
            <a:endParaRPr lang="en-US" sz="2200" dirty="0"/>
          </a:p>
        </p:txBody>
      </p:sp>
      <p:sp>
        <p:nvSpPr>
          <p:cNvPr id="8" name="Text 5"/>
          <p:cNvSpPr/>
          <p:nvPr/>
        </p:nvSpPr>
        <p:spPr>
          <a:xfrm>
            <a:off x="7909560" y="229514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Input, history, and output must fit the model's budget.</a:t>
            </a:r>
            <a:endParaRPr lang="en-US" sz="1900" dirty="0"/>
          </a:p>
        </p:txBody>
      </p:sp>
      <p:sp>
        <p:nvSpPr>
          <p:cNvPr id="9" name="Text 6"/>
          <p:cNvSpPr/>
          <p:nvPr/>
        </p:nvSpPr>
        <p:spPr>
          <a:xfrm>
            <a:off x="7909560" y="306933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Repeated history</a:t>
            </a:r>
            <a:endParaRPr lang="en-US" sz="2200" dirty="0"/>
          </a:p>
        </p:txBody>
      </p:sp>
      <p:sp>
        <p:nvSpPr>
          <p:cNvPr id="10" name="Text 7"/>
          <p:cNvSpPr/>
          <p:nvPr/>
        </p:nvSpPr>
        <p:spPr>
          <a:xfrm>
            <a:off x="7909560" y="354482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Earlier messages are sent again, increasing input size and cost.</a:t>
            </a:r>
            <a:endParaRPr lang="en-US" sz="1900" dirty="0"/>
          </a:p>
        </p:txBody>
      </p:sp>
      <p:sp>
        <p:nvSpPr>
          <p:cNvPr id="11" name="Text 8"/>
          <p:cNvSpPr/>
          <p:nvPr/>
        </p:nvSpPr>
        <p:spPr>
          <a:xfrm>
            <a:off x="7909560" y="431901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Messages vary in length</a:t>
            </a:r>
            <a:endParaRPr lang="en-US" sz="2200" dirty="0"/>
          </a:p>
        </p:txBody>
      </p:sp>
      <p:sp>
        <p:nvSpPr>
          <p:cNvPr id="12" name="Text 9"/>
          <p:cNvSpPr/>
          <p:nvPr/>
        </p:nvSpPr>
        <p:spPr>
          <a:xfrm>
            <a:off x="7909560" y="479450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 message-count window is not a token-limit guarantee.</a:t>
            </a:r>
            <a:endParaRPr lang="en-US" sz="1900" dirty="0"/>
          </a:p>
        </p:txBody>
      </p:sp>
      <p:sp>
        <p:nvSpPr>
          <p:cNvPr id="13" name="Text 1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Tokens are text pieces, not always whole words. The pictured count is illustrative and model-dependent.</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Advisor lifecycle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Memory works by replaying conversation context</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09 / 19</a:t>
            </a:r>
            <a:endParaRPr lang="en-US" sz="1200" dirty="0"/>
          </a:p>
        </p:txBody>
      </p:sp>
      <p:sp>
        <p:nvSpPr>
          <p:cNvPr id="6" name="Text 4"/>
          <p:cNvSpPr/>
          <p:nvPr/>
        </p:nvSpPr>
        <p:spPr>
          <a:xfrm>
            <a:off x="548640"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01</a:t>
            </a:r>
            <a:endParaRPr lang="en-US" sz="4200" dirty="0"/>
          </a:p>
        </p:txBody>
      </p:sp>
      <p:sp>
        <p:nvSpPr>
          <p:cNvPr id="7" name="Shape 5"/>
          <p:cNvSpPr/>
          <p:nvPr/>
        </p:nvSpPr>
        <p:spPr>
          <a:xfrm>
            <a:off x="548640" y="2999232"/>
            <a:ext cx="2567178"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8" name="Text 6"/>
          <p:cNvSpPr/>
          <p:nvPr/>
        </p:nvSpPr>
        <p:spPr>
          <a:xfrm>
            <a:off x="667512"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Load + augment</a:t>
            </a:r>
            <a:endParaRPr lang="en-US" sz="2000" dirty="0"/>
          </a:p>
        </p:txBody>
      </p:sp>
      <p:sp>
        <p:nvSpPr>
          <p:cNvPr id="9" name="Text 7"/>
          <p:cNvSpPr/>
          <p:nvPr/>
        </p:nvSpPr>
        <p:spPr>
          <a:xfrm>
            <a:off x="548640"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Load earlier messages and add them to the current prompt.</a:t>
            </a:r>
            <a:endParaRPr lang="en-US" sz="2200" dirty="0"/>
          </a:p>
        </p:txBody>
      </p:sp>
      <p:sp>
        <p:nvSpPr>
          <p:cNvPr id="10" name="Text 8"/>
          <p:cNvSpPr/>
          <p:nvPr/>
        </p:nvSpPr>
        <p:spPr>
          <a:xfrm>
            <a:off x="3390138"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02</a:t>
            </a:r>
            <a:endParaRPr lang="en-US" sz="4200" dirty="0"/>
          </a:p>
        </p:txBody>
      </p:sp>
      <p:sp>
        <p:nvSpPr>
          <p:cNvPr id="11" name="Shape 9"/>
          <p:cNvSpPr/>
          <p:nvPr/>
        </p:nvSpPr>
        <p:spPr>
          <a:xfrm>
            <a:off x="3390138" y="2999232"/>
            <a:ext cx="2567178"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12" name="Text 10"/>
          <p:cNvSpPr/>
          <p:nvPr/>
        </p:nvSpPr>
        <p:spPr>
          <a:xfrm>
            <a:off x="3509010"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Store user</a:t>
            </a:r>
            <a:endParaRPr lang="en-US" sz="2000" dirty="0"/>
          </a:p>
        </p:txBody>
      </p:sp>
      <p:sp>
        <p:nvSpPr>
          <p:cNvPr id="13" name="Text 11"/>
          <p:cNvSpPr/>
          <p:nvPr/>
        </p:nvSpPr>
        <p:spPr>
          <a:xfrm>
            <a:off x="3390138"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The before() hook saves the new user message.</a:t>
            </a:r>
            <a:endParaRPr lang="en-US" sz="2200" dirty="0"/>
          </a:p>
        </p:txBody>
      </p:sp>
      <p:sp>
        <p:nvSpPr>
          <p:cNvPr id="14" name="Text 12"/>
          <p:cNvSpPr/>
          <p:nvPr/>
        </p:nvSpPr>
        <p:spPr>
          <a:xfrm>
            <a:off x="6231636"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03</a:t>
            </a:r>
            <a:endParaRPr lang="en-US" sz="4200" dirty="0"/>
          </a:p>
        </p:txBody>
      </p:sp>
      <p:sp>
        <p:nvSpPr>
          <p:cNvPr id="15" name="Shape 13"/>
          <p:cNvSpPr/>
          <p:nvPr/>
        </p:nvSpPr>
        <p:spPr>
          <a:xfrm>
            <a:off x="6231636" y="2999232"/>
            <a:ext cx="2567178"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4"/>
          <p:cNvSpPr/>
          <p:nvPr/>
        </p:nvSpPr>
        <p:spPr>
          <a:xfrm>
            <a:off x="6350508"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Call model</a:t>
            </a:r>
            <a:endParaRPr lang="en-US" sz="2000" dirty="0"/>
          </a:p>
        </p:txBody>
      </p:sp>
      <p:sp>
        <p:nvSpPr>
          <p:cNvPr id="17" name="Text 15"/>
          <p:cNvSpPr/>
          <p:nvPr/>
        </p:nvSpPr>
        <p:spPr>
          <a:xfrm>
            <a:off x="6231636"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The prepared prompt is sent through ChatClient.</a:t>
            </a:r>
            <a:endParaRPr lang="en-US" sz="2200" dirty="0"/>
          </a:p>
        </p:txBody>
      </p:sp>
      <p:sp>
        <p:nvSpPr>
          <p:cNvPr id="18" name="Text 16"/>
          <p:cNvSpPr/>
          <p:nvPr/>
        </p:nvSpPr>
        <p:spPr>
          <a:xfrm>
            <a:off x="9073134" y="2057400"/>
            <a:ext cx="2567178"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04</a:t>
            </a:r>
            <a:endParaRPr lang="en-US" sz="4200" dirty="0"/>
          </a:p>
        </p:txBody>
      </p:sp>
      <p:sp>
        <p:nvSpPr>
          <p:cNvPr id="19" name="Shape 17"/>
          <p:cNvSpPr/>
          <p:nvPr/>
        </p:nvSpPr>
        <p:spPr>
          <a:xfrm>
            <a:off x="9073134" y="2999232"/>
            <a:ext cx="2567178"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20" name="Text 18"/>
          <p:cNvSpPr/>
          <p:nvPr/>
        </p:nvSpPr>
        <p:spPr>
          <a:xfrm>
            <a:off x="9192006" y="3099816"/>
            <a:ext cx="2329434"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Store assistant</a:t>
            </a:r>
            <a:endParaRPr lang="en-US" sz="2000" dirty="0"/>
          </a:p>
        </p:txBody>
      </p:sp>
      <p:sp>
        <p:nvSpPr>
          <p:cNvPr id="21" name="Text 19"/>
          <p:cNvSpPr/>
          <p:nvPr/>
        </p:nvSpPr>
        <p:spPr>
          <a:xfrm>
            <a:off x="9073134" y="3840480"/>
            <a:ext cx="2567178"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The after() hook saves the returned assistant messages.</a:t>
            </a:r>
            <a:endParaRPr lang="en-US" sz="2200" dirty="0"/>
          </a:p>
        </p:txBody>
      </p:sp>
      <p:sp>
        <p:nvSpPr>
          <p:cNvPr id="22" name="Text 2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user message is stored before the model call; a failed call can leave an unanswered user turn.</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Spring AI abstractions</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Separate the memory contract, policy, and storage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10 / 19</a:t>
            </a:r>
            <a:endParaRPr lang="en-US" sz="1200" dirty="0"/>
          </a:p>
        </p:txBody>
      </p:sp>
      <p:sp>
        <p:nvSpPr>
          <p:cNvPr id="6" name="Text 4"/>
          <p:cNvSpPr/>
          <p:nvPr/>
        </p:nvSpPr>
        <p:spPr>
          <a:xfrm>
            <a:off x="548640" y="2057400"/>
            <a:ext cx="3514344"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01</a:t>
            </a:r>
            <a:endParaRPr lang="en-US" sz="4200" dirty="0"/>
          </a:p>
        </p:txBody>
      </p:sp>
      <p:sp>
        <p:nvSpPr>
          <p:cNvPr id="7" name="Shape 5"/>
          <p:cNvSpPr/>
          <p:nvPr/>
        </p:nvSpPr>
        <p:spPr>
          <a:xfrm>
            <a:off x="548640" y="2999232"/>
            <a:ext cx="3514344"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8" name="Text 6"/>
          <p:cNvSpPr/>
          <p:nvPr/>
        </p:nvSpPr>
        <p:spPr>
          <a:xfrm>
            <a:off x="667512" y="3099816"/>
            <a:ext cx="3276600"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ChatMemory</a:t>
            </a:r>
            <a:endParaRPr lang="en-US" sz="2000" dirty="0"/>
          </a:p>
        </p:txBody>
      </p:sp>
      <p:sp>
        <p:nvSpPr>
          <p:cNvPr id="9" name="Text 7"/>
          <p:cNvSpPr/>
          <p:nvPr/>
        </p:nvSpPr>
        <p:spPr>
          <a:xfrm>
            <a:off x="548640" y="3840480"/>
            <a:ext cx="3514344"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The application-facing memory abstraction.</a:t>
            </a:r>
            <a:endParaRPr lang="en-US" sz="2200" dirty="0"/>
          </a:p>
        </p:txBody>
      </p:sp>
      <p:sp>
        <p:nvSpPr>
          <p:cNvPr id="10" name="Text 8"/>
          <p:cNvSpPr/>
          <p:nvPr/>
        </p:nvSpPr>
        <p:spPr>
          <a:xfrm>
            <a:off x="4337304" y="2057400"/>
            <a:ext cx="3514344"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02</a:t>
            </a:r>
            <a:endParaRPr lang="en-US" sz="4200" dirty="0"/>
          </a:p>
        </p:txBody>
      </p:sp>
      <p:sp>
        <p:nvSpPr>
          <p:cNvPr id="11" name="Shape 9"/>
          <p:cNvSpPr/>
          <p:nvPr/>
        </p:nvSpPr>
        <p:spPr>
          <a:xfrm>
            <a:off x="4337304" y="2999232"/>
            <a:ext cx="3514344" cy="621792"/>
          </a:xfrm>
          <a:prstGeom prst="rect">
            <a:avLst/>
          </a:prstGeom>
          <a:solidFill>
            <a:srgbClr val="397C25"/>
          </a:solidFill>
          <a:ln w="12700">
            <a:solidFill>
              <a:srgbClr val="397C25">
                <a:alpha val="0"/>
              </a:srgbClr>
            </a:solidFill>
            <a:prstDash val="solid"/>
          </a:ln>
        </p:spPr>
        <p:txBody>
          <a:bodyPr/>
          <a:lstStyle/>
          <a:p>
            <a:endParaRPr lang="en-ZA"/>
          </a:p>
        </p:txBody>
      </p:sp>
      <p:sp>
        <p:nvSpPr>
          <p:cNvPr id="12" name="Text 10"/>
          <p:cNvSpPr/>
          <p:nvPr/>
        </p:nvSpPr>
        <p:spPr>
          <a:xfrm>
            <a:off x="4456176" y="3099816"/>
            <a:ext cx="3276600"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Message window</a:t>
            </a:r>
            <a:endParaRPr lang="en-US" sz="2000" dirty="0"/>
          </a:p>
        </p:txBody>
      </p:sp>
      <p:sp>
        <p:nvSpPr>
          <p:cNvPr id="13" name="Text 11"/>
          <p:cNvSpPr/>
          <p:nvPr/>
        </p:nvSpPr>
        <p:spPr>
          <a:xfrm>
            <a:off x="4337304" y="3840480"/>
            <a:ext cx="3514344"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MessageWindowChatMemory keeps recent messages.</a:t>
            </a:r>
            <a:endParaRPr lang="en-US" sz="2200" dirty="0"/>
          </a:p>
        </p:txBody>
      </p:sp>
      <p:sp>
        <p:nvSpPr>
          <p:cNvPr id="14" name="Text 12"/>
          <p:cNvSpPr/>
          <p:nvPr/>
        </p:nvSpPr>
        <p:spPr>
          <a:xfrm>
            <a:off x="8125968" y="2057400"/>
            <a:ext cx="3514344" cy="658368"/>
          </a:xfrm>
          <a:prstGeom prst="rect">
            <a:avLst/>
          </a:prstGeom>
          <a:noFill/>
          <a:ln/>
        </p:spPr>
        <p:txBody>
          <a:bodyPr wrap="square" lIns="0" tIns="0" rIns="0" bIns="0" rtlCol="0" anchor="t"/>
          <a:lstStyle/>
          <a:p>
            <a:pPr marL="0" indent="0">
              <a:buNone/>
            </a:pPr>
            <a:r>
              <a:rPr lang="en-US" sz="4200" b="1" dirty="0">
                <a:solidFill>
                  <a:srgbClr val="397C25"/>
                </a:solidFill>
                <a:latin typeface="Calibri" pitchFamily="34" charset="0"/>
                <a:ea typeface="Calibri" pitchFamily="34" charset="-122"/>
                <a:cs typeface="Calibri" pitchFamily="34" charset="-120"/>
              </a:rPr>
              <a:t>03</a:t>
            </a:r>
            <a:endParaRPr lang="en-US" sz="4200" dirty="0"/>
          </a:p>
        </p:txBody>
      </p:sp>
      <p:sp>
        <p:nvSpPr>
          <p:cNvPr id="15" name="Shape 13"/>
          <p:cNvSpPr/>
          <p:nvPr/>
        </p:nvSpPr>
        <p:spPr>
          <a:xfrm>
            <a:off x="8125968" y="2999232"/>
            <a:ext cx="3514344" cy="621792"/>
          </a:xfrm>
          <a:prstGeom prst="rect">
            <a:avLst/>
          </a:prstGeom>
          <a:solidFill>
            <a:srgbClr val="202A25"/>
          </a:solidFill>
          <a:ln w="12700">
            <a:solidFill>
              <a:srgbClr val="202A25">
                <a:alpha val="0"/>
              </a:srgbClr>
            </a:solidFill>
            <a:prstDash val="solid"/>
          </a:ln>
        </p:spPr>
        <p:txBody>
          <a:bodyPr/>
          <a:lstStyle/>
          <a:p>
            <a:endParaRPr lang="en-ZA"/>
          </a:p>
        </p:txBody>
      </p:sp>
      <p:sp>
        <p:nvSpPr>
          <p:cNvPr id="16" name="Text 14"/>
          <p:cNvSpPr/>
          <p:nvPr/>
        </p:nvSpPr>
        <p:spPr>
          <a:xfrm>
            <a:off x="8244840" y="3099816"/>
            <a:ext cx="3276600" cy="402336"/>
          </a:xfrm>
          <a:prstGeom prst="rect">
            <a:avLst/>
          </a:prstGeom>
          <a:noFill/>
          <a:ln/>
        </p:spPr>
        <p:txBody>
          <a:bodyPr wrap="square" lIns="0" tIns="0" rIns="0" bIns="0" rtlCol="0" anchor="t"/>
          <a:lstStyle/>
          <a:p>
            <a:pPr marL="0" indent="0">
              <a:buNone/>
            </a:pPr>
            <a:r>
              <a:rPr lang="en-US" sz="2000" b="1" dirty="0">
                <a:solidFill>
                  <a:srgbClr val="FFFFFF"/>
                </a:solidFill>
                <a:latin typeface="Calibri" pitchFamily="34" charset="0"/>
                <a:ea typeface="Calibri" pitchFamily="34" charset="-122"/>
                <a:cs typeface="Calibri" pitchFamily="34" charset="-120"/>
              </a:rPr>
              <a:t>Repository</a:t>
            </a:r>
            <a:endParaRPr lang="en-US" sz="2000" dirty="0"/>
          </a:p>
        </p:txBody>
      </p:sp>
      <p:sp>
        <p:nvSpPr>
          <p:cNvPr id="17" name="Text 15"/>
          <p:cNvSpPr/>
          <p:nvPr/>
        </p:nvSpPr>
        <p:spPr>
          <a:xfrm>
            <a:off x="8125968" y="3840480"/>
            <a:ext cx="3514344" cy="1490472"/>
          </a:xfrm>
          <a:prstGeom prst="rect">
            <a:avLst/>
          </a:prstGeom>
          <a:noFill/>
          <a:ln/>
        </p:spPr>
        <p:txBody>
          <a:bodyPr wrap="square" lIns="0" tIns="0" rIns="0" bIns="0" rtlCol="0" anchor="t"/>
          <a:lstStyle/>
          <a:p>
            <a:pPr marL="0" indent="0">
              <a:buNone/>
            </a:pPr>
            <a:r>
              <a:rPr lang="en-US" sz="2200" dirty="0">
                <a:solidFill>
                  <a:srgbClr val="202A25"/>
                </a:solidFill>
                <a:latin typeface="Calibri" pitchFamily="34" charset="0"/>
                <a:ea typeface="Calibri" pitchFamily="34" charset="-122"/>
                <a:cs typeface="Calibri" pitchFamily="34" charset="-120"/>
              </a:rPr>
              <a:t>In-memory storage keyed by conversation ID.</a:t>
            </a:r>
            <a:endParaRPr lang="en-US" sz="22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Storage can change without moving history-management logic into the controller.</a:t>
            </a:r>
            <a:endParaRPr lang="en-US" sz="1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Spring AI configuration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Wire a 10-message window as Spring beans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11 / 19</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@Bean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ChatMemoryRepository chatMemoryRepository()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return new InMemoryChatMemoryRepository();</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a:t>
            </a:r>
            <a:endParaRPr lang="en-US" sz="1600" dirty="0"/>
          </a:p>
          <a:p>
            <a:pPr marL="0" indent="0">
              <a:lnSpc>
                <a:spcPts val="1750"/>
              </a:lnSpc>
              <a:buNone/>
            </a:pP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@Bean</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ChatMemory chatMemory(ChatMemoryRepository repo) {</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return MessageWindowChatMemory.builder()</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.chatMemoryRepository(repo)</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.maxMessages(10)</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      .build();</a:t>
            </a:r>
            <a:endParaRPr lang="en-US" sz="1600" dirty="0"/>
          </a:p>
          <a:p>
            <a:pPr marL="0" indent="0">
              <a:lnSpc>
                <a:spcPts val="1750"/>
              </a:lnSpc>
              <a:buNone/>
            </a:pPr>
            <a:r>
              <a:rPr lang="en-US" sz="1600" dirty="0">
                <a:solidFill>
                  <a:srgbClr val="FFFFFF"/>
                </a:solidFill>
                <a:latin typeface="Consolas" pitchFamily="34" charset="0"/>
                <a:ea typeface="Consolas" pitchFamily="34" charset="-122"/>
                <a:cs typeface="Consolas" pitchFamily="34" charset="-120"/>
              </a:rPr>
              <a:t>}</a:t>
            </a:r>
            <a:endParaRPr lang="en-US" sz="16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Shared beans</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Spring injects the repository and memory policy.</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Ten messages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User and assistant messages both consume space.</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Temporary storage</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An application restart discards the history.</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Ten messages is not ten conversation turns, and it is not ten tokens.</a:t>
            </a:r>
            <a:endParaRPr lang="en-US" sz="1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Memory behavior</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Older context eventually leaves the window</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12 / 19</a:t>
            </a:r>
            <a:endParaRPr lang="en-US" sz="1200" dirty="0"/>
          </a:p>
        </p:txBody>
      </p:sp>
      <p:pic>
        <p:nvPicPr>
          <p:cNvPr id="6" name="Image 0" descr="memory window"/>
          <p:cNvPicPr>
            <a:picLocks noChangeAspect="1"/>
          </p:cNvPicPr>
          <p:nvPr/>
        </p:nvPicPr>
        <p:blipFill>
          <a:blip r:embed="rId3"/>
          <a:stretch>
            <a:fillRect/>
          </a:stretch>
        </p:blipFill>
        <p:spPr>
          <a:xfrm>
            <a:off x="6102813" y="1728216"/>
            <a:ext cx="5405718" cy="457200"/>
          </a:xfrm>
          <a:prstGeom prst="rect">
            <a:avLst/>
          </a:prstGeom>
        </p:spPr>
      </p:pic>
      <p:sp>
        <p:nvSpPr>
          <p:cNvPr id="7" name="Text 4"/>
          <p:cNvSpPr/>
          <p:nvPr/>
        </p:nvSpPr>
        <p:spPr>
          <a:xfrm>
            <a:off x="548640" y="1773936"/>
            <a:ext cx="4206240" cy="347472"/>
          </a:xfrm>
          <a:prstGeom prst="rect">
            <a:avLst/>
          </a:prstGeom>
          <a:noFill/>
          <a:ln/>
        </p:spPr>
        <p:txBody>
          <a:bodyPr wrap="square" lIns="0" tIns="0" rIns="0" bIns="0" rtlCol="0" anchor="t"/>
          <a:lstStyle/>
          <a:p>
            <a:pPr marL="0" indent="0">
              <a:buNone/>
            </a:pPr>
            <a:r>
              <a:rPr lang="en-US" sz="2200" b="1" dirty="0">
                <a:solidFill>
                  <a:srgbClr val="397C25"/>
                </a:solidFill>
                <a:latin typeface="Consolas" pitchFamily="34" charset="0"/>
                <a:ea typeface="Consolas" pitchFamily="34" charset="-122"/>
                <a:cs typeface="Consolas" pitchFamily="34" charset="-120"/>
              </a:rPr>
              <a:t>maxMessages(10)</a:t>
            </a:r>
            <a:endParaRPr lang="en-US" sz="2200" dirty="0"/>
          </a:p>
        </p:txBody>
      </p:sp>
      <p:sp>
        <p:nvSpPr>
          <p:cNvPr id="8" name="Text 5"/>
          <p:cNvSpPr/>
          <p:nvPr/>
        </p:nvSpPr>
        <p:spPr>
          <a:xfrm>
            <a:off x="548640" y="2221992"/>
            <a:ext cx="8412480" cy="320040"/>
          </a:xfrm>
          <a:prstGeom prst="rect">
            <a:avLst/>
          </a:prstGeom>
          <a:noFill/>
          <a:ln/>
        </p:spPr>
        <p:txBody>
          <a:bodyPr wrap="square" lIns="0" tIns="0" rIns="0" bIns="0" rtlCol="0" anchor="t"/>
          <a:lstStyle/>
          <a:p>
            <a:pPr marL="0" indent="0">
              <a:buNone/>
            </a:pPr>
            <a:r>
              <a:rPr lang="en-US" sz="2100" b="1" dirty="0">
                <a:solidFill>
                  <a:srgbClr val="202A25"/>
                </a:solidFill>
                <a:latin typeface="Calibri" pitchFamily="34" charset="0"/>
                <a:ea typeface="Calibri" pitchFamily="34" charset="-122"/>
                <a:cs typeface="Calibri" pitchFamily="34" charset="-120"/>
              </a:rPr>
              <a:t>BEFORE: messages 1-10 retained</a:t>
            </a:r>
            <a:endParaRPr lang="en-US" sz="2100" dirty="0"/>
          </a:p>
        </p:txBody>
      </p:sp>
      <p:sp>
        <p:nvSpPr>
          <p:cNvPr id="9" name="Shape 6"/>
          <p:cNvSpPr/>
          <p:nvPr/>
        </p:nvSpPr>
        <p:spPr>
          <a:xfrm>
            <a:off x="493776" y="2615184"/>
            <a:ext cx="10076688" cy="777240"/>
          </a:xfrm>
          <a:prstGeom prst="rect">
            <a:avLst/>
          </a:prstGeom>
          <a:solidFill>
            <a:srgbClr val="397C25"/>
          </a:solidFill>
          <a:ln w="12700">
            <a:solidFill>
              <a:srgbClr val="397C25">
                <a:alpha val="0"/>
              </a:srgbClr>
            </a:solidFill>
            <a:prstDash val="solid"/>
          </a:ln>
        </p:spPr>
        <p:txBody>
          <a:bodyPr/>
          <a:lstStyle/>
          <a:p>
            <a:endParaRPr lang="en-ZA"/>
          </a:p>
        </p:txBody>
      </p:sp>
      <p:sp>
        <p:nvSpPr>
          <p:cNvPr id="10" name="Shape 7"/>
          <p:cNvSpPr/>
          <p:nvPr/>
        </p:nvSpPr>
        <p:spPr>
          <a:xfrm>
            <a:off x="54864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11" name="Text 8"/>
          <p:cNvSpPr/>
          <p:nvPr/>
        </p:nvSpPr>
        <p:spPr>
          <a:xfrm>
            <a:off x="54864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1</a:t>
            </a:r>
            <a:endParaRPr lang="en-US" sz="2500" dirty="0"/>
          </a:p>
        </p:txBody>
      </p:sp>
      <p:sp>
        <p:nvSpPr>
          <p:cNvPr id="12" name="Shape 9"/>
          <p:cNvSpPr/>
          <p:nvPr/>
        </p:nvSpPr>
        <p:spPr>
          <a:xfrm>
            <a:off x="155448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13" name="Text 10"/>
          <p:cNvSpPr/>
          <p:nvPr/>
        </p:nvSpPr>
        <p:spPr>
          <a:xfrm>
            <a:off x="155448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2</a:t>
            </a:r>
            <a:endParaRPr lang="en-US" sz="2500" dirty="0"/>
          </a:p>
        </p:txBody>
      </p:sp>
      <p:sp>
        <p:nvSpPr>
          <p:cNvPr id="14" name="Shape 11"/>
          <p:cNvSpPr/>
          <p:nvPr/>
        </p:nvSpPr>
        <p:spPr>
          <a:xfrm>
            <a:off x="256032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15" name="Text 12"/>
          <p:cNvSpPr/>
          <p:nvPr/>
        </p:nvSpPr>
        <p:spPr>
          <a:xfrm>
            <a:off x="256032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3</a:t>
            </a:r>
            <a:endParaRPr lang="en-US" sz="2500" dirty="0"/>
          </a:p>
        </p:txBody>
      </p:sp>
      <p:sp>
        <p:nvSpPr>
          <p:cNvPr id="16" name="Shape 13"/>
          <p:cNvSpPr/>
          <p:nvPr/>
        </p:nvSpPr>
        <p:spPr>
          <a:xfrm>
            <a:off x="356616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17" name="Text 14"/>
          <p:cNvSpPr/>
          <p:nvPr/>
        </p:nvSpPr>
        <p:spPr>
          <a:xfrm>
            <a:off x="356616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4</a:t>
            </a:r>
            <a:endParaRPr lang="en-US" sz="2500" dirty="0"/>
          </a:p>
        </p:txBody>
      </p:sp>
      <p:sp>
        <p:nvSpPr>
          <p:cNvPr id="18" name="Shape 15"/>
          <p:cNvSpPr/>
          <p:nvPr/>
        </p:nvSpPr>
        <p:spPr>
          <a:xfrm>
            <a:off x="457200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19" name="Text 16"/>
          <p:cNvSpPr/>
          <p:nvPr/>
        </p:nvSpPr>
        <p:spPr>
          <a:xfrm>
            <a:off x="457200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5</a:t>
            </a:r>
            <a:endParaRPr lang="en-US" sz="2500" dirty="0"/>
          </a:p>
        </p:txBody>
      </p:sp>
      <p:sp>
        <p:nvSpPr>
          <p:cNvPr id="20" name="Shape 17"/>
          <p:cNvSpPr/>
          <p:nvPr/>
        </p:nvSpPr>
        <p:spPr>
          <a:xfrm>
            <a:off x="557784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21" name="Text 18"/>
          <p:cNvSpPr/>
          <p:nvPr/>
        </p:nvSpPr>
        <p:spPr>
          <a:xfrm>
            <a:off x="557784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6</a:t>
            </a:r>
            <a:endParaRPr lang="en-US" sz="2500" dirty="0"/>
          </a:p>
        </p:txBody>
      </p:sp>
      <p:sp>
        <p:nvSpPr>
          <p:cNvPr id="22" name="Shape 19"/>
          <p:cNvSpPr/>
          <p:nvPr/>
        </p:nvSpPr>
        <p:spPr>
          <a:xfrm>
            <a:off x="658368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23" name="Text 20"/>
          <p:cNvSpPr/>
          <p:nvPr/>
        </p:nvSpPr>
        <p:spPr>
          <a:xfrm>
            <a:off x="658368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7</a:t>
            </a:r>
            <a:endParaRPr lang="en-US" sz="2500" dirty="0"/>
          </a:p>
        </p:txBody>
      </p:sp>
      <p:sp>
        <p:nvSpPr>
          <p:cNvPr id="24" name="Shape 21"/>
          <p:cNvSpPr/>
          <p:nvPr/>
        </p:nvSpPr>
        <p:spPr>
          <a:xfrm>
            <a:off x="758952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25" name="Text 22"/>
          <p:cNvSpPr/>
          <p:nvPr/>
        </p:nvSpPr>
        <p:spPr>
          <a:xfrm>
            <a:off x="758952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8</a:t>
            </a:r>
            <a:endParaRPr lang="en-US" sz="2500" dirty="0"/>
          </a:p>
        </p:txBody>
      </p:sp>
      <p:sp>
        <p:nvSpPr>
          <p:cNvPr id="26" name="Shape 23"/>
          <p:cNvSpPr/>
          <p:nvPr/>
        </p:nvSpPr>
        <p:spPr>
          <a:xfrm>
            <a:off x="859536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27" name="Text 24"/>
          <p:cNvSpPr/>
          <p:nvPr/>
        </p:nvSpPr>
        <p:spPr>
          <a:xfrm>
            <a:off x="859536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9</a:t>
            </a:r>
            <a:endParaRPr lang="en-US" sz="2500" dirty="0"/>
          </a:p>
        </p:txBody>
      </p:sp>
      <p:sp>
        <p:nvSpPr>
          <p:cNvPr id="28" name="Shape 25"/>
          <p:cNvSpPr/>
          <p:nvPr/>
        </p:nvSpPr>
        <p:spPr>
          <a:xfrm>
            <a:off x="9601200" y="2670048"/>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29" name="Text 26"/>
          <p:cNvSpPr/>
          <p:nvPr/>
        </p:nvSpPr>
        <p:spPr>
          <a:xfrm>
            <a:off x="9601200" y="2816352"/>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10</a:t>
            </a:r>
            <a:endParaRPr lang="en-US" sz="2500" dirty="0"/>
          </a:p>
        </p:txBody>
      </p:sp>
      <p:sp>
        <p:nvSpPr>
          <p:cNvPr id="30" name="Text 27"/>
          <p:cNvSpPr/>
          <p:nvPr/>
        </p:nvSpPr>
        <p:spPr>
          <a:xfrm>
            <a:off x="1554480" y="3849624"/>
            <a:ext cx="8412480" cy="320040"/>
          </a:xfrm>
          <a:prstGeom prst="rect">
            <a:avLst/>
          </a:prstGeom>
          <a:noFill/>
          <a:ln/>
        </p:spPr>
        <p:txBody>
          <a:bodyPr wrap="square" lIns="0" tIns="0" rIns="0" bIns="0" rtlCol="0" anchor="t"/>
          <a:lstStyle/>
          <a:p>
            <a:pPr marL="0" indent="0">
              <a:buNone/>
            </a:pPr>
            <a:r>
              <a:rPr lang="en-US" sz="2100" b="1" dirty="0">
                <a:solidFill>
                  <a:srgbClr val="202A25"/>
                </a:solidFill>
                <a:latin typeface="Calibri" pitchFamily="34" charset="0"/>
                <a:ea typeface="Calibri" pitchFamily="34" charset="-122"/>
                <a:cs typeface="Calibri" pitchFamily="34" charset="-120"/>
              </a:rPr>
              <a:t>AFTER: messages 2-11 retained</a:t>
            </a:r>
            <a:endParaRPr lang="en-US" sz="2100" dirty="0"/>
          </a:p>
        </p:txBody>
      </p:sp>
      <p:sp>
        <p:nvSpPr>
          <p:cNvPr id="31" name="Shape 28"/>
          <p:cNvSpPr/>
          <p:nvPr/>
        </p:nvSpPr>
        <p:spPr>
          <a:xfrm>
            <a:off x="1499616" y="4242816"/>
            <a:ext cx="10076688" cy="777240"/>
          </a:xfrm>
          <a:prstGeom prst="rect">
            <a:avLst/>
          </a:prstGeom>
          <a:solidFill>
            <a:srgbClr val="397C25"/>
          </a:solidFill>
          <a:ln w="12700">
            <a:solidFill>
              <a:srgbClr val="397C25">
                <a:alpha val="0"/>
              </a:srgbClr>
            </a:solidFill>
            <a:prstDash val="solid"/>
          </a:ln>
        </p:spPr>
        <p:txBody>
          <a:bodyPr/>
          <a:lstStyle/>
          <a:p>
            <a:endParaRPr lang="en-ZA"/>
          </a:p>
        </p:txBody>
      </p:sp>
      <p:sp>
        <p:nvSpPr>
          <p:cNvPr id="32" name="Shape 29"/>
          <p:cNvSpPr/>
          <p:nvPr/>
        </p:nvSpPr>
        <p:spPr>
          <a:xfrm>
            <a:off x="155448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33" name="Text 30"/>
          <p:cNvSpPr/>
          <p:nvPr/>
        </p:nvSpPr>
        <p:spPr>
          <a:xfrm>
            <a:off x="155448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2</a:t>
            </a:r>
            <a:endParaRPr lang="en-US" sz="2500" dirty="0"/>
          </a:p>
        </p:txBody>
      </p:sp>
      <p:sp>
        <p:nvSpPr>
          <p:cNvPr id="34" name="Shape 31"/>
          <p:cNvSpPr/>
          <p:nvPr/>
        </p:nvSpPr>
        <p:spPr>
          <a:xfrm>
            <a:off x="256032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35" name="Text 32"/>
          <p:cNvSpPr/>
          <p:nvPr/>
        </p:nvSpPr>
        <p:spPr>
          <a:xfrm>
            <a:off x="256032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3</a:t>
            </a:r>
            <a:endParaRPr lang="en-US" sz="2500" dirty="0"/>
          </a:p>
        </p:txBody>
      </p:sp>
      <p:sp>
        <p:nvSpPr>
          <p:cNvPr id="36" name="Shape 33"/>
          <p:cNvSpPr/>
          <p:nvPr/>
        </p:nvSpPr>
        <p:spPr>
          <a:xfrm>
            <a:off x="356616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37" name="Text 34"/>
          <p:cNvSpPr/>
          <p:nvPr/>
        </p:nvSpPr>
        <p:spPr>
          <a:xfrm>
            <a:off x="356616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4</a:t>
            </a:r>
            <a:endParaRPr lang="en-US" sz="2500" dirty="0"/>
          </a:p>
        </p:txBody>
      </p:sp>
      <p:sp>
        <p:nvSpPr>
          <p:cNvPr id="38" name="Shape 35"/>
          <p:cNvSpPr/>
          <p:nvPr/>
        </p:nvSpPr>
        <p:spPr>
          <a:xfrm>
            <a:off x="457200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39" name="Text 36"/>
          <p:cNvSpPr/>
          <p:nvPr/>
        </p:nvSpPr>
        <p:spPr>
          <a:xfrm>
            <a:off x="457200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5</a:t>
            </a:r>
            <a:endParaRPr lang="en-US" sz="2500" dirty="0"/>
          </a:p>
        </p:txBody>
      </p:sp>
      <p:sp>
        <p:nvSpPr>
          <p:cNvPr id="40" name="Shape 37"/>
          <p:cNvSpPr/>
          <p:nvPr/>
        </p:nvSpPr>
        <p:spPr>
          <a:xfrm>
            <a:off x="557784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41" name="Text 38"/>
          <p:cNvSpPr/>
          <p:nvPr/>
        </p:nvSpPr>
        <p:spPr>
          <a:xfrm>
            <a:off x="557784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6</a:t>
            </a:r>
            <a:endParaRPr lang="en-US" sz="2500" dirty="0"/>
          </a:p>
        </p:txBody>
      </p:sp>
      <p:sp>
        <p:nvSpPr>
          <p:cNvPr id="42" name="Shape 39"/>
          <p:cNvSpPr/>
          <p:nvPr/>
        </p:nvSpPr>
        <p:spPr>
          <a:xfrm>
            <a:off x="658368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43" name="Text 40"/>
          <p:cNvSpPr/>
          <p:nvPr/>
        </p:nvSpPr>
        <p:spPr>
          <a:xfrm>
            <a:off x="658368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7</a:t>
            </a:r>
            <a:endParaRPr lang="en-US" sz="2500" dirty="0"/>
          </a:p>
        </p:txBody>
      </p:sp>
      <p:sp>
        <p:nvSpPr>
          <p:cNvPr id="44" name="Shape 41"/>
          <p:cNvSpPr/>
          <p:nvPr/>
        </p:nvSpPr>
        <p:spPr>
          <a:xfrm>
            <a:off x="758952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45" name="Text 42"/>
          <p:cNvSpPr/>
          <p:nvPr/>
        </p:nvSpPr>
        <p:spPr>
          <a:xfrm>
            <a:off x="758952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8</a:t>
            </a:r>
            <a:endParaRPr lang="en-US" sz="2500" dirty="0"/>
          </a:p>
        </p:txBody>
      </p:sp>
      <p:sp>
        <p:nvSpPr>
          <p:cNvPr id="46" name="Shape 43"/>
          <p:cNvSpPr/>
          <p:nvPr/>
        </p:nvSpPr>
        <p:spPr>
          <a:xfrm>
            <a:off x="859536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47" name="Text 44"/>
          <p:cNvSpPr/>
          <p:nvPr/>
        </p:nvSpPr>
        <p:spPr>
          <a:xfrm>
            <a:off x="859536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9</a:t>
            </a:r>
            <a:endParaRPr lang="en-US" sz="2500" dirty="0"/>
          </a:p>
        </p:txBody>
      </p:sp>
      <p:sp>
        <p:nvSpPr>
          <p:cNvPr id="48" name="Shape 45"/>
          <p:cNvSpPr/>
          <p:nvPr/>
        </p:nvSpPr>
        <p:spPr>
          <a:xfrm>
            <a:off x="960120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49" name="Text 46"/>
          <p:cNvSpPr/>
          <p:nvPr/>
        </p:nvSpPr>
        <p:spPr>
          <a:xfrm>
            <a:off x="960120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10</a:t>
            </a:r>
            <a:endParaRPr lang="en-US" sz="2500" dirty="0"/>
          </a:p>
        </p:txBody>
      </p:sp>
      <p:sp>
        <p:nvSpPr>
          <p:cNvPr id="50" name="Shape 47"/>
          <p:cNvSpPr/>
          <p:nvPr/>
        </p:nvSpPr>
        <p:spPr>
          <a:xfrm>
            <a:off x="10607040" y="4297680"/>
            <a:ext cx="896112" cy="667512"/>
          </a:xfrm>
          <a:prstGeom prst="rect">
            <a:avLst/>
          </a:prstGeom>
          <a:solidFill>
            <a:srgbClr val="F7F9F6"/>
          </a:solidFill>
          <a:ln w="12700">
            <a:solidFill>
              <a:srgbClr val="F7F9F6">
                <a:alpha val="0"/>
              </a:srgbClr>
            </a:solidFill>
            <a:prstDash val="solid"/>
          </a:ln>
        </p:spPr>
        <p:txBody>
          <a:bodyPr/>
          <a:lstStyle/>
          <a:p>
            <a:endParaRPr lang="en-ZA"/>
          </a:p>
        </p:txBody>
      </p:sp>
      <p:sp>
        <p:nvSpPr>
          <p:cNvPr id="51" name="Text 48"/>
          <p:cNvSpPr/>
          <p:nvPr/>
        </p:nvSpPr>
        <p:spPr>
          <a:xfrm>
            <a:off x="10607040" y="4443984"/>
            <a:ext cx="896112" cy="384048"/>
          </a:xfrm>
          <a:prstGeom prst="rect">
            <a:avLst/>
          </a:prstGeom>
          <a:noFill/>
          <a:ln/>
        </p:spPr>
        <p:txBody>
          <a:bodyPr wrap="square" lIns="0" tIns="0" rIns="0" bIns="0" rtlCol="0" anchor="t"/>
          <a:lstStyle/>
          <a:p>
            <a:pPr marL="0" indent="0" algn="ctr">
              <a:buNone/>
            </a:pPr>
            <a:r>
              <a:rPr lang="en-US" sz="2500" b="1" dirty="0">
                <a:solidFill>
                  <a:srgbClr val="202A25"/>
                </a:solidFill>
                <a:latin typeface="Calibri" pitchFamily="34" charset="0"/>
                <a:ea typeface="Calibri" pitchFamily="34" charset="-122"/>
                <a:cs typeface="Calibri" pitchFamily="34" charset="-120"/>
              </a:rPr>
              <a:t>11</a:t>
            </a:r>
            <a:endParaRPr lang="en-US" sz="2500" dirty="0"/>
          </a:p>
        </p:txBody>
      </p:sp>
      <p:sp>
        <p:nvSpPr>
          <p:cNvPr id="52" name="Shape 49"/>
          <p:cNvSpPr/>
          <p:nvPr/>
        </p:nvSpPr>
        <p:spPr>
          <a:xfrm>
            <a:off x="10607040" y="2670048"/>
            <a:ext cx="896112" cy="667512"/>
          </a:xfrm>
          <a:prstGeom prst="rect">
            <a:avLst/>
          </a:prstGeom>
          <a:solidFill>
            <a:srgbClr val="202A25"/>
          </a:solidFill>
          <a:ln w="12700">
            <a:solidFill>
              <a:srgbClr val="202A25">
                <a:alpha val="0"/>
              </a:srgbClr>
            </a:solidFill>
            <a:prstDash val="solid"/>
          </a:ln>
        </p:spPr>
        <p:txBody>
          <a:bodyPr/>
          <a:lstStyle/>
          <a:p>
            <a:endParaRPr lang="en-ZA"/>
          </a:p>
        </p:txBody>
      </p:sp>
      <p:sp>
        <p:nvSpPr>
          <p:cNvPr id="53" name="Text 50"/>
          <p:cNvSpPr/>
          <p:nvPr/>
        </p:nvSpPr>
        <p:spPr>
          <a:xfrm>
            <a:off x="10607040" y="2816352"/>
            <a:ext cx="896112" cy="384048"/>
          </a:xfrm>
          <a:prstGeom prst="rect">
            <a:avLst/>
          </a:prstGeom>
          <a:noFill/>
          <a:ln/>
        </p:spPr>
        <p:txBody>
          <a:bodyPr wrap="square" lIns="0" tIns="0" rIns="0" bIns="0" rtlCol="0" anchor="t"/>
          <a:lstStyle/>
          <a:p>
            <a:pPr marL="0" indent="0" algn="ctr">
              <a:buNone/>
            </a:pPr>
            <a:r>
              <a:rPr lang="en-US" sz="2500" b="1" dirty="0">
                <a:solidFill>
                  <a:srgbClr val="FFFFFF"/>
                </a:solidFill>
                <a:latin typeface="Calibri" pitchFamily="34" charset="0"/>
                <a:ea typeface="Calibri" pitchFamily="34" charset="-122"/>
                <a:cs typeface="Calibri" pitchFamily="34" charset="-120"/>
              </a:rPr>
              <a:t>11</a:t>
            </a:r>
            <a:endParaRPr lang="en-US" sz="2500" dirty="0"/>
          </a:p>
        </p:txBody>
      </p:sp>
      <p:sp>
        <p:nvSpPr>
          <p:cNvPr id="54" name="Text 51"/>
          <p:cNvSpPr/>
          <p:nvPr/>
        </p:nvSpPr>
        <p:spPr>
          <a:xfrm>
            <a:off x="10607040" y="2221992"/>
            <a:ext cx="896112" cy="320040"/>
          </a:xfrm>
          <a:prstGeom prst="rect">
            <a:avLst/>
          </a:prstGeom>
          <a:noFill/>
          <a:ln/>
        </p:spPr>
        <p:txBody>
          <a:bodyPr wrap="square" lIns="0" tIns="0" rIns="0" bIns="0" rtlCol="0" anchor="t"/>
          <a:lstStyle/>
          <a:p>
            <a:pPr marL="0" indent="0" algn="ctr">
              <a:buNone/>
            </a:pPr>
            <a:r>
              <a:rPr lang="en-US" sz="2100" b="1" dirty="0">
                <a:solidFill>
                  <a:srgbClr val="202A25"/>
                </a:solidFill>
                <a:latin typeface="Calibri" pitchFamily="34" charset="0"/>
                <a:ea typeface="Calibri" pitchFamily="34" charset="-122"/>
                <a:cs typeface="Calibri" pitchFamily="34" charset="-120"/>
              </a:rPr>
              <a:t>New</a:t>
            </a:r>
            <a:endParaRPr lang="en-US" sz="2100" dirty="0"/>
          </a:p>
        </p:txBody>
      </p:sp>
      <p:sp>
        <p:nvSpPr>
          <p:cNvPr id="55" name="Shape 52"/>
          <p:cNvSpPr/>
          <p:nvPr/>
        </p:nvSpPr>
        <p:spPr>
          <a:xfrm>
            <a:off x="11055096" y="3447288"/>
            <a:ext cx="0" cy="795528"/>
          </a:xfrm>
          <a:prstGeom prst="line">
            <a:avLst/>
          </a:prstGeom>
          <a:noFill/>
          <a:ln w="21590">
            <a:solidFill>
              <a:srgbClr val="397C25"/>
            </a:solidFill>
            <a:prstDash val="solid"/>
            <a:tailEnd type="triangle"/>
          </a:ln>
        </p:spPr>
        <p:txBody>
          <a:bodyPr/>
          <a:lstStyle/>
          <a:p>
            <a:endParaRPr lang="en-ZA"/>
          </a:p>
        </p:txBody>
      </p:sp>
      <p:sp>
        <p:nvSpPr>
          <p:cNvPr id="56" name="Text 53"/>
          <p:cNvSpPr/>
          <p:nvPr/>
        </p:nvSpPr>
        <p:spPr>
          <a:xfrm>
            <a:off x="1554480" y="3538728"/>
            <a:ext cx="8686800" cy="283464"/>
          </a:xfrm>
          <a:prstGeom prst="rect">
            <a:avLst/>
          </a:prstGeom>
          <a:noFill/>
          <a:ln/>
        </p:spPr>
        <p:txBody>
          <a:bodyPr wrap="square" lIns="0" tIns="0" rIns="0" bIns="0" rtlCol="0" anchor="t"/>
          <a:lstStyle/>
          <a:p>
            <a:pPr marL="0" indent="0">
              <a:buNone/>
            </a:pPr>
            <a:r>
              <a:rPr lang="en-US" sz="1800" dirty="0">
                <a:solidFill>
                  <a:srgbClr val="397C25"/>
                </a:solidFill>
                <a:latin typeface="Calibri" pitchFamily="34" charset="0"/>
                <a:ea typeface="Calibri" pitchFamily="34" charset="-122"/>
                <a:cs typeface="Calibri" pitchFamily="34" charset="-120"/>
              </a:rPr>
              <a:t>Append one message, then trim the oldest</a:t>
            </a:r>
            <a:endParaRPr lang="en-US" sz="1800" dirty="0"/>
          </a:p>
        </p:txBody>
      </p:sp>
      <p:sp>
        <p:nvSpPr>
          <p:cNvPr id="57" name="Shape 54"/>
          <p:cNvSpPr/>
          <p:nvPr/>
        </p:nvSpPr>
        <p:spPr>
          <a:xfrm>
            <a:off x="548640" y="4297680"/>
            <a:ext cx="896112" cy="667512"/>
          </a:xfrm>
          <a:prstGeom prst="rect">
            <a:avLst/>
          </a:prstGeom>
          <a:solidFill>
            <a:srgbClr val="E8DAD5"/>
          </a:solidFill>
          <a:ln w="12700">
            <a:solidFill>
              <a:srgbClr val="E8DAD5">
                <a:alpha val="0"/>
              </a:srgbClr>
            </a:solidFill>
            <a:prstDash val="solid"/>
          </a:ln>
        </p:spPr>
        <p:txBody>
          <a:bodyPr/>
          <a:lstStyle/>
          <a:p>
            <a:endParaRPr lang="en-ZA"/>
          </a:p>
        </p:txBody>
      </p:sp>
      <p:sp>
        <p:nvSpPr>
          <p:cNvPr id="58" name="Text 55"/>
          <p:cNvSpPr/>
          <p:nvPr/>
        </p:nvSpPr>
        <p:spPr>
          <a:xfrm>
            <a:off x="548640" y="4443984"/>
            <a:ext cx="896112" cy="384048"/>
          </a:xfrm>
          <a:prstGeom prst="rect">
            <a:avLst/>
          </a:prstGeom>
          <a:noFill/>
          <a:ln/>
        </p:spPr>
        <p:txBody>
          <a:bodyPr wrap="square" lIns="0" tIns="0" rIns="0" bIns="0" rtlCol="0" anchor="t"/>
          <a:lstStyle/>
          <a:p>
            <a:pPr marL="0" indent="0" algn="ctr">
              <a:buNone/>
            </a:pPr>
            <a:r>
              <a:rPr lang="en-US" sz="2500" b="1" dirty="0">
                <a:solidFill>
                  <a:srgbClr val="843B2B"/>
                </a:solidFill>
                <a:latin typeface="Calibri" pitchFamily="34" charset="0"/>
                <a:ea typeface="Calibri" pitchFamily="34" charset="-122"/>
                <a:cs typeface="Calibri" pitchFamily="34" charset="-120"/>
              </a:rPr>
              <a:t>1</a:t>
            </a:r>
            <a:endParaRPr lang="en-US" sz="2500" dirty="0"/>
          </a:p>
        </p:txBody>
      </p:sp>
      <p:sp>
        <p:nvSpPr>
          <p:cNvPr id="59" name="Text 56"/>
          <p:cNvSpPr/>
          <p:nvPr/>
        </p:nvSpPr>
        <p:spPr>
          <a:xfrm>
            <a:off x="548640" y="5138928"/>
            <a:ext cx="1325880" cy="320040"/>
          </a:xfrm>
          <a:prstGeom prst="rect">
            <a:avLst/>
          </a:prstGeom>
          <a:noFill/>
          <a:ln/>
        </p:spPr>
        <p:txBody>
          <a:bodyPr wrap="square" lIns="0" tIns="0" rIns="0" bIns="0" rtlCol="0" anchor="t"/>
          <a:lstStyle/>
          <a:p>
            <a:pPr marL="0" indent="0">
              <a:buNone/>
            </a:pPr>
            <a:r>
              <a:rPr lang="en-US" sz="1600" b="1" dirty="0">
                <a:solidFill>
                  <a:srgbClr val="843B2B"/>
                </a:solidFill>
                <a:latin typeface="Calibri" pitchFamily="34" charset="0"/>
                <a:ea typeface="Calibri" pitchFamily="34" charset="-122"/>
                <a:cs typeface="Calibri" pitchFamily="34" charset="-120"/>
              </a:rPr>
              <a:t>Removed</a:t>
            </a:r>
            <a:endParaRPr lang="en-US" sz="1600" dirty="0"/>
          </a:p>
        </p:txBody>
      </p:sp>
      <p:sp>
        <p:nvSpPr>
          <p:cNvPr id="60" name="Text 57"/>
          <p:cNvSpPr/>
          <p:nvPr/>
        </p:nvSpPr>
        <p:spPr>
          <a:xfrm>
            <a:off x="2002536" y="5166360"/>
            <a:ext cx="9637776" cy="448056"/>
          </a:xfrm>
          <a:prstGeom prst="rect">
            <a:avLst/>
          </a:prstGeom>
          <a:noFill/>
          <a:ln/>
        </p:spPr>
        <p:txBody>
          <a:bodyPr wrap="square" lIns="0" tIns="0" rIns="0" bIns="0" rtlCol="0" anchor="t"/>
          <a:lstStyle/>
          <a:p>
            <a:pPr marL="0" indent="0">
              <a:buNone/>
            </a:pPr>
            <a:r>
              <a:rPr lang="en-US" sz="1700" dirty="0">
                <a:solidFill>
                  <a:srgbClr val="59665D"/>
                </a:solidFill>
                <a:latin typeface="Calibri" pitchFamily="34" charset="0"/>
                <a:ea typeface="Calibri" pitchFamily="34" charset="-122"/>
                <a:cs typeface="Calibri" pitchFamily="34" charset="-120"/>
              </a:rPr>
              <a:t>Each numbered cell is one user or assistant message; no system message in this example.</a:t>
            </a:r>
            <a:endParaRPr lang="en-US" sz="1700" dirty="0"/>
          </a:p>
        </p:txBody>
      </p:sp>
      <p:sp>
        <p:nvSpPr>
          <p:cNvPr id="61" name="Text 58"/>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Ten messages remain after trimming. A user/assistant exchange normally adds two messages.</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Spring AI API</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Add memory with MessageChatMemoryAdvisor</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13 / 19</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this.chatClient = chatClientBuilder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.defaultAdvisors(</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MessageChatMemoryAdvisor</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.builder(chatMemory)</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.build();</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One integration point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Configure the advisor when building this client.</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Automatic history</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The advisor loads and saves conversation messages.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Same model</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Memory changes context, not provider configuration.</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ConversationService stays focused on conversation behavior.</a:t>
            </a:r>
            <a:endParaRPr lang="en-US" sz="1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Conversation isolation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Scope every request to its conversation ID</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14 / 19</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return chatClient.prompt()</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.user(message)</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.advisors(advisor -&gt; advisor.param(</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ChatMemory.CONVERSATION_ID,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conversationId))</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.call()</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.content();</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Stable key</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Reuse the ID for follow-up messages.</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Independent chats</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Different IDs select different histories.</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Security boundary</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An ID alone is not authentication or authorization.</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Pass ChatMemory.CONVERSATION_ID explicitly on each stateful request.</a:t>
            </a:r>
            <a:endParaRPr lang="en-US" sz="1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Conversation lifecycle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Read, clear, and reason about memory lifetime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15 / 19</a:t>
            </a:r>
            <a:endParaRPr lang="en-US" sz="1200" dirty="0"/>
          </a:p>
        </p:txBody>
      </p:sp>
      <p:sp>
        <p:nvSpPr>
          <p:cNvPr id="6" name="Shape 4"/>
          <p:cNvSpPr/>
          <p:nvPr/>
        </p:nvSpPr>
        <p:spPr>
          <a:xfrm>
            <a:off x="548640" y="1773936"/>
            <a:ext cx="6995160" cy="3931920"/>
          </a:xfrm>
          <a:prstGeom prst="rect">
            <a:avLst/>
          </a:prstGeom>
          <a:solidFill>
            <a:srgbClr val="17231E"/>
          </a:solidFill>
          <a:ln w="12700">
            <a:solidFill>
              <a:srgbClr val="17231E">
                <a:alpha val="0"/>
              </a:srgbClr>
            </a:solidFill>
            <a:prstDash val="solid"/>
          </a:ln>
        </p:spPr>
        <p:txBody>
          <a:bodyPr/>
          <a:lstStyle/>
          <a:p>
            <a:endParaRPr lang="en-ZA"/>
          </a:p>
        </p:txBody>
      </p:sp>
      <p:sp>
        <p:nvSpPr>
          <p:cNvPr id="7" name="Text 5"/>
          <p:cNvSpPr/>
          <p:nvPr/>
        </p:nvSpPr>
        <p:spPr>
          <a:xfrm>
            <a:off x="795528" y="1938528"/>
            <a:ext cx="6510528" cy="228600"/>
          </a:xfrm>
          <a:prstGeom prst="rect">
            <a:avLst/>
          </a:prstGeom>
          <a:noFill/>
          <a:ln/>
        </p:spPr>
        <p:txBody>
          <a:bodyPr wrap="square" lIns="0" tIns="0" rIns="0" bIns="0" rtlCol="0" anchor="t"/>
          <a:lstStyle/>
          <a:p>
            <a:pPr marL="0" indent="0">
              <a:buNone/>
            </a:pPr>
            <a:r>
              <a:rPr lang="en-US" sz="1050" b="1" dirty="0">
                <a:solidFill>
                  <a:srgbClr val="86CF54"/>
                </a:solidFill>
                <a:latin typeface="Calibri" pitchFamily="34" charset="0"/>
                <a:ea typeface="Calibri" pitchFamily="34" charset="-122"/>
                <a:cs typeface="Calibri" pitchFamily="34" charset="-120"/>
              </a:rPr>
              <a:t>JAVA</a:t>
            </a:r>
            <a:endParaRPr lang="en-US" sz="1050" dirty="0"/>
          </a:p>
        </p:txBody>
      </p:sp>
      <p:sp>
        <p:nvSpPr>
          <p:cNvPr id="8" name="Text 6"/>
          <p:cNvSpPr/>
          <p:nvPr/>
        </p:nvSpPr>
        <p:spPr>
          <a:xfrm>
            <a:off x="795528" y="2267712"/>
            <a:ext cx="6492240" cy="3209544"/>
          </a:xfrm>
          <a:prstGeom prst="rect">
            <a:avLst/>
          </a:prstGeom>
          <a:noFill/>
          <a:ln/>
        </p:spPr>
        <p:txBody>
          <a:bodyPr wrap="square" lIns="0" tIns="0" rIns="0" bIns="0" rtlCol="0" anchor="t"/>
          <a:lstStyle/>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String conversationId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UUID.randomUUID().toString();</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List&lt;Message&gt; history =</a:t>
            </a: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    chatMemory.get(conversationId);</a:t>
            </a:r>
            <a:endParaRPr lang="en-US" sz="1700" dirty="0"/>
          </a:p>
          <a:p>
            <a:pPr marL="0" indent="0">
              <a:lnSpc>
                <a:spcPts val="1850"/>
              </a:lnSpc>
              <a:buNone/>
            </a:pPr>
            <a:endParaRPr lang="en-US" sz="1700" dirty="0"/>
          </a:p>
          <a:p>
            <a:pPr marL="0" indent="0">
              <a:lnSpc>
                <a:spcPts val="1850"/>
              </a:lnSpc>
              <a:buNone/>
            </a:pPr>
            <a:r>
              <a:rPr lang="en-US" sz="1700" dirty="0">
                <a:solidFill>
                  <a:srgbClr val="FFFFFF"/>
                </a:solidFill>
                <a:latin typeface="Consolas" pitchFamily="34" charset="0"/>
                <a:ea typeface="Consolas" pitchFamily="34" charset="-122"/>
                <a:cs typeface="Consolas" pitchFamily="34" charset="-120"/>
              </a:rPr>
              <a:t>chatMemory.clear(conversationId);</a:t>
            </a:r>
            <a:endParaRPr lang="en-US" sz="1700" dirty="0"/>
          </a:p>
        </p:txBody>
      </p:sp>
      <p:sp>
        <p:nvSpPr>
          <p:cNvPr id="9" name="Text 7"/>
          <p:cNvSpPr/>
          <p:nvPr/>
        </p:nvSpPr>
        <p:spPr>
          <a:xfrm>
            <a:off x="7936992" y="1810512"/>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Start</a:t>
            </a:r>
            <a:endParaRPr lang="en-US" sz="2200" dirty="0"/>
          </a:p>
        </p:txBody>
      </p:sp>
      <p:sp>
        <p:nvSpPr>
          <p:cNvPr id="10" name="Text 8"/>
          <p:cNvSpPr/>
          <p:nvPr/>
        </p:nvSpPr>
        <p:spPr>
          <a:xfrm>
            <a:off x="7936992" y="2286000"/>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Create a fresh conversation identifier.</a:t>
            </a:r>
            <a:endParaRPr lang="en-US" sz="1900" dirty="0"/>
          </a:p>
        </p:txBody>
      </p:sp>
      <p:sp>
        <p:nvSpPr>
          <p:cNvPr id="11" name="Text 9"/>
          <p:cNvSpPr/>
          <p:nvPr/>
        </p:nvSpPr>
        <p:spPr>
          <a:xfrm>
            <a:off x="7936992" y="3072384"/>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Inspect</a:t>
            </a:r>
            <a:endParaRPr lang="en-US" sz="2200" dirty="0"/>
          </a:p>
        </p:txBody>
      </p:sp>
      <p:sp>
        <p:nvSpPr>
          <p:cNvPr id="12" name="Text 10"/>
          <p:cNvSpPr/>
          <p:nvPr/>
        </p:nvSpPr>
        <p:spPr>
          <a:xfrm>
            <a:off x="7936992" y="3547872"/>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Use typed Spring AI Message objects for history.</a:t>
            </a:r>
            <a:endParaRPr lang="en-US" sz="1900" dirty="0"/>
          </a:p>
        </p:txBody>
      </p:sp>
      <p:sp>
        <p:nvSpPr>
          <p:cNvPr id="13" name="Text 11"/>
          <p:cNvSpPr/>
          <p:nvPr/>
        </p:nvSpPr>
        <p:spPr>
          <a:xfrm>
            <a:off x="7936992" y="4334256"/>
            <a:ext cx="3703320"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Clear</a:t>
            </a:r>
            <a:endParaRPr lang="en-US" sz="2200" dirty="0"/>
          </a:p>
        </p:txBody>
      </p:sp>
      <p:sp>
        <p:nvSpPr>
          <p:cNvPr id="14" name="Text 12"/>
          <p:cNvSpPr/>
          <p:nvPr/>
        </p:nvSpPr>
        <p:spPr>
          <a:xfrm>
            <a:off x="7936992" y="4809744"/>
            <a:ext cx="3703320" cy="740664"/>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Remove the stored context for that ID.</a:t>
            </a:r>
            <a:endParaRPr lang="en-US" sz="1900" dirty="0"/>
          </a:p>
        </p:txBody>
      </p:sp>
      <p:sp>
        <p:nvSpPr>
          <p:cNvPr id="15" name="Text 13"/>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ConversationService exposes lifecycle operations; in-memory state ends on restart.</a:t>
            </a:r>
            <a:endParaRPr lang="en-US" sz="1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Workshop infrastructure</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Provision the shared model environment once</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16 / 19</a:t>
            </a:r>
            <a:endParaRPr lang="en-US" sz="1200" dirty="0"/>
          </a:p>
        </p:txBody>
      </p:sp>
      <p:sp>
        <p:nvSpPr>
          <p:cNvPr id="6" name="Shape 4"/>
          <p:cNvSpPr/>
          <p:nvPr/>
        </p:nvSpPr>
        <p:spPr>
          <a:xfrm>
            <a:off x="548640" y="1773936"/>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7" name="Text 5"/>
          <p:cNvSpPr/>
          <p:nvPr/>
        </p:nvSpPr>
        <p:spPr>
          <a:xfrm>
            <a:off x="548640" y="1828800"/>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98448" y="1746504"/>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Use the Module 01 infrastructure</a:t>
            </a:r>
            <a:endParaRPr lang="en-US" sz="2400" dirty="0"/>
          </a:p>
        </p:txBody>
      </p:sp>
      <p:sp>
        <p:nvSpPr>
          <p:cNvPr id="9" name="Text 7"/>
          <p:cNvSpPr/>
          <p:nvPr/>
        </p:nvSpPr>
        <p:spPr>
          <a:xfrm>
            <a:off x="1298448" y="2231136"/>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Azure Developer CLI runs the module's azure.yaml and Bicep deployment workflow.</a:t>
            </a:r>
            <a:endParaRPr lang="en-US" sz="2000" dirty="0"/>
          </a:p>
        </p:txBody>
      </p:sp>
      <p:sp>
        <p:nvSpPr>
          <p:cNvPr id="10" name="Shape 8"/>
          <p:cNvSpPr/>
          <p:nvPr/>
        </p:nvSpPr>
        <p:spPr>
          <a:xfrm>
            <a:off x="548640" y="3060192"/>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1" name="Text 9"/>
          <p:cNvSpPr/>
          <p:nvPr/>
        </p:nvSpPr>
        <p:spPr>
          <a:xfrm>
            <a:off x="548640" y="3115056"/>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298448" y="3032760"/>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Create two model deployments</a:t>
            </a:r>
            <a:endParaRPr lang="en-US" sz="2400" dirty="0"/>
          </a:p>
        </p:txBody>
      </p:sp>
      <p:sp>
        <p:nvSpPr>
          <p:cNvPr id="13" name="Text 11"/>
          <p:cNvSpPr/>
          <p:nvPr/>
        </p:nvSpPr>
        <p:spPr>
          <a:xfrm>
            <a:off x="1298448" y="3517392"/>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gpt-5.6-luna for chat and text-embedding-3-small for Module 03 retrieval.</a:t>
            </a:r>
            <a:endParaRPr lang="en-US" sz="2000" dirty="0"/>
          </a:p>
        </p:txBody>
      </p:sp>
      <p:sp>
        <p:nvSpPr>
          <p:cNvPr id="14" name="Shape 12"/>
          <p:cNvSpPr/>
          <p:nvPr/>
        </p:nvSpPr>
        <p:spPr>
          <a:xfrm>
            <a:off x="548640" y="4346448"/>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5" name="Text 13"/>
          <p:cNvSpPr/>
          <p:nvPr/>
        </p:nvSpPr>
        <p:spPr>
          <a:xfrm>
            <a:off x="548640" y="4401312"/>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298448" y="4319016"/>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Reuse the generated environment</a:t>
            </a:r>
            <a:endParaRPr lang="en-US" sz="2400" dirty="0"/>
          </a:p>
        </p:txBody>
      </p:sp>
      <p:sp>
        <p:nvSpPr>
          <p:cNvPr id="17" name="Text 15"/>
          <p:cNvSpPr/>
          <p:nvPr/>
        </p:nvSpPr>
        <p:spPr>
          <a:xfrm>
            <a:off x="1298448" y="4803648"/>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The provisioning hook writes the root environment file used by all six modules.</a:t>
            </a:r>
            <a:endParaRPr lang="en-US" sz="20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Follow the Module 01 deployment guide; model availability and regional quota can vary.</a:t>
            </a:r>
            <a:endParaRPr lang="en-US" sz="1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Workshop setup</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Run the Spring Boot application</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17 / 19</a:t>
            </a:r>
            <a:endParaRPr lang="en-US" sz="1200" dirty="0"/>
          </a:p>
        </p:txBody>
      </p:sp>
      <p:sp>
        <p:nvSpPr>
          <p:cNvPr id="6" name="Shape 4"/>
          <p:cNvSpPr/>
          <p:nvPr/>
        </p:nvSpPr>
        <p:spPr>
          <a:xfrm>
            <a:off x="548640" y="1773936"/>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7" name="Text 5"/>
          <p:cNvSpPr/>
          <p:nvPr/>
        </p:nvSpPr>
        <p:spPr>
          <a:xfrm>
            <a:off x="548640" y="1828800"/>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8" name="Text 6"/>
          <p:cNvSpPr/>
          <p:nvPr/>
        </p:nvSpPr>
        <p:spPr>
          <a:xfrm>
            <a:off x="1298448" y="1746504"/>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Prepare the shared environment</a:t>
            </a:r>
            <a:endParaRPr lang="en-US" sz="2400" dirty="0"/>
          </a:p>
        </p:txBody>
      </p:sp>
      <p:sp>
        <p:nvSpPr>
          <p:cNvPr id="9" name="Text 7"/>
          <p:cNvSpPr/>
          <p:nvPr/>
        </p:nvSpPr>
        <p:spPr>
          <a:xfrm>
            <a:off x="1298448" y="2231136"/>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Java 25, Maven 3.9+, and the Module 01 Foundry setup; keep secrets off screen.</a:t>
            </a:r>
            <a:endParaRPr lang="en-US" sz="2000" dirty="0"/>
          </a:p>
        </p:txBody>
      </p:sp>
      <p:sp>
        <p:nvSpPr>
          <p:cNvPr id="10" name="Shape 8"/>
          <p:cNvSpPr/>
          <p:nvPr/>
        </p:nvSpPr>
        <p:spPr>
          <a:xfrm>
            <a:off x="548640" y="3060192"/>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1" name="Text 9"/>
          <p:cNvSpPr/>
          <p:nvPr/>
        </p:nvSpPr>
        <p:spPr>
          <a:xfrm>
            <a:off x="548640" y="3115056"/>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2" name="Text 10"/>
          <p:cNvSpPr/>
          <p:nvPr/>
        </p:nvSpPr>
        <p:spPr>
          <a:xfrm>
            <a:off x="1298448" y="3032760"/>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Start from 01-introduction</a:t>
            </a:r>
            <a:endParaRPr lang="en-US" sz="2400" dirty="0"/>
          </a:p>
        </p:txBody>
      </p:sp>
      <p:sp>
        <p:nvSpPr>
          <p:cNvPr id="13" name="Text 11"/>
          <p:cNvSpPr/>
          <p:nvPr/>
        </p:nvSpPr>
        <p:spPr>
          <a:xfrm>
            <a:off x="1298448" y="3517392"/>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PowerShell: .\start.ps1    |    Bash: ./start.sh</a:t>
            </a:r>
            <a:endParaRPr lang="en-US" sz="2000" dirty="0"/>
          </a:p>
        </p:txBody>
      </p:sp>
      <p:sp>
        <p:nvSpPr>
          <p:cNvPr id="14" name="Shape 12"/>
          <p:cNvSpPr/>
          <p:nvPr/>
        </p:nvSpPr>
        <p:spPr>
          <a:xfrm>
            <a:off x="548640" y="4346448"/>
            <a:ext cx="493776" cy="493776"/>
          </a:xfrm>
          <a:prstGeom prst="ellipse">
            <a:avLst/>
          </a:prstGeom>
          <a:solidFill>
            <a:srgbClr val="397C25"/>
          </a:solidFill>
          <a:ln w="12700">
            <a:solidFill>
              <a:srgbClr val="397C25">
                <a:alpha val="0"/>
              </a:srgbClr>
            </a:solidFill>
            <a:prstDash val="solid"/>
          </a:ln>
        </p:spPr>
        <p:txBody>
          <a:bodyPr/>
          <a:lstStyle/>
          <a:p>
            <a:endParaRPr lang="en-ZA"/>
          </a:p>
        </p:txBody>
      </p:sp>
      <p:sp>
        <p:nvSpPr>
          <p:cNvPr id="15" name="Text 13"/>
          <p:cNvSpPr/>
          <p:nvPr/>
        </p:nvSpPr>
        <p:spPr>
          <a:xfrm>
            <a:off x="548640" y="4401312"/>
            <a:ext cx="493776" cy="338328"/>
          </a:xfrm>
          <a:prstGeom prst="rect">
            <a:avLst/>
          </a:prstGeom>
          <a:noFill/>
          <a:ln/>
        </p:spPr>
        <p:txBody>
          <a:bodyPr wrap="square" lIns="0" tIns="0" rIns="0" bIns="0" rtlCol="0" anchor="t"/>
          <a:lstStyle/>
          <a:p>
            <a:pPr marL="0" indent="0" algn="ctr">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16" name="Text 14"/>
          <p:cNvSpPr/>
          <p:nvPr/>
        </p:nvSpPr>
        <p:spPr>
          <a:xfrm>
            <a:off x="1298448" y="4319016"/>
            <a:ext cx="10332720" cy="438912"/>
          </a:xfrm>
          <a:prstGeom prst="rect">
            <a:avLst/>
          </a:prstGeom>
          <a:noFill/>
          <a:ln/>
        </p:spPr>
        <p:txBody>
          <a:bodyPr wrap="square" lIns="0" tIns="0" rIns="0" bIns="0" rtlCol="0" anchor="t"/>
          <a:lstStyle/>
          <a:p>
            <a:pPr marL="0" indent="0">
              <a:buNone/>
            </a:pPr>
            <a:r>
              <a:rPr lang="en-US" sz="2400" b="1" dirty="0">
                <a:solidFill>
                  <a:srgbClr val="202A25"/>
                </a:solidFill>
                <a:latin typeface="Calibri" pitchFamily="34" charset="0"/>
                <a:ea typeface="Calibri" pitchFamily="34" charset="-122"/>
                <a:cs typeface="Calibri" pitchFamily="34" charset="-120"/>
              </a:rPr>
              <a:t>Open the demo</a:t>
            </a:r>
            <a:endParaRPr lang="en-US" sz="2400" dirty="0"/>
          </a:p>
        </p:txBody>
      </p:sp>
      <p:sp>
        <p:nvSpPr>
          <p:cNvPr id="17" name="Text 15"/>
          <p:cNvSpPr/>
          <p:nvPr/>
        </p:nvSpPr>
        <p:spPr>
          <a:xfrm>
            <a:off x="1298448" y="4803648"/>
            <a:ext cx="10058400" cy="765048"/>
          </a:xfrm>
          <a:prstGeom prst="rect">
            <a:avLst/>
          </a:prstGeom>
          <a:noFill/>
          <a:ln/>
        </p:spPr>
        <p:txBody>
          <a:bodyPr wrap="square" lIns="0" tIns="0" rIns="0" bIns="0" rtlCol="0" anchor="t"/>
          <a:lstStyle/>
          <a:p>
            <a:pPr marL="0" indent="0">
              <a:buNone/>
            </a:pPr>
            <a:r>
              <a:rPr lang="en-US" sz="2000" dirty="0">
                <a:solidFill>
                  <a:srgbClr val="202A25"/>
                </a:solidFill>
                <a:latin typeface="Calibri" pitchFamily="34" charset="0"/>
                <a:ea typeface="Calibri" pitchFamily="34" charset="-122"/>
                <a:cs typeface="Calibri" pitchFamily="34" charset="-120"/>
              </a:rPr>
              <a:t>http://localhost:8080    |    Spring Boot Dashboard is also supported.</a:t>
            </a:r>
            <a:endParaRPr lang="en-US" sz="2000" dirty="0"/>
          </a:p>
        </p:txBody>
      </p:sp>
      <p:sp>
        <p:nvSpPr>
          <p:cNvPr id="18" name="Text 16"/>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The start script loads the root environment file and builds a missing JAR.</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7F9F6"/>
        </a:solidFill>
        <a:effectLst/>
      </p:bgPr>
    </p:bg>
    <p:spTree>
      <p:nvGrpSpPr>
        <p:cNvPr id="1" name=""/>
        <p:cNvGrpSpPr/>
        <p:nvPr/>
      </p:nvGrpSpPr>
      <p:grpSpPr>
        <a:xfrm>
          <a:off x="0" y="0"/>
          <a:ext cx="0" cy="0"/>
          <a:chOff x="0" y="0"/>
          <a:chExt cx="0" cy="0"/>
        </a:xfrm>
      </p:grpSpPr>
      <p:sp>
        <p:nvSpPr>
          <p:cNvPr id="2" name="Text 0"/>
          <p:cNvSpPr/>
          <p:nvPr/>
        </p:nvSpPr>
        <p:spPr>
          <a:xfrm>
            <a:off x="548640" y="274320"/>
            <a:ext cx="10881360" cy="256032"/>
          </a:xfrm>
          <a:prstGeom prst="rect">
            <a:avLst/>
          </a:prstGeom>
          <a:noFill/>
          <a:ln/>
        </p:spPr>
        <p:txBody>
          <a:bodyPr wrap="square" lIns="0" tIns="0" rIns="0" bIns="0" rtlCol="0" anchor="t"/>
          <a:lstStyle/>
          <a:p>
            <a:pPr marL="0" indent="0">
              <a:buNone/>
            </a:pPr>
            <a:r>
              <a:rPr lang="en-US" sz="1200" b="1" dirty="0">
                <a:solidFill>
                  <a:srgbClr val="397C25"/>
                </a:solidFill>
                <a:latin typeface="Calibri" pitchFamily="34" charset="0"/>
                <a:ea typeface="Calibri" pitchFamily="34" charset="-122"/>
                <a:cs typeface="Calibri" pitchFamily="34" charset="-120"/>
              </a:rPr>
              <a:t>MODULE 01  /  Live demonstration</a:t>
            </a:r>
            <a:endParaRPr lang="en-US" sz="1200" dirty="0"/>
          </a:p>
        </p:txBody>
      </p:sp>
      <p:sp>
        <p:nvSpPr>
          <p:cNvPr id="3" name="Text 1"/>
          <p:cNvSpPr/>
          <p:nvPr/>
        </p:nvSpPr>
        <p:spPr>
          <a:xfrm>
            <a:off x="548640" y="749808"/>
            <a:ext cx="11064240" cy="722376"/>
          </a:xfrm>
          <a:prstGeom prst="rect">
            <a:avLst/>
          </a:prstGeom>
          <a:noFill/>
          <a:ln/>
        </p:spPr>
        <p:txBody>
          <a:bodyPr wrap="square" lIns="0" tIns="0" rIns="0" bIns="0" rtlCol="0" anchor="t"/>
          <a:lstStyle/>
          <a:p>
            <a:pPr marL="0" indent="0">
              <a:buNone/>
            </a:pPr>
            <a:r>
              <a:rPr lang="en-US" sz="3400" b="1" dirty="0">
                <a:solidFill>
                  <a:srgbClr val="202A25"/>
                </a:solidFill>
                <a:latin typeface="Trebuchet MS" pitchFamily="34" charset="0"/>
                <a:ea typeface="Trebuchet MS" pitchFamily="34" charset="-122"/>
                <a:cs typeface="Trebuchet MS" pitchFamily="34" charset="-120"/>
              </a:rPr>
              <a:t>Demonstrate the same two user turns</a:t>
            </a:r>
            <a:endParaRPr lang="en-US" sz="3400" dirty="0"/>
          </a:p>
        </p:txBody>
      </p:sp>
      <p:sp>
        <p:nvSpPr>
          <p:cNvPr id="4" name="Text 2"/>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59665D"/>
                </a:solidFill>
                <a:latin typeface="Calibri" pitchFamily="34" charset="0"/>
                <a:ea typeface="Calibri" pitchFamily="34" charset="-122"/>
                <a:cs typeface="Calibri" pitchFamily="34" charset="-120"/>
              </a:rPr>
              <a:t>SPRING AI FOR BEGINNERS  /  01 Getting Started</a:t>
            </a:r>
            <a:endParaRPr lang="en-US" sz="1050" dirty="0"/>
          </a:p>
        </p:txBody>
      </p:sp>
      <p:sp>
        <p:nvSpPr>
          <p:cNvPr id="5" name="Text 3"/>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59665D"/>
                </a:solidFill>
                <a:latin typeface="Calibri" pitchFamily="34" charset="0"/>
                <a:ea typeface="Calibri" pitchFamily="34" charset="-122"/>
                <a:cs typeface="Calibri" pitchFamily="34" charset="-120"/>
              </a:rPr>
              <a:t>18 / 19</a:t>
            </a:r>
            <a:endParaRPr lang="en-US" sz="1200" dirty="0"/>
          </a:p>
        </p:txBody>
      </p:sp>
      <p:pic>
        <p:nvPicPr>
          <p:cNvPr id="6" name="Image 0" descr="conversational chat stateful demo"/>
          <p:cNvPicPr>
            <a:picLocks noChangeAspect="1"/>
          </p:cNvPicPr>
          <p:nvPr/>
        </p:nvPicPr>
        <p:blipFill>
          <a:blip r:embed="rId3"/>
          <a:stretch>
            <a:fillRect/>
          </a:stretch>
        </p:blipFill>
        <p:spPr>
          <a:xfrm>
            <a:off x="548640" y="2132058"/>
            <a:ext cx="6949440" cy="2959644"/>
          </a:xfrm>
          <a:prstGeom prst="rect">
            <a:avLst/>
          </a:prstGeom>
        </p:spPr>
      </p:pic>
      <p:sp>
        <p:nvSpPr>
          <p:cNvPr id="7" name="Text 4"/>
          <p:cNvSpPr/>
          <p:nvPr/>
        </p:nvSpPr>
        <p:spPr>
          <a:xfrm>
            <a:off x="7909560" y="181965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Stateless</a:t>
            </a:r>
            <a:endParaRPr lang="en-US" sz="2200" dirty="0"/>
          </a:p>
        </p:txBody>
      </p:sp>
      <p:sp>
        <p:nvSpPr>
          <p:cNvPr id="8" name="Text 5"/>
          <p:cNvSpPr/>
          <p:nvPr/>
        </p:nvSpPr>
        <p:spPr>
          <a:xfrm>
            <a:off x="7909560" y="229514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Send a name, then ask for it again.</a:t>
            </a:r>
            <a:endParaRPr lang="en-US" sz="1900" dirty="0"/>
          </a:p>
        </p:txBody>
      </p:sp>
      <p:sp>
        <p:nvSpPr>
          <p:cNvPr id="9" name="Text 6"/>
          <p:cNvSpPr/>
          <p:nvPr/>
        </p:nvSpPr>
        <p:spPr>
          <a:xfrm>
            <a:off x="7909560" y="306933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Stateful</a:t>
            </a:r>
            <a:endParaRPr lang="en-US" sz="2200" dirty="0"/>
          </a:p>
        </p:txBody>
      </p:sp>
      <p:sp>
        <p:nvSpPr>
          <p:cNvPr id="10" name="Text 7"/>
          <p:cNvSpPr/>
          <p:nvPr/>
        </p:nvSpPr>
        <p:spPr>
          <a:xfrm>
            <a:off x="7909560" y="354482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Start a conversation and repeat the exchange.</a:t>
            </a:r>
            <a:endParaRPr lang="en-US" sz="1900" dirty="0"/>
          </a:p>
        </p:txBody>
      </p:sp>
      <p:sp>
        <p:nvSpPr>
          <p:cNvPr id="11" name="Text 8"/>
          <p:cNvSpPr/>
          <p:nvPr/>
        </p:nvSpPr>
        <p:spPr>
          <a:xfrm>
            <a:off x="7909560" y="4319016"/>
            <a:ext cx="3730752" cy="457200"/>
          </a:xfrm>
          <a:prstGeom prst="rect">
            <a:avLst/>
          </a:prstGeom>
          <a:noFill/>
          <a:ln/>
        </p:spPr>
        <p:txBody>
          <a:bodyPr wrap="square" lIns="0" tIns="0" rIns="0" bIns="0" rtlCol="0" anchor="t"/>
          <a:lstStyle/>
          <a:p>
            <a:pPr marL="0" indent="0">
              <a:buNone/>
            </a:pPr>
            <a:r>
              <a:rPr lang="en-US" sz="2200" b="1" dirty="0">
                <a:solidFill>
                  <a:srgbClr val="397C25"/>
                </a:solidFill>
                <a:latin typeface="Calibri" pitchFamily="34" charset="0"/>
                <a:ea typeface="Calibri" pitchFamily="34" charset="-122"/>
                <a:cs typeface="Calibri" pitchFamily="34" charset="-120"/>
              </a:rPr>
              <a:t>Inspect</a:t>
            </a:r>
            <a:endParaRPr lang="en-US" sz="2200" dirty="0"/>
          </a:p>
        </p:txBody>
      </p:sp>
      <p:sp>
        <p:nvSpPr>
          <p:cNvPr id="12" name="Text 9"/>
          <p:cNvSpPr/>
          <p:nvPr/>
        </p:nvSpPr>
        <p:spPr>
          <a:xfrm>
            <a:off x="7909560" y="4794504"/>
            <a:ext cx="3730752" cy="728472"/>
          </a:xfrm>
          <a:prstGeom prst="rect">
            <a:avLst/>
          </a:prstGeom>
          <a:noFill/>
          <a:ln/>
        </p:spPr>
        <p:txBody>
          <a:bodyPr wrap="square" lIns="0" tIns="0" rIns="0" bIns="0" rtlCol="0" anchor="t"/>
          <a:lstStyle/>
          <a:p>
            <a:pPr marL="0" indent="0">
              <a:buNone/>
            </a:pPr>
            <a:r>
              <a:rPr lang="en-US" sz="1900" dirty="0">
                <a:solidFill>
                  <a:srgbClr val="202A25"/>
                </a:solidFill>
                <a:latin typeface="Calibri" pitchFamily="34" charset="0"/>
                <a:ea typeface="Calibri" pitchFamily="34" charset="-122"/>
                <a:cs typeface="Calibri" pitchFamily="34" charset="-120"/>
              </a:rPr>
              <a:t>Compare the response and retained history.</a:t>
            </a:r>
            <a:endParaRPr lang="en-US" sz="1900" dirty="0"/>
          </a:p>
        </p:txBody>
      </p:sp>
      <p:sp>
        <p:nvSpPr>
          <p:cNvPr id="13" name="Text 10"/>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397C25"/>
                </a:solidFill>
                <a:latin typeface="Calibri" pitchFamily="34" charset="0"/>
                <a:ea typeface="Calibri" pitchFamily="34" charset="-122"/>
                <a:cs typeface="Calibri" pitchFamily="34" charset="-120"/>
              </a:rPr>
              <a:t>Observe recall in the memory-aware flow; exact model wording can vary.</a:t>
            </a:r>
            <a:endParaRPr lang="en-US" sz="1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202A25"/>
        </a:solidFill>
        <a:effectLst/>
      </p:bgPr>
    </p:bg>
    <p:spTree>
      <p:nvGrpSpPr>
        <p:cNvPr id="1" name=""/>
        <p:cNvGrpSpPr/>
        <p:nvPr/>
      </p:nvGrpSpPr>
      <p:grpSpPr>
        <a:xfrm>
          <a:off x="0" y="0"/>
          <a:ext cx="0" cy="0"/>
          <a:chOff x="0" y="0"/>
          <a:chExt cx="0" cy="0"/>
        </a:xfrm>
      </p:grpSpPr>
      <p:sp>
        <p:nvSpPr>
          <p:cNvPr id="2" name="Text 0"/>
          <p:cNvSpPr/>
          <p:nvPr/>
        </p:nvSpPr>
        <p:spPr>
          <a:xfrm>
            <a:off x="548640" y="365760"/>
            <a:ext cx="9144000" cy="274320"/>
          </a:xfrm>
          <a:prstGeom prst="rect">
            <a:avLst/>
          </a:prstGeom>
          <a:noFill/>
          <a:ln/>
        </p:spPr>
        <p:txBody>
          <a:bodyPr wrap="square" lIns="0" tIns="0" rIns="0" bIns="0" rtlCol="0" anchor="t"/>
          <a:lstStyle/>
          <a:p>
            <a:pPr marL="0" indent="0">
              <a:buNone/>
            </a:pPr>
            <a:r>
              <a:rPr lang="en-US" sz="1400" b="1" dirty="0">
                <a:solidFill>
                  <a:srgbClr val="86CF54"/>
                </a:solidFill>
                <a:latin typeface="Calibri" pitchFamily="34" charset="0"/>
                <a:ea typeface="Calibri" pitchFamily="34" charset="-122"/>
                <a:cs typeface="Calibri" pitchFamily="34" charset="-120"/>
              </a:rPr>
              <a:t>SPRING AI  /  MODULE 01</a:t>
            </a:r>
            <a:endParaRPr lang="en-US" sz="1400" dirty="0"/>
          </a:p>
        </p:txBody>
      </p:sp>
      <p:sp>
        <p:nvSpPr>
          <p:cNvPr id="3" name="Text 1"/>
          <p:cNvSpPr/>
          <p:nvPr/>
        </p:nvSpPr>
        <p:spPr>
          <a:xfrm>
            <a:off x="548640" y="950976"/>
            <a:ext cx="10972800" cy="1197864"/>
          </a:xfrm>
          <a:prstGeom prst="rect">
            <a:avLst/>
          </a:prstGeom>
          <a:noFill/>
          <a:ln/>
        </p:spPr>
        <p:txBody>
          <a:bodyPr wrap="square" lIns="0" tIns="0" rIns="0" bIns="0" rtlCol="0" anchor="t"/>
          <a:lstStyle/>
          <a:p>
            <a:pPr marL="0" indent="0">
              <a:buNone/>
            </a:pPr>
            <a:r>
              <a:rPr lang="en-US" sz="4000" b="1" dirty="0">
                <a:solidFill>
                  <a:srgbClr val="FFFFFF"/>
                </a:solidFill>
                <a:latin typeface="Trebuchet MS" pitchFamily="34" charset="0"/>
                <a:ea typeface="Trebuchet MS" pitchFamily="34" charset="-122"/>
                <a:cs typeface="Trebuchet MS" pitchFamily="34" charset="-120"/>
              </a:rPr>
              <a:t>Make the memory boundary visible</a:t>
            </a:r>
            <a:endParaRPr lang="en-US" sz="4000" dirty="0"/>
          </a:p>
        </p:txBody>
      </p:sp>
      <p:sp>
        <p:nvSpPr>
          <p:cNvPr id="4" name="Text 2"/>
          <p:cNvSpPr/>
          <p:nvPr/>
        </p:nvSpPr>
        <p:spPr>
          <a:xfrm>
            <a:off x="548640" y="2423160"/>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Set maxMessages to 4; rebuild and restart.</a:t>
            </a:r>
            <a:endParaRPr lang="en-US" sz="2100" dirty="0"/>
          </a:p>
        </p:txBody>
      </p:sp>
      <p:sp>
        <p:nvSpPr>
          <p:cNvPr id="5" name="Text 3"/>
          <p:cNvSpPr/>
          <p:nvPr/>
        </p:nvSpPr>
        <p:spPr>
          <a:xfrm>
            <a:off x="548640" y="3410712"/>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Compare retained history across several turns and two IDs.</a:t>
            </a:r>
            <a:endParaRPr lang="en-US" sz="2100" dirty="0"/>
          </a:p>
        </p:txBody>
      </p:sp>
      <p:sp>
        <p:nvSpPr>
          <p:cNvPr id="6" name="Text 4"/>
          <p:cNvSpPr/>
          <p:nvPr/>
        </p:nvSpPr>
        <p:spPr>
          <a:xfrm>
            <a:off x="548640" y="4398264"/>
            <a:ext cx="4572000" cy="850392"/>
          </a:xfrm>
          <a:prstGeom prst="rect">
            <a:avLst/>
          </a:prstGeom>
          <a:noFill/>
          <a:ln/>
        </p:spPr>
        <p:txBody>
          <a:bodyPr wrap="square" lIns="0" tIns="0" rIns="0" bIns="0" rtlCol="0" anchor="t"/>
          <a:lstStyle/>
          <a:p>
            <a:pPr marL="0" indent="0">
              <a:buNone/>
            </a:pPr>
            <a:r>
              <a:rPr lang="en-US" sz="2100" dirty="0">
                <a:solidFill>
                  <a:srgbClr val="FFFFFF"/>
                </a:solidFill>
                <a:latin typeface="Calibri" pitchFamily="34" charset="0"/>
                <a:ea typeface="Calibri" pitchFamily="34" charset="-122"/>
                <a:cs typeface="Calibri" pitchFamily="34" charset="-120"/>
              </a:rPr>
              <a:t>Restart again to verify that in-memory history is temporary.</a:t>
            </a:r>
            <a:endParaRPr lang="en-US" sz="2100" dirty="0"/>
          </a:p>
        </p:txBody>
      </p:sp>
      <p:pic>
        <p:nvPicPr>
          <p:cNvPr id="7" name="Image 0" descr="home screen"/>
          <p:cNvPicPr>
            <a:picLocks noChangeAspect="1"/>
          </p:cNvPicPr>
          <p:nvPr/>
        </p:nvPicPr>
        <p:blipFill>
          <a:blip r:embed="rId3"/>
          <a:stretch>
            <a:fillRect/>
          </a:stretch>
        </p:blipFill>
        <p:spPr>
          <a:xfrm>
            <a:off x="5486400" y="3090802"/>
            <a:ext cx="6153912" cy="1737100"/>
          </a:xfrm>
          <a:prstGeom prst="rect">
            <a:avLst/>
          </a:prstGeom>
        </p:spPr>
      </p:pic>
      <p:sp>
        <p:nvSpPr>
          <p:cNvPr id="8" name="Text 5"/>
          <p:cNvSpPr/>
          <p:nvPr/>
        </p:nvSpPr>
        <p:spPr>
          <a:xfrm>
            <a:off x="548640" y="5815584"/>
            <a:ext cx="11064240" cy="448056"/>
          </a:xfrm>
          <a:prstGeom prst="rect">
            <a:avLst/>
          </a:prstGeom>
          <a:noFill/>
          <a:ln/>
        </p:spPr>
        <p:txBody>
          <a:bodyPr wrap="square" lIns="0" tIns="0" rIns="0" bIns="0" rtlCol="0" anchor="t"/>
          <a:lstStyle/>
          <a:p>
            <a:pPr marL="0" indent="0">
              <a:buNone/>
            </a:pPr>
            <a:r>
              <a:rPr lang="en-US" sz="1800" b="1" dirty="0">
                <a:solidFill>
                  <a:srgbClr val="86CF54"/>
                </a:solidFill>
                <a:latin typeface="Calibri" pitchFamily="34" charset="0"/>
                <a:ea typeface="Calibri" pitchFamily="34" charset="-122"/>
                <a:cs typeface="Calibri" pitchFamily="34" charset="-120"/>
              </a:rPr>
              <a:t>Next: shape the request itself with Spring AI prompt engineering.</a:t>
            </a:r>
            <a:endParaRPr lang="en-US" sz="1800" dirty="0"/>
          </a:p>
        </p:txBody>
      </p:sp>
      <p:sp>
        <p:nvSpPr>
          <p:cNvPr id="9" name="Text 6"/>
          <p:cNvSpPr/>
          <p:nvPr/>
        </p:nvSpPr>
        <p:spPr>
          <a:xfrm>
            <a:off x="548640" y="6400800"/>
            <a:ext cx="9875520" cy="210312"/>
          </a:xfrm>
          <a:prstGeom prst="rect">
            <a:avLst/>
          </a:prstGeom>
          <a:noFill/>
          <a:ln/>
        </p:spPr>
        <p:txBody>
          <a:bodyPr wrap="square" lIns="0" tIns="0" rIns="0" bIns="0" rtlCol="0" anchor="t"/>
          <a:lstStyle/>
          <a:p>
            <a:pPr marL="0" indent="0">
              <a:buNone/>
            </a:pPr>
            <a:r>
              <a:rPr lang="en-US" sz="1050" dirty="0">
                <a:solidFill>
                  <a:srgbClr val="B9CBB9"/>
                </a:solidFill>
                <a:latin typeface="Calibri" pitchFamily="34" charset="0"/>
                <a:ea typeface="Calibri" pitchFamily="34" charset="-122"/>
                <a:cs typeface="Calibri" pitchFamily="34" charset="-120"/>
              </a:rPr>
              <a:t>SPRING AI FOR BEGINNERS  /  01 Getting Started</a:t>
            </a:r>
            <a:endParaRPr lang="en-US" sz="1050" dirty="0"/>
          </a:p>
        </p:txBody>
      </p:sp>
      <p:sp>
        <p:nvSpPr>
          <p:cNvPr id="10" name="Text 7"/>
          <p:cNvSpPr/>
          <p:nvPr/>
        </p:nvSpPr>
        <p:spPr>
          <a:xfrm>
            <a:off x="10817352" y="6373368"/>
            <a:ext cx="822960" cy="256032"/>
          </a:xfrm>
          <a:prstGeom prst="rect">
            <a:avLst/>
          </a:prstGeom>
          <a:noFill/>
          <a:ln/>
        </p:spPr>
        <p:txBody>
          <a:bodyPr wrap="square" lIns="0" tIns="0" rIns="0" bIns="0" rtlCol="0" anchor="t"/>
          <a:lstStyle/>
          <a:p>
            <a:pPr marL="0" indent="0" algn="r">
              <a:buNone/>
            </a:pPr>
            <a:r>
              <a:rPr lang="en-US" sz="1200" dirty="0">
                <a:solidFill>
                  <a:srgbClr val="B9CBB9"/>
                </a:solidFill>
                <a:latin typeface="Calibri" pitchFamily="34" charset="0"/>
                <a:ea typeface="Calibri" pitchFamily="34" charset="-122"/>
                <a:cs typeface="Calibri" pitchFamily="34" charset="-120"/>
              </a:rPr>
              <a:t>19 / 19</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rebuchet MS"/>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f42aa342-8706-4288-bd11-ebb85995028c}" enabled="1" method="Standard" siteId="{72f988bf-86f1-41af-91ab-2d7cd011db47}" contentBits="0" removed="0"/>
</clbl:labelList>
</file>

<file path=docProps/app.xml><?xml version="1.0" encoding="utf-8"?>
<Properties xmlns="http://schemas.openxmlformats.org/officeDocument/2006/extended-properties" xmlns:vt="http://schemas.openxmlformats.org/officeDocument/2006/docPropsVTypes">
  <TotalTime>0</TotalTime>
  <Words>3632</Words>
  <Application>Microsoft Office PowerPoint</Application>
  <PresentationFormat>Widescreen</PresentationFormat>
  <Paragraphs>354</Paragraphs>
  <Slides>19</Slides>
  <Notes>19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19</vt:i4>
      </vt:variant>
    </vt:vector>
  </HeadingPairs>
  <TitlesOfParts>
    <vt:vector size="24" baseType="lpstr">
      <vt:lpstr>Arial</vt:lpstr>
      <vt:lpstr>Calibri</vt:lpstr>
      <vt:lpstr>Consolas</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Spring AI for Beginners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Getting Started with Spring AI</dc:title>
  <dc:subject>Spring AI module teaching presentation</dc:subject>
  <dc:creator>Spring AI for Beginners</dc:creator>
  <cp:lastModifiedBy>Rory Preddy</cp:lastModifiedBy>
  <cp:revision>2</cp:revision>
  <dcterms:created xsi:type="dcterms:W3CDTF">2026-09-07T13:29:52Z</dcterms:created>
  <dcterms:modified xsi:type="dcterms:W3CDTF">2026-09-08T06:15:31Z</dcterms:modified>
</cp:coreProperties>
</file>