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03399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an extension of Module 01. The shared deployment remains gpt-5.6-luna, while the input structure and per-request reasoning settings change. The eight application patterns include focused, autonomous, task, code, analyze, chat, reason, and constrained. This is a programming workshop about making requests intentional and measuring the resulting behavior.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instruction such as Fix the bug with a request that identifies the failing behavior, relevant code, and expected outcome. Prompt engineering is not a guarantee of correctness. Its value is making the task unambiguous enough that the answer can be evaluated. The existing illustration is conceptual; the working patterns and code are examined in the following slides.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existing Low Eagerness screenshot shows a submitted question and completed answer. The crop keeps the question, the two response actions, and the result without the unused form area. Fifteen percent of 200 equals 30, so this simple result can be independently checked. Do not infer which API effort setting or latency was measured from the screenshot. Each pattern page has synchronous and streaming actions; the implementation distinctions follow later in the deck. The dashboard remains available in the running application, but actual request/output evidence is more useful on this slide.
Repository sources:
02-prompt-engineering/README.md
02-prompt-engineering/src/main/java/com/example/springai/prompts/controller/Gpt5PromptController.java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existing Spring AI component artwork is retained, with explicit request and return connectors. PromptTemplate creates a Prompt from the application values; ChatClient sends it through ChatModel to the provider. The provider response travels back through Spring AI and is returned to the application. The root POM supplies the OpenAI starter and ChatClient, and Spring Boot auto-configures the model and builder. The component group is a set of abstractions, not left-to-right ordering of its three labels. This does not guarantee validated structured output.
Repository sources:
02-prompt-engineering/README.md
02-prompt-engineering/src/main/java/com/example/springai/prompts/config/SpringAiConfig.java
pom.xml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teaching example comes from the zero-shot section of the README. The Java string is wrapped for legibility. A typical answer is Positive, but the current snippet does not enforce an enum or validate the answer. Ask the audience how they would handle mixed sentiment or an irrelevant input, then connect that uncertainty to the next technique.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repository sentiment examples to explain few-shot prompting. The instruction, examples, and new input are all sent within one prompt through ChatClient. Select examples that cover the expected range instead of repeating easy cases. Keep a separate set of evaluation inputs so that apparent success is not just reproduction of examples placed in the request.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 calls this chain-of-thought prompting and illustrates a multi-step calculation. Explain the public solution steps rather than suggesting the application can inspect hidden model reasoning. For the apples example, 15 minus 8 plus 12 equals 19. A plausible explanation can still contain an error; validate results with ordinary code or tests where possible.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software-architect code-review example in the README. Role text changes the framing and priorities of an answer. It should be paired with a concrete task and criteria, such as correctness or maintainability. The example puts the role in the prompt text; distinguish that from an actual SystemMessage or ChatClient system instruction when discussing message roles.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destination and activity variables in the existing graphic. The visible examples are Paris sightseeing and Tokyo cherry-blossom viewing. One reusable template accepts different values without rewriting the instructions. The following code slide uses the Paris example. Template substitution is not sanitization, authorization, or protection against prompt injection; untrusted data still needs appropriate treatment.
Repository sources: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version of the README template example; the API calls and variable names are unchanged. PromptTemplate.create returns a Spring AI Prompt that ChatClient accepts. The running Gpt5PromptService often formats Java text blocks instead, so do not claim every endpoint is implemented using PromptTemplate. Both approaches express reusable request structure.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schematic of two separate request ingredients, not one complete JSON document or Java program. The first line is the reasoning options object used by the Responses API. The remaining lines illustrate the structured prompt text, which is supplied separately as input. Context, instructions, and constraints are ordinary text sections, not privileged API message roles. Gpt5PromptService sends effort through ResponseCreateParams using Reasoning.builder().effort(...). Changing an XML-like prompt tag does not set that parameter. The original small bitmap has been replaced here so these distinctions are legible on screen.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image lists repository observations for none, low, medium, and high. Its removed legend incorrectly claimed that only the thinking budget changes. In this application, focused and autonomous also use different prompt wording; comparing those routes is a combined-pattern comparison, not a controlled effort-only benchmark. The plotted observations were not remeasured for the presentation and are not latency or quality guarantees. To isolate effort, keep the full rendered input, endpoint, output constraints, deployment, and test procedure constant and vary only the effort field.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repository-specific split. In this Spring AI 2.0.1 configuration, ChatClient has no Responses API surface. SpringAiConfig creates a separate async client for the OpenAI-compatible /openai/v1 endpoint, with a 180-second timeout and one retry. Most short non-streaming calls use ChatClient; autonomous and reason collect a Responses stream to avoid the documented client timeout. Do not imply every endpoint uses the same effort setting.
Repository sources:
02-prompt-engineering/src/main/java/com/example/springai/prompts/config/SpringAiConfig.java
02-prompt-engineering/src/main/java/com/example/springai/prompts/service/Gpt5PromptService.java
02-prompt-engineering/pom.xml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combines a shortened prompt excerpt and the actual streaming call; it is not one complete Java source block. solveFocusedStreaming sets ReasoningEffort.NONE. solveFocused uses ChatClient without passing that effort setting. The streaming routes expose the explicit field, but focused and autonomous still use different prompt text. Their comparison evaluates the combined patterns, not the independent effect of effort.
Repository sources:
02-prompt-engineering/src/main/java/com/example/springai/prompts/service/Gpt5PromptService.java
02-prompt-engineering/src/main/java/com/example/springai/prompts/controller/Gpt5PromptController.java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shortened for the slide. Both solveAutonomous and solveAutonomousStreaming use the Responses API with MEDIUM reasoning effort; the synchronous version collects the stream. Submit the same caching problem to focused and autonomous to compare the combined patterns, evaluating missing constraints, unsupported claims, first text, and total time. This holds the user task constant but not the full prompt. An effort-only experiment must also hold the service prompt text constant.
Repository sources:
02-prompt-engineering/src/main/java/com/example/springai/prompts/service/Gpt5PromptService.java
02-prompt-engineering/src/main/java/com/example/springai/prompts/controller/Gpt5PromptController.java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task_execution and tool_preambles sections request a goal restatement, plan, visible progress, and summary. Use the user-registration endpoint example. Although the pattern name mentions tools, Gpt5PromptService does not register tool callbacks for this route. The model writes a proposed implementation and explanation; it does not edit the repository or deploy the endpoint. Actual Spring AI tool calling appears in Module 04.
Repository sources:
02-prompt-engineering/src/main/java/com/example/springai/prompts/service/Gpt5PromptService.java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application labels this Self-Reflecting Code. Its actual implementation makes a single model call with a short quality-oriented instruction. Do not claim that a coded evaluator repeatedly improves the result or that it certifies production quality. The repository self-reflection-cycle image is conceptual, so this slide instead shows the implementation. Module 06 supplies an actual evaluator-optimizer control loop.
Repository sources:
02-prompt-engineering/src/main/java/com/example/springai/prompts/service/Gpt5PromptService.java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analysis_framework prompt asks for five review dimensions, then a summary, strengths, severity-ranked issues, and recommendations. The output is generated text, not an automatically validated analysis object. Show a short code snippet and ask whether each reported defect is actually supported by it. A consistent rubric improves comparability but does not eliminate false positives.
Repository sources:
02-prompt-engineering/src/main/java/com/example/springai/prompts/service/Gpt5PromptService.java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excerpt is the core of continueConversation. The service uses Spring AI ChatMemory and typed messages directly so synchronous and streaming flows can share memory. It adds a session system message on the first interaction, then the current user message, calls the model with history, and stores the assistant response. Ten messages is not an assured token budget. The active session set supports clearing sessions.
Repository sources: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builds role-labelled input text, appends output deltas, and stores a nonblank AssistantMessage when the Flux completes normally. The helper logs Responses API incomplete events without failing the Flux, so truncated output can reach doOnComplete and be stored. Transport failure or cancellation is different. A stronger application would track API-level completion and choose how incomplete history is represented. Structured API message input would also preserve role semantics more explicitly than textual role labels.
Repository sources: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image illustrates 24 times 15: split 24 into 20 plus 4, calculate 20 times 15 equals 300 and 4 times 15 equals 60, then add to obtain 360. Check those displayed steps independently; they are not access to private internal reasoning. As a separate live example from the README, the 210-km journey including a stop lasts four hours, giving 52.5 km/h. Introduce that explicitly as a different problem. The synchronous reason method collects a LOW-effort Responses stream.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 includes an exactly-100-words teaching example, but generateConstrained uses Maximum words and a maxWords request field. Teach the running implementation accurately. The service does not count words or reject violations afterward. A production workflow should validate output and decide how to handle failures, rather than treating a strongly worded prompt as a hard constraint.
Repository sources:
02-prompt-engineering/src/main/java/com/example/springai/prompts/service/Gpt5PromptService.java
02-prompt-engineering/src/main/java/com/example/springai/prompts/controller/Gpt5PromptController.java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excerpts show request construction, SDK streaming, and text-event handling from the helper. The helper also handles refusal deltas, API errors, failed responses, incomplete responses, and completion. sink.onDispose closes the underlying stream when the subscriber leaves. Spring Web MVC endpoints expose Flux&lt;String&gt; as SSE. First network frames can be metadata rather than text, so timing must measure the first non-empty visible delta.
Repository sources:
02-prompt-engineering/src/main/java/com/example/springai/prompts/service/Gpt5PromptService.java
02-prompt-engineering/src/main/java/com/example/springai/prompts/controller/Gpt5PromptController.java
02-prompt-engineering/src/main/java/com/example/springai/prompts/config/SpringAiConfig.java
02-prompt-engineering/README.md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Reuse the Module 01 environment in an external browser. Hold the user task constant when comparing the patterns, while explaining that their internal prompt wording and effort both differ. Do not attribute the entire difference to effort. For an effort-only benchmark, send the same full input through the same Responses helper with only the effort field changed. Each /api/gpt5 route has a /stream counterpart. Payload keys include requirement for code, topic/format/maxWords for constraints, and message/sessionId for chat. Use the matching stop script after the demo.
Repository sources:
02-prompt-engineering/README.md
02-prompt-engineering/src/main/java/com/example/springai/prompts/controller/Gpt5PromptController.java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small Spring Boot test with the existing ChatClient bean and the request construction shown on slides 5, 6, and 10. Prepare five held-out sentiment inputs with positive, negative, or neutral expected labels; do not reuse the few-shot examples as evaluation inputs. Keep deployment and options constant, compare the three prompt forms, and record the returned label, format compliance, and elapsed wall-clock time. Report sample size and variability. Cost is an optional extension: the current application endpoints return no token-usage data, so it requires capturing provider usage metadata and documenting the applicable prices. Do not estimate cost from character count or the displayed timestamp. The next module adds missing source information through retrieval.
Repository sources:
02-prompt-engineering/README.md
02-prompt-engineering/src/main/java/com/example/springai/prompts/service/Gpt5PromptService.java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02</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Prompt engineering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Apply five foundational prompting techniques.</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Explore eight working prompt patterns.</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Connect templates, memory, reasoning effort, and streaming.</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02 Prompt Engineering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25</a:t>
            </a:r>
            <a:endParaRPr lang="en-US" sz="1200" dirty="0"/>
          </a:p>
        </p:txBody>
      </p:sp>
      <p:pic>
        <p:nvPicPr>
          <p:cNvPr id="12" name="Picture 11">
            <a:extLst>
              <a:ext uri="{FF2B5EF4-FFF2-40B4-BE49-F238E27FC236}">
                <a16:creationId xmlns:a16="http://schemas.microsoft.com/office/drawing/2014/main" id="{AE27B03D-42FB-3E94-DCDC-03F788BE168F}"/>
              </a:ext>
            </a:extLst>
          </p:cNvPr>
          <p:cNvPicPr>
            <a:picLocks noChangeAspect="1"/>
          </p:cNvPicPr>
          <p:nvPr/>
        </p:nvPicPr>
        <p:blipFill>
          <a:blip r:embed="rId3"/>
          <a:stretch>
            <a:fillRect/>
          </a:stretch>
        </p:blipFill>
        <p:spPr>
          <a:xfrm>
            <a:off x="5969358" y="1764728"/>
            <a:ext cx="6082643" cy="36931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Why prompts matter</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Specific instructions give you a testable target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25</a:t>
            </a:r>
            <a:endParaRPr lang="en-US" sz="1200" dirty="0"/>
          </a:p>
        </p:txBody>
      </p:sp>
      <p:pic>
        <p:nvPicPr>
          <p:cNvPr id="6" name="Image 0" descr="what is prompt engineering"/>
          <p:cNvPicPr>
            <a:picLocks noChangeAspect="1"/>
          </p:cNvPicPr>
          <p:nvPr/>
        </p:nvPicPr>
        <p:blipFill>
          <a:blip r:embed="rId3"/>
          <a:stretch>
            <a:fillRect/>
          </a:stretch>
        </p:blipFill>
        <p:spPr>
          <a:xfrm>
            <a:off x="908449" y="1682496"/>
            <a:ext cx="10372055" cy="38679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 focused prompt produces a checkable answer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25</a:t>
            </a:r>
            <a:endParaRPr lang="en-US" sz="1200" dirty="0"/>
          </a:p>
        </p:txBody>
      </p:sp>
      <p:pic>
        <p:nvPicPr>
          <p:cNvPr id="6" name="Image 0" descr="low eagerness demo"/>
          <p:cNvPicPr>
            <a:picLocks noChangeAspect="1"/>
          </p:cNvPicPr>
          <p:nvPr/>
        </p:nvPicPr>
        <p:blipFill>
          <a:blip r:embed="rId3"/>
          <a:stretch>
            <a:fillRect/>
          </a:stretch>
        </p:blipFill>
        <p:spPr>
          <a:xfrm>
            <a:off x="548640" y="2164761"/>
            <a:ext cx="6949440" cy="2894237"/>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Submitted question</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What is 15% of 200?</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Observed answer</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existing capture returns 30.</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Two display modes</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Stream output or wait for the full response.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Spring AI architecture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Spring AI connects a template to a model call</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25</a:t>
            </a:r>
            <a:endParaRPr lang="en-US" sz="1200" dirty="0"/>
          </a:p>
        </p:txBody>
      </p:sp>
      <p:pic>
        <p:nvPicPr>
          <p:cNvPr id="6" name="Image 0" descr="how springai fits"/>
          <p:cNvPicPr>
            <a:picLocks noChangeAspect="1"/>
          </p:cNvPicPr>
          <p:nvPr/>
        </p:nvPicPr>
        <p:blipFill>
          <a:blip r:embed="rId3"/>
          <a:stretch>
            <a:fillRect/>
          </a:stretch>
        </p:blipFill>
        <p:spPr>
          <a:xfrm>
            <a:off x="4178808" y="2451856"/>
            <a:ext cx="3273552" cy="1222768"/>
          </a:xfrm>
          <a:prstGeom prst="rect">
            <a:avLst/>
          </a:prstGeom>
        </p:spPr>
      </p:pic>
      <p:sp>
        <p:nvSpPr>
          <p:cNvPr id="7" name="Shape 4"/>
          <p:cNvSpPr/>
          <p:nvPr/>
        </p:nvSpPr>
        <p:spPr>
          <a:xfrm>
            <a:off x="3337560" y="3063240"/>
            <a:ext cx="841248" cy="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7452360" y="3063240"/>
            <a:ext cx="941832"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10017252" y="3749040"/>
            <a:ext cx="0" cy="777240"/>
          </a:xfrm>
          <a:prstGeom prst="line">
            <a:avLst/>
          </a:prstGeom>
          <a:noFill/>
          <a:ln w="21590">
            <a:solidFill>
              <a:srgbClr val="397C25"/>
            </a:solidFill>
            <a:prstDash val="dash"/>
          </a:ln>
        </p:spPr>
        <p:txBody>
          <a:bodyPr/>
          <a:lstStyle/>
          <a:p>
            <a:endParaRPr lang="en-ZA"/>
          </a:p>
        </p:txBody>
      </p:sp>
      <p:sp>
        <p:nvSpPr>
          <p:cNvPr id="10" name="Shape 7"/>
          <p:cNvSpPr/>
          <p:nvPr/>
        </p:nvSpPr>
        <p:spPr>
          <a:xfrm>
            <a:off x="5815584" y="4526280"/>
            <a:ext cx="4201668" cy="0"/>
          </a:xfrm>
          <a:prstGeom prst="line">
            <a:avLst/>
          </a:prstGeom>
          <a:noFill/>
          <a:ln w="21590">
            <a:solidFill>
              <a:srgbClr val="397C25"/>
            </a:solidFill>
            <a:prstDash val="dash"/>
          </a:ln>
        </p:spPr>
        <p:txBody>
          <a:bodyPr/>
          <a:lstStyle/>
          <a:p>
            <a:endParaRPr lang="en-ZA"/>
          </a:p>
        </p:txBody>
      </p:sp>
      <p:sp>
        <p:nvSpPr>
          <p:cNvPr id="11" name="Shape 8"/>
          <p:cNvSpPr/>
          <p:nvPr/>
        </p:nvSpPr>
        <p:spPr>
          <a:xfrm>
            <a:off x="5815584" y="3674626"/>
            <a:ext cx="0" cy="851654"/>
          </a:xfrm>
          <a:prstGeom prst="line">
            <a:avLst/>
          </a:prstGeom>
          <a:noFill/>
          <a:ln w="21590">
            <a:solidFill>
              <a:srgbClr val="397C25"/>
            </a:solidFill>
            <a:prstDash val="dash"/>
            <a:headEnd type="triangle"/>
          </a:ln>
        </p:spPr>
        <p:txBody>
          <a:bodyPr/>
          <a:lstStyle/>
          <a:p>
            <a:endParaRPr lang="en-ZA"/>
          </a:p>
        </p:txBody>
      </p:sp>
      <p:sp>
        <p:nvSpPr>
          <p:cNvPr id="12" name="Shape 9"/>
          <p:cNvSpPr/>
          <p:nvPr/>
        </p:nvSpPr>
        <p:spPr>
          <a:xfrm>
            <a:off x="5815584" y="2002536"/>
            <a:ext cx="0" cy="449318"/>
          </a:xfrm>
          <a:prstGeom prst="line">
            <a:avLst/>
          </a:prstGeom>
          <a:noFill/>
          <a:ln w="21590">
            <a:solidFill>
              <a:srgbClr val="397C25"/>
            </a:solidFill>
            <a:prstDash val="dash"/>
          </a:ln>
        </p:spPr>
        <p:txBody>
          <a:bodyPr/>
          <a:lstStyle/>
          <a:p>
            <a:endParaRPr lang="en-ZA"/>
          </a:p>
        </p:txBody>
      </p:sp>
      <p:sp>
        <p:nvSpPr>
          <p:cNvPr id="13" name="Shape 10"/>
          <p:cNvSpPr/>
          <p:nvPr/>
        </p:nvSpPr>
        <p:spPr>
          <a:xfrm>
            <a:off x="1943100" y="2002536"/>
            <a:ext cx="3872484" cy="0"/>
          </a:xfrm>
          <a:prstGeom prst="line">
            <a:avLst/>
          </a:prstGeom>
          <a:noFill/>
          <a:ln w="21590">
            <a:solidFill>
              <a:srgbClr val="397C25"/>
            </a:solidFill>
            <a:prstDash val="dash"/>
          </a:ln>
        </p:spPr>
        <p:txBody>
          <a:bodyPr/>
          <a:lstStyle/>
          <a:p>
            <a:endParaRPr lang="en-ZA"/>
          </a:p>
        </p:txBody>
      </p:sp>
      <p:sp>
        <p:nvSpPr>
          <p:cNvPr id="14" name="Shape 11"/>
          <p:cNvSpPr/>
          <p:nvPr/>
        </p:nvSpPr>
        <p:spPr>
          <a:xfrm>
            <a:off x="1943100" y="2002536"/>
            <a:ext cx="0" cy="374904"/>
          </a:xfrm>
          <a:prstGeom prst="line">
            <a:avLst/>
          </a:prstGeom>
          <a:noFill/>
          <a:ln w="21590">
            <a:solidFill>
              <a:srgbClr val="397C25"/>
            </a:solidFill>
            <a:prstDash val="dash"/>
            <a:tailEnd type="triangle"/>
          </a:ln>
        </p:spPr>
        <p:txBody>
          <a:bodyPr/>
          <a:lstStyle/>
          <a:p>
            <a:endParaRPr lang="en-ZA"/>
          </a:p>
        </p:txBody>
      </p:sp>
      <p:sp>
        <p:nvSpPr>
          <p:cNvPr id="15" name="Shape 12"/>
          <p:cNvSpPr/>
          <p:nvPr/>
        </p:nvSpPr>
        <p:spPr>
          <a:xfrm>
            <a:off x="548640" y="2377440"/>
            <a:ext cx="2788920" cy="1371600"/>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676656" y="2496312"/>
            <a:ext cx="253288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Java application</a:t>
            </a:r>
            <a:endParaRPr lang="en-US" sz="2100" dirty="0"/>
          </a:p>
        </p:txBody>
      </p:sp>
      <p:sp>
        <p:nvSpPr>
          <p:cNvPr id="17" name="Text 14"/>
          <p:cNvSpPr/>
          <p:nvPr/>
        </p:nvSpPr>
        <p:spPr>
          <a:xfrm>
            <a:off x="676656" y="2999232"/>
            <a:ext cx="2532888" cy="64922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Template values, prompt, and configuration</a:t>
            </a:r>
            <a:endParaRPr lang="en-US" sz="1900" dirty="0"/>
          </a:p>
        </p:txBody>
      </p:sp>
      <p:sp>
        <p:nvSpPr>
          <p:cNvPr id="18" name="Shape 15"/>
          <p:cNvSpPr/>
          <p:nvPr/>
        </p:nvSpPr>
        <p:spPr>
          <a:xfrm>
            <a:off x="8394192" y="2377440"/>
            <a:ext cx="3246120" cy="1371600"/>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6"/>
          <p:cNvSpPr/>
          <p:nvPr/>
        </p:nvSpPr>
        <p:spPr>
          <a:xfrm>
            <a:off x="8522208" y="2496312"/>
            <a:ext cx="299008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Model provider</a:t>
            </a:r>
            <a:endParaRPr lang="en-US" sz="2100" dirty="0"/>
          </a:p>
        </p:txBody>
      </p:sp>
      <p:sp>
        <p:nvSpPr>
          <p:cNvPr id="20" name="Text 17"/>
          <p:cNvSpPr/>
          <p:nvPr/>
        </p:nvSpPr>
        <p:spPr>
          <a:xfrm>
            <a:off x="8522208" y="2999232"/>
            <a:ext cx="2990088" cy="64922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Processes the request and generates output</a:t>
            </a:r>
            <a:endParaRPr lang="en-US" sz="1900" dirty="0"/>
          </a:p>
        </p:txBody>
      </p:sp>
      <p:sp>
        <p:nvSpPr>
          <p:cNvPr id="21" name="Text 18"/>
          <p:cNvSpPr/>
          <p:nvPr/>
        </p:nvSpPr>
        <p:spPr>
          <a:xfrm>
            <a:off x="1097280" y="1627632"/>
            <a:ext cx="5440680" cy="310896"/>
          </a:xfrm>
          <a:prstGeom prst="rect">
            <a:avLst/>
          </a:prstGeom>
          <a:noFill/>
          <a:ln/>
        </p:spPr>
        <p:txBody>
          <a:bodyPr wrap="square" lIns="0" tIns="0" rIns="0" bIns="0" rtlCol="0" anchor="t"/>
          <a:lstStyle/>
          <a:p>
            <a:pPr marL="0" indent="0">
              <a:buNone/>
            </a:pPr>
            <a:r>
              <a:rPr lang="en-US" sz="1700" b="1" dirty="0">
                <a:solidFill>
                  <a:srgbClr val="397C25"/>
                </a:solidFill>
                <a:latin typeface="Calibri" pitchFamily="34" charset="0"/>
                <a:ea typeface="Calibri" pitchFamily="34" charset="-122"/>
                <a:cs typeface="Calibri" pitchFamily="34" charset="-120"/>
              </a:rPr>
              <a:t>Generated response back to the application</a:t>
            </a:r>
            <a:endParaRPr lang="en-US" sz="1700" dirty="0"/>
          </a:p>
        </p:txBody>
      </p:sp>
      <p:sp>
        <p:nvSpPr>
          <p:cNvPr id="22" name="Text 19"/>
          <p:cNvSpPr/>
          <p:nvPr/>
        </p:nvSpPr>
        <p:spPr>
          <a:xfrm>
            <a:off x="7434072" y="4096512"/>
            <a:ext cx="2743200" cy="31089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Model response</a:t>
            </a:r>
            <a:endParaRPr lang="en-US" sz="1800" dirty="0"/>
          </a:p>
        </p:txBody>
      </p:sp>
      <p:sp>
        <p:nvSpPr>
          <p:cNvPr id="23" name="Text 20"/>
          <p:cNvSpPr/>
          <p:nvPr/>
        </p:nvSpPr>
        <p:spPr>
          <a:xfrm>
            <a:off x="548640" y="5074920"/>
            <a:ext cx="11064240" cy="36576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Request: PromptTemplate -&gt; Prompt -&gt; ChatClient -&gt; ChatModel</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Foundation 1 / Zero-shot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Zero-shot: state the task directly</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prompt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"Classify this sentiment: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"'I absolutely loved the movie!'";</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response = chatClient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.prompt(prompt)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No examples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Let the instruction define the task.</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Good starting point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for familiar classifications or direct questions.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Check the result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Test ambiguous inputs before adding complexity.</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Foundation 2 / Few-shot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Few-shot: teach the response pattern with examples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25</a:t>
            </a:r>
            <a:endParaRPr lang="en-US" sz="1200" dirty="0"/>
          </a:p>
        </p:txBody>
      </p:sp>
      <p:pic>
        <p:nvPicPr>
          <p:cNvPr id="6" name="Image 0" descr="few shot prompting"/>
          <p:cNvPicPr>
            <a:picLocks noChangeAspect="1"/>
          </p:cNvPicPr>
          <p:nvPr/>
        </p:nvPicPr>
        <p:blipFill>
          <a:blip r:embed="rId3"/>
          <a:stretch>
            <a:fillRect/>
          </a:stretch>
        </p:blipFill>
        <p:spPr>
          <a:xfrm>
            <a:off x="5641260" y="2606040"/>
            <a:ext cx="2076865" cy="1691640"/>
          </a:xfrm>
          <a:prstGeom prst="rect">
            <a:avLst/>
          </a:prstGeom>
        </p:spPr>
      </p:pic>
      <p:sp>
        <p:nvSpPr>
          <p:cNvPr id="7" name="Shape 4"/>
          <p:cNvSpPr/>
          <p:nvPr/>
        </p:nvSpPr>
        <p:spPr>
          <a:xfrm>
            <a:off x="4800600" y="3451860"/>
            <a:ext cx="840663" cy="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7718121" y="3451860"/>
            <a:ext cx="840663"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548640" y="2011680"/>
            <a:ext cx="4251960" cy="2880360"/>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676656" y="2130552"/>
            <a:ext cx="399592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One request: classify sentiment</a:t>
            </a:r>
            <a:endParaRPr lang="en-US" sz="2100" dirty="0"/>
          </a:p>
        </p:txBody>
      </p:sp>
      <p:sp>
        <p:nvSpPr>
          <p:cNvPr id="11" name="Text 8"/>
          <p:cNvSpPr/>
          <p:nvPr/>
        </p:nvSpPr>
        <p:spPr>
          <a:xfrm>
            <a:off x="676656" y="2633472"/>
            <a:ext cx="3995928" cy="21579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Examples:</a:t>
            </a:r>
            <a:endParaRPr lang="en-US" sz="1900" dirty="0"/>
          </a:p>
          <a:p>
            <a:pPr marL="0" indent="0">
              <a:buNone/>
            </a:pPr>
            <a:r>
              <a:rPr lang="en-US" sz="1900" dirty="0">
                <a:solidFill>
                  <a:srgbClr val="FFFFFF"/>
                </a:solidFill>
                <a:latin typeface="Calibri" pitchFamily="34" charset="0"/>
                <a:ea typeface="Calibri" pitchFamily="34" charset="-122"/>
                <a:cs typeface="Calibri" pitchFamily="34" charset="-120"/>
              </a:rPr>
              <a:t>Great product! -&gt; Positive</a:t>
            </a:r>
            <a:endParaRPr lang="en-US" sz="1900" dirty="0"/>
          </a:p>
          <a:p>
            <a:pPr marL="0" indent="0">
              <a:buNone/>
            </a:pPr>
            <a:r>
              <a:rPr lang="en-US" sz="1900" dirty="0">
                <a:solidFill>
                  <a:srgbClr val="FFFFFF"/>
                </a:solidFill>
                <a:latin typeface="Calibri" pitchFamily="34" charset="0"/>
                <a:ea typeface="Calibri" pitchFamily="34" charset="-122"/>
                <a:cs typeface="Calibri" pitchFamily="34" charset="-120"/>
              </a:rPr>
              <a:t>Nothing special -&gt; Neutral</a:t>
            </a:r>
            <a:endParaRPr lang="en-US" sz="1900" dirty="0"/>
          </a:p>
          <a:p>
            <a:pPr marL="0" indent="0">
              <a:buNone/>
            </a:pPr>
            <a:r>
              <a:rPr lang="en-US" sz="1900" dirty="0">
                <a:solidFill>
                  <a:srgbClr val="FFFFFF"/>
                </a:solidFill>
                <a:latin typeface="Calibri" pitchFamily="34" charset="0"/>
                <a:ea typeface="Calibri" pitchFamily="34" charset="-122"/>
                <a:cs typeface="Calibri" pitchFamily="34" charset="-120"/>
              </a:rPr>
              <a:t>Terrible -&gt; Negative</a:t>
            </a:r>
            <a:endParaRPr lang="en-US" sz="1900" dirty="0"/>
          </a:p>
          <a:p>
            <a:pPr marL="0" indent="0">
              <a:buNone/>
            </a:pPr>
            <a:endParaRPr lang="en-US" sz="1900" dirty="0"/>
          </a:p>
          <a:p>
            <a:pPr marL="0" indent="0">
              <a:buNone/>
            </a:pPr>
            <a:r>
              <a:rPr lang="en-US" sz="1900" dirty="0">
                <a:solidFill>
                  <a:srgbClr val="FFFFFF"/>
                </a:solidFill>
                <a:latin typeface="Calibri" pitchFamily="34" charset="0"/>
                <a:ea typeface="Calibri" pitchFamily="34" charset="-122"/>
                <a:cs typeface="Calibri" pitchFamily="34" charset="-120"/>
              </a:rPr>
              <a:t>New input: The service was slow.</a:t>
            </a:r>
            <a:endParaRPr lang="en-US" sz="1900" dirty="0"/>
          </a:p>
        </p:txBody>
      </p:sp>
      <p:sp>
        <p:nvSpPr>
          <p:cNvPr id="12" name="Shape 9"/>
          <p:cNvSpPr/>
          <p:nvPr/>
        </p:nvSpPr>
        <p:spPr>
          <a:xfrm>
            <a:off x="8558784" y="2788920"/>
            <a:ext cx="3081528" cy="1325880"/>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8686800" y="2907792"/>
            <a:ext cx="2825496"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Generated sentiment</a:t>
            </a:r>
            <a:endParaRPr lang="en-US" sz="2100" dirty="0"/>
          </a:p>
        </p:txBody>
      </p:sp>
      <p:sp>
        <p:nvSpPr>
          <p:cNvPr id="14" name="Text 11"/>
          <p:cNvSpPr/>
          <p:nvPr/>
        </p:nvSpPr>
        <p:spPr>
          <a:xfrm>
            <a:off x="8686800" y="3410712"/>
            <a:ext cx="2825496" cy="60350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Negative</a:t>
            </a:r>
            <a:endParaRPr lang="en-US" sz="1900" dirty="0"/>
          </a:p>
        </p:txBody>
      </p:sp>
      <p:sp>
        <p:nvSpPr>
          <p:cNvPr id="15" name="Text 12"/>
          <p:cNvSpPr/>
          <p:nvPr/>
        </p:nvSpPr>
        <p:spPr>
          <a:xfrm>
            <a:off x="548640" y="5166360"/>
            <a:ext cx="10972800" cy="38404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instruction, examples, and new input all enter the model before it responds.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Foundation 3 / Chain of thought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Stepwise explanations make answers easier to check</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25</a:t>
            </a:r>
            <a:endParaRPr lang="en-US" sz="1200" dirty="0"/>
          </a:p>
        </p:txBody>
      </p:sp>
      <p:pic>
        <p:nvPicPr>
          <p:cNvPr id="6" name="Image 0" descr="chain of thought"/>
          <p:cNvPicPr>
            <a:picLocks noChangeAspect="1"/>
          </p:cNvPicPr>
          <p:nvPr/>
        </p:nvPicPr>
        <p:blipFill>
          <a:blip r:embed="rId3"/>
          <a:stretch>
            <a:fillRect/>
          </a:stretch>
        </p:blipFill>
        <p:spPr>
          <a:xfrm>
            <a:off x="1520327" y="1682496"/>
            <a:ext cx="9148297" cy="386791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Foundation 4 / Role-based</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Role-based prompts set the review perspective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25</a:t>
            </a:r>
            <a:endParaRPr lang="en-US" sz="1200" dirty="0"/>
          </a:p>
        </p:txBody>
      </p:sp>
      <p:pic>
        <p:nvPicPr>
          <p:cNvPr id="6" name="Image 0" descr="role based prompting"/>
          <p:cNvPicPr>
            <a:picLocks noChangeAspect="1"/>
          </p:cNvPicPr>
          <p:nvPr/>
        </p:nvPicPr>
        <p:blipFill>
          <a:blip r:embed="rId3"/>
          <a:stretch>
            <a:fillRect/>
          </a:stretch>
        </p:blipFill>
        <p:spPr>
          <a:xfrm>
            <a:off x="548640" y="1775706"/>
            <a:ext cx="11091672" cy="368149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Foundation 5 / Prompt templates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Reuse the structure and change the input data</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25</a:t>
            </a:r>
            <a:endParaRPr lang="en-US" sz="1200" dirty="0"/>
          </a:p>
        </p:txBody>
      </p:sp>
      <p:pic>
        <p:nvPicPr>
          <p:cNvPr id="6" name="Image 0" descr="prompt templates"/>
          <p:cNvPicPr>
            <a:picLocks noChangeAspect="1"/>
          </p:cNvPicPr>
          <p:nvPr/>
        </p:nvPicPr>
        <p:blipFill>
          <a:blip r:embed="rId3"/>
          <a:stretch>
            <a:fillRect/>
          </a:stretch>
        </p:blipFill>
        <p:spPr>
          <a:xfrm>
            <a:off x="548640" y="2126244"/>
            <a:ext cx="11091672" cy="29804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Spring AI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Create a Prompt from named template variables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PromptTemplate template = new PromptTemplate(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"Best time to visit {destination}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"for {activity}?");</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Prompt prompt = template.create(Map.of(</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"destination", "Paris",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"activity", "sightseeing"));</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answer = chatClient.prompt(prompt)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PromptTemplate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Owns the reusable instruction text.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Map.of(...)</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Supplies values for each named variable.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ChatClient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Sends the resulting Prompt to the model.</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Request anatomy</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Prompt structure and reasoning effort are separate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API OPTIONS + PROMPT TEXT / SCHEMATIC</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{"reasoning": {"effort": "low"}}</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Prompt text: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&lt;instructions&gt;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Review this Java method.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&lt;/instructions&gt;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&lt;context&gt;Spring Boot REST API&lt;/context&gt;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&lt;constraints&gt;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List issues by severity.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&lt;/constraints&gt;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API parameter</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reasoning.effort sets the model's reasoning budget.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Prompt content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Instructions, context, user input, and output constraints.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Message roles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Text tags do not create privileged system messages.</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Reasoning control</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Match the reasoning budget to the task</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25</a:t>
            </a:r>
            <a:endParaRPr lang="en-US" sz="1200" dirty="0"/>
          </a:p>
        </p:txBody>
      </p:sp>
      <p:pic>
        <p:nvPicPr>
          <p:cNvPr id="6" name="Image 0" descr="reasoning control"/>
          <p:cNvPicPr>
            <a:picLocks noChangeAspect="1"/>
          </p:cNvPicPr>
          <p:nvPr/>
        </p:nvPicPr>
        <p:blipFill>
          <a:blip r:embed="rId3"/>
          <a:stretch>
            <a:fillRect/>
          </a:stretch>
        </p:blipFill>
        <p:spPr>
          <a:xfrm>
            <a:off x="2493905" y="1682496"/>
            <a:ext cx="7201142" cy="386791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Implementation choices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Two client paths share the Spring Boot application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25</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Spring AI ChatClient</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Short synchronous calls</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Fluent prompt(...).call().content().</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Spring AI memory</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Typed UserMessage and AssistantMessage history.</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OpenAI Responses API</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Streaming and effort</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OpenAIClientAsync plus ResponseCreateParams.</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Long synchronous demos</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Collect the stream for autonomous and reason.</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1 / Focused</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Low eagerness: keep the request focused</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PROMPT EXCERPT + JAVA STREAMING CALL</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&lt;context_gathering&gt;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Search depth: very low</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Answer as quickly as possible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At most 2 reasoning steps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&lt;/context_gathering&gt;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Problem: What is 15% of 200?</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streamResponse(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prompt, ReasoningEffort.NONE);</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Narrow task</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for quick calculations and direct questions.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Streaming effort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/focused/stream route requests NONE.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Expected check</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15% of 200 is 30.</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2 / Autonomous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High eagerness: explore approaches and trade-offs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PROMPT EXCERPT + JAVA STREAMING CALL</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Analyze this problem thoroughly.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Consider multiple approaches,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trade-offs, and important details.</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Problem: Design a caching strategy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for a high-traffic REST API.</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streamResponse(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prompt, ReasoningEffort.MEDIUM);</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Broader task</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for design choices with competing constraints.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More exploration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Ask for alternatives and their consequences.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Explicit budget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demo selects MEDIUM, not HIGH.</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3 / Task</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Task execution: plan, explain progress, summarize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25</a:t>
            </a:r>
            <a:endParaRPr lang="en-US" sz="1200" dirty="0"/>
          </a:p>
        </p:txBody>
      </p:sp>
      <p:pic>
        <p:nvPicPr>
          <p:cNvPr id="6" name="Image 0" descr="task execution pattern"/>
          <p:cNvPicPr>
            <a:picLocks noChangeAspect="1"/>
          </p:cNvPicPr>
          <p:nvPr/>
        </p:nvPicPr>
        <p:blipFill>
          <a:blip r:embed="rId3"/>
          <a:stretch>
            <a:fillRect/>
          </a:stretch>
        </p:blipFill>
        <p:spPr>
          <a:xfrm>
            <a:off x="548640" y="1914986"/>
            <a:ext cx="11091672" cy="340293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4 / Self-reflecting code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Code generation: make quality requirements explicit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prompt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Generate Java code with</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production-quality standards: %s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Keep it simple and include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basic error handling.</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""".formatted(requirement);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chatClient.prompt(prompt)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Concrete requirement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Try an email-validation service.</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Quality guidance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Request simple code and error handling.</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Independent checks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Compile, test, and review the generated code.</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5 / Analyze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Structured analysis: review with a fixed rubric</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25</a:t>
            </a:r>
            <a:endParaRPr lang="en-US" sz="1200" dirty="0"/>
          </a:p>
        </p:txBody>
      </p:sp>
      <p:pic>
        <p:nvPicPr>
          <p:cNvPr id="6" name="Image 0" descr="structured analysis pattern"/>
          <p:cNvPicPr>
            <a:picLocks noChangeAspect="1"/>
          </p:cNvPicPr>
          <p:nvPr/>
        </p:nvPicPr>
        <p:blipFill>
          <a:blip r:embed="rId3"/>
          <a:stretch>
            <a:fillRect/>
          </a:stretch>
        </p:blipFill>
        <p:spPr>
          <a:xfrm>
            <a:off x="2673874" y="1682496"/>
            <a:ext cx="6841205" cy="386791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6 / Chat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Multi-turn chat: manage Spring AI messages directly</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19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chatMemory.add(sessionId,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UserMessage(userMessage));</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responseText =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.messages(chatMemory.get(sessionId))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chatMemory.add(sessionId,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AssistantMessage(responseText));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MessageWindowChatMemory</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separate 10-message window per session ID.</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Explicit lifecycle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service adds user and assistant messages.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System context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SystemMessage is added on the first turn.</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Shared conversation state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Streaming chat stores accumulated assistant text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20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StringBuilder assistantResponse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StringBuilder();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return streamResponse(fullPrompt.toString())</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.doOnNext(assistantResponse::append)</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.doOnComplete(() -&gt;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String responseText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assistantResponse.toString();</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if (!responseText.isBlank())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chatMemory.add(sessionId,</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new AssistantMessage(responseText));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Reuse the session</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Streaming and non-streaming turns share that session's history.</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Accumulate output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Append arriving text chunks, called deltas, into one response.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On normal Flux completion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Store nonblank text, even if the API marked it incomplete.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7 / Reason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Reasoning: request a solution you can verify</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21 / 25</a:t>
            </a:r>
            <a:endParaRPr lang="en-US" sz="1200" dirty="0"/>
          </a:p>
        </p:txBody>
      </p:sp>
      <p:pic>
        <p:nvPicPr>
          <p:cNvPr id="6" name="Image 0" descr="step by step pattern"/>
          <p:cNvPicPr>
            <a:picLocks noChangeAspect="1"/>
          </p:cNvPicPr>
          <p:nvPr/>
        </p:nvPicPr>
        <p:blipFill>
          <a:blip r:embed="rId3"/>
          <a:stretch>
            <a:fillRect/>
          </a:stretch>
        </p:blipFill>
        <p:spPr>
          <a:xfrm>
            <a:off x="4618463" y="1682496"/>
            <a:ext cx="2952027" cy="386791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Pattern 8 / Constrained</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Constrained output: request limits, then validate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22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REQUEST + PROMPT EXCERPT</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"topic": "machine learning",</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"format": "bullet points",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"maxWords": 100</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&lt;strict_constraints&gt;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Topic: %s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Format: %s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Maximum words: %d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&lt;/strict_constraints&gt;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Actual input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endpoint accepts topic, format, and maxWords.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Upper bound</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current prompt requests a maximum, not exactly 100.</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Application checks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Count words and validate the required structure.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Streaming implementation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Stream Responses API text through Reactor Flux</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23 / 25</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OPENAI SDK / JAVA EXCERPTS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ResponseCreateParams params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ResponseCreateParams.builder()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.model(deploymentName)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.input(prompt)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.reasoning(Reasoning.builder()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.effort(effort).build())</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.build();</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openAIClientAsync.responses()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.createStreaming(params);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event.outputTextDelta().ifPresent(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delta -&gt; emit(sink, delta.delta()));</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Actual text events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Emit non-empty outputTextDelta values.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Lifecycle handling</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Close the HTTP stream when Flux is disposed.</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Browser transport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controller returns text/event-stream.</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02  /  Workshop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Compare patterns using the same user task</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02 Prompt Engineering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24 / 25</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from 02-prompt-engineering</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.\start.ps1    |    Bash: ./start.sh    |    http://localhost:8083</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Compare the same input</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Use focused and autonomous streaming; note first text, total time, and answer quality.</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Test the remaining behaviors</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Follow up in chat, review a code snippet, and count the constrained output words.</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02</a:t>
            </a:r>
            <a:endParaRPr lang="en-US" sz="14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02 Prompt Engineering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25 / 25</a:t>
            </a:r>
            <a:endParaRPr lang="en-US" sz="1200" dirty="0"/>
          </a:p>
        </p:txBody>
      </p:sp>
      <p:sp>
        <p:nvSpPr>
          <p:cNvPr id="12" name="Text 1">
            <a:extLst>
              <a:ext uri="{FF2B5EF4-FFF2-40B4-BE49-F238E27FC236}">
                <a16:creationId xmlns:a16="http://schemas.microsoft.com/office/drawing/2014/main" id="{6EF578EB-F4CC-2B9C-10D6-96637E2A11B2}"/>
              </a:ext>
            </a:extLst>
          </p:cNvPr>
          <p:cNvSpPr/>
          <p:nvPr/>
        </p:nvSpPr>
        <p:spPr>
          <a:xfrm>
            <a:off x="645232" y="2888731"/>
            <a:ext cx="1615011" cy="678201"/>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Demo</a:t>
            </a:r>
            <a:endParaRPr lang="en-US" sz="4000" dirty="0"/>
          </a:p>
        </p:txBody>
      </p:sp>
      <p:pic>
        <p:nvPicPr>
          <p:cNvPr id="14" name="Picture 13" descr="QR Code">
            <a:extLst>
              <a:ext uri="{FF2B5EF4-FFF2-40B4-BE49-F238E27FC236}">
                <a16:creationId xmlns:a16="http://schemas.microsoft.com/office/drawing/2014/main" id="{039A5857-C4FF-7E21-D050-F62E8FB7E4E3}"/>
              </a:ext>
            </a:extLst>
          </p:cNvPr>
          <p:cNvPicPr>
            <a:picLocks noChangeAspect="1"/>
          </p:cNvPicPr>
          <p:nvPr/>
        </p:nvPicPr>
        <p:blipFill>
          <a:blip r:embed="rId3"/>
          <a:stretch>
            <a:fillRect/>
          </a:stretch>
        </p:blipFill>
        <p:spPr>
          <a:xfrm>
            <a:off x="3574694" y="675763"/>
            <a:ext cx="5143500" cy="5143500"/>
          </a:xfrm>
          <a:prstGeom prst="rect">
            <a:avLst/>
          </a:prstGeom>
        </p:spPr>
      </p:pic>
      <p:sp>
        <p:nvSpPr>
          <p:cNvPr id="16" name="TextBox 15">
            <a:extLst>
              <a:ext uri="{FF2B5EF4-FFF2-40B4-BE49-F238E27FC236}">
                <a16:creationId xmlns:a16="http://schemas.microsoft.com/office/drawing/2014/main" id="{C353CA52-0AD6-34A2-004C-2FC671EB4CBE}"/>
              </a:ext>
            </a:extLst>
          </p:cNvPr>
          <p:cNvSpPr txBox="1"/>
          <p:nvPr/>
        </p:nvSpPr>
        <p:spPr>
          <a:xfrm>
            <a:off x="2869576" y="5816025"/>
            <a:ext cx="6553736" cy="584775"/>
          </a:xfrm>
          <a:prstGeom prst="rect">
            <a:avLst/>
          </a:prstGeom>
          <a:noFill/>
        </p:spPr>
        <p:txBody>
          <a:bodyPr wrap="square">
            <a:spAutoFit/>
          </a:bodyPr>
          <a:lstStyle/>
          <a:p>
            <a:r>
              <a:rPr lang="en-ZA" sz="3200" dirty="0">
                <a:solidFill>
                  <a:schemeClr val="bg2"/>
                </a:solidFill>
              </a:rPr>
              <a:t>http://aka.ms/Spring-AI-for-Beginners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4495</Words>
  <Application>Microsoft Office PowerPoint</Application>
  <PresentationFormat>Widescreen</PresentationFormat>
  <Paragraphs>367</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with Spring AI</dc:title>
  <dc:subject>Spring AI module teaching presentation</dc:subject>
  <dc:creator>Spring AI for Beginners</dc:creator>
  <cp:lastModifiedBy>Rory Preddy</cp:lastModifiedBy>
  <cp:revision>5</cp:revision>
  <dcterms:created xsi:type="dcterms:W3CDTF">2026-09-07T13:48:16Z</dcterms:created>
  <dcterms:modified xsi:type="dcterms:W3CDTF">2026-09-08T06:52:58Z</dcterms:modified>
</cp:coreProperties>
</file>